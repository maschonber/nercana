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5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6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7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8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9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4"/>
    <p:sldMasterId id="2147483729" r:id="rId5"/>
    <p:sldMasterId id="2147483648" r:id="rId6"/>
    <p:sldMasterId id="2147483668" r:id="rId7"/>
    <p:sldMasterId id="2147483747" r:id="rId8"/>
    <p:sldMasterId id="2147483751" r:id="rId9"/>
    <p:sldMasterId id="2147483771" r:id="rId10"/>
    <p:sldMasterId id="2147483781" r:id="rId11"/>
    <p:sldMasterId id="2147483787" r:id="rId12"/>
    <p:sldMasterId id="2147483807" r:id="rId13"/>
  </p:sldMasterIdLst>
  <p:notesMasterIdLst>
    <p:notesMasterId r:id="rId40"/>
  </p:notesMasterIdLst>
  <p:sldIdLst>
    <p:sldId id="256" r:id="rId14"/>
    <p:sldId id="397" r:id="rId15"/>
    <p:sldId id="257" r:id="rId16"/>
    <p:sldId id="258" r:id="rId17"/>
    <p:sldId id="259" r:id="rId18"/>
    <p:sldId id="381" r:id="rId19"/>
    <p:sldId id="396" r:id="rId20"/>
    <p:sldId id="262" r:id="rId21"/>
    <p:sldId id="395" r:id="rId22"/>
    <p:sldId id="405" r:id="rId23"/>
    <p:sldId id="384" r:id="rId24"/>
    <p:sldId id="266" r:id="rId25"/>
    <p:sldId id="267" r:id="rId26"/>
    <p:sldId id="403" r:id="rId27"/>
    <p:sldId id="269" r:id="rId28"/>
    <p:sldId id="270" r:id="rId29"/>
    <p:sldId id="400" r:id="rId30"/>
    <p:sldId id="387" r:id="rId31"/>
    <p:sldId id="404" r:id="rId32"/>
    <p:sldId id="401" r:id="rId33"/>
    <p:sldId id="390" r:id="rId34"/>
    <p:sldId id="402" r:id="rId35"/>
    <p:sldId id="399" r:id="rId36"/>
    <p:sldId id="278" r:id="rId37"/>
    <p:sldId id="393" r:id="rId38"/>
    <p:sldId id="398" r:id="rId39"/>
  </p:sldIdLst>
  <p:sldSz cx="12192000" cy="6858000"/>
  <p:notesSz cx="6858000" cy="9144000"/>
  <p:defaultTextStyle>
    <a:defPPr>
      <a:defRPr lang="en-US"/>
    </a:defPPr>
    <a:lvl1pPr marL="0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05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08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10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11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14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16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19" algn="l" defTabSz="91420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3383"/>
    <a:srgbClr val="00B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9DC9B-DE32-4C31-942F-3D9649F3ACEB}" v="5" dt="2023-04-26T10:38:47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99" autoAdjust="0"/>
  </p:normalViewPr>
  <p:slideViewPr>
    <p:cSldViewPr snapToGrid="0" showGuides="1">
      <p:cViewPr varScale="1">
        <p:scale>
          <a:sx n="113" d="100"/>
          <a:sy n="113" d="100"/>
        </p:scale>
        <p:origin x="2635" y="302"/>
      </p:cViewPr>
      <p:guideLst/>
    </p:cSldViewPr>
  </p:slideViewPr>
  <p:outlineViewPr>
    <p:cViewPr>
      <p:scale>
        <a:sx n="33" d="100"/>
        <a:sy n="33" d="100"/>
      </p:scale>
      <p:origin x="0" y="-445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20" Type="http://schemas.openxmlformats.org/officeDocument/2006/relationships/slide" Target="slides/slide7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C3D90-D258-41E1-BFE3-29A340648A7E}" type="datetimeFigureOut">
              <a:rPr lang="de-DE" smtClean="0"/>
              <a:t>02.03.2026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E0F7A-EA63-40E1-97FB-D173EE3BA0C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443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1pPr>
    <a:lvl2pPr marL="483757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2pPr>
    <a:lvl3pPr marL="967514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3pPr>
    <a:lvl4pPr marL="1451272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4pPr>
    <a:lvl5pPr marL="1935029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5pPr>
    <a:lvl6pPr marL="2418787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6pPr>
    <a:lvl7pPr marL="2902544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7pPr>
    <a:lvl8pPr marL="3386301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8pPr>
    <a:lvl9pPr marL="3870059" algn="l" defTabSz="967514" rtl="0" eaLnBrk="1" latinLnBrk="0" hangingPunct="1">
      <a:defRPr sz="12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Begrüßung</a:t>
            </a:r>
          </a:p>
          <a:p>
            <a:r>
              <a:t>- Thema: AI in der Praxis - wo hilft es, wo sind Grenzen</a:t>
            </a:r>
          </a:p>
          <a:p>
            <a:r>
              <a:t>- Verschiedene Perspektiven zusammenbringen</a:t>
            </a:r>
          </a:p>
          <a:p>
            <a:r>
              <a:t>- Direkt starten mit Check-in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Überblick über den Vormittag</a:t>
            </a:r>
          </a:p>
          <a:p>
            <a:r>
              <a:t>- Mischung aus Input und Interaktion</a:t>
            </a:r>
          </a:p>
          <a:p>
            <a:r>
              <a:t>- Nach der Pause: praktischer Teil mit Demos</a:t>
            </a:r>
          </a:p>
          <a:p>
            <a:r>
              <a:t>- Working Session: eigene Anwendungsfälle erarbeiten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Kein Richtig oder Falsch</a:t>
            </a:r>
          </a:p>
          <a:p>
            <a:r>
              <a:t>- Zwei Dimensionen: Nutzungshäufigkeit + Haltung</a:t>
            </a:r>
          </a:p>
          <a:p>
            <a:r>
              <a:t>- Alle gleichzeitig, dann kurz betrachten</a:t>
            </a:r>
          </a:p>
          <a:p>
            <a:r>
              <a:t>- Breite Verteilung ist erwünscht</a:t>
            </a:r>
          </a:p>
          <a:p>
            <a:r>
              <a:t>- Keine Diskussion, nur Positionierung</a:t>
            </a:r>
          </a:p>
          <a:p>
            <a:r>
              <a:t>- FLIPCHART PHYSISCH VORBEREITEN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Reihum, jeder ein Wort</a:t>
            </a:r>
          </a:p>
          <a:p>
            <a:r>
              <a:t>- Keine Erklärungen, keine Kommentare</a:t>
            </a:r>
          </a:p>
          <a:p>
            <a:r>
              <a:t>- Moderator macht den Anfang mit neutralem Beispiel (z.B. "Werkzeug")</a:t>
            </a:r>
          </a:p>
          <a:p>
            <a:r>
              <a:t>- Bei Zögern: erstes Wort das einfällt</a:t>
            </a:r>
          </a:p>
          <a:p>
            <a:r>
              <a:t>- Am Ende: Vielfalt der Perspektiven würdigen</a:t>
            </a:r>
          </a:p>
          <a:p>
            <a:r>
              <a:t>- Danach: kurze Zusammenfassung des Check-ins, Übergabe an Lisa</a:t>
            </a:r>
          </a:p>
          <a:p>
            <a:r>
              <a:t>- Zeit: 5 Minuten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- 30 Minuten praktischer Input</a:t>
            </a:r>
          </a:p>
          <a:p>
            <a:r>
              <a:t>- Fokus auf konkrete Werkzeuge aus dem eigenen Alltag</a:t>
            </a:r>
          </a:p>
          <a:p>
            <a:r>
              <a:t>- Pragmatisch, nicht evangelistisch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0FA53-928B-8BB8-F7C2-42832E5C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89E7A-8C70-D356-AAF2-4270C9D32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78C50-3C71-0D19-3F5E-40FEBB801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- 30 Minuten praktischer Input</a:t>
            </a:r>
          </a:p>
          <a:p>
            <a:r>
              <a:t>- Fokus auf konkrete Werkzeuge aus dem eigenen Alltag</a:t>
            </a:r>
          </a:p>
          <a:p>
            <a:r>
              <a:t>- Pragmatisch, nicht evangelistisch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7E920-201C-BE3F-00DD-7CCAE800B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89027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Pünktlicher Neustart um 10:35 Uhr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EB76-414E-E329-1353-49020A75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3C714-F4B4-C70F-7942-D862B8DD7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6ED93-7ABC-A8A6-C4BB-F41A2CCE0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- 30 Minuten praktischer Input</a:t>
            </a:r>
          </a:p>
          <a:p>
            <a:r>
              <a:t>- Fokus auf konkrete Werkzeuge aus dem eigenen Alltag</a:t>
            </a:r>
          </a:p>
          <a:p>
            <a:r>
              <a:t>- Pragmatisch, nicht evangelistisch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5EB9-2276-3CC8-C192-81D41CB2E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6051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Sechs Konzepte kurz erklären</a:t>
            </a:r>
          </a:p>
          <a:p>
            <a:r>
              <a:t>- Agenten: Multi-Step ohne ständiges Nachfragen</a:t>
            </a:r>
          </a:p>
          <a:p>
            <a:r>
              <a:t>- Skills: Best Practices wiederverwendbar, kein Code nötig</a:t>
            </a:r>
          </a:p>
          <a:p>
            <a:r>
              <a:t>- Tools: Jira, Confluence, GitHub – echte Daten</a:t>
            </a:r>
          </a:p>
          <a:p>
            <a:r>
              <a:t>- MCP: Ein Protokoll statt viele Einzelintegrationen</a:t>
            </a:r>
          </a:p>
          <a:p>
            <a:r>
              <a:t>- Kontext: 200K+ Tokens, ganze Dokumentationen</a:t>
            </a:r>
          </a:p>
          <a:p>
            <a:r>
              <a:t>- Reasoning: Nachdenken in Zwischenschritten</a:t>
            </a:r>
          </a:p>
          <a:p>
            <a:r>
              <a:t>- Einzeln nice-to-have, zusammen echter Mehrwert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MCP: Offener Standard von Anthropic</a:t>
            </a:r>
          </a:p>
          <a:p>
            <a:r>
              <a:t>- Früher: jede Integration individuell gebaut</a:t>
            </a:r>
          </a:p>
          <a:p>
            <a:r>
              <a:t>- Mit MCP: einmal definiert, überall nutzbar</a:t>
            </a:r>
          </a:p>
          <a:p>
            <a:r>
              <a:t>- Context Windows massiv gewachsen</a:t>
            </a:r>
          </a:p>
          <a:p>
            <a:r>
              <a:t>- 200K Tokens = komplette ADR-Sammlung, mehrere Dokumente</a:t>
            </a:r>
          </a:p>
          <a:p>
            <a:r>
              <a:t>- Ganze Codebases durchsuchbar</a:t>
            </a:r>
          </a:p>
          <a:p>
            <a:r>
              <a:t>- Reasoning: Modelle denken in Zwischenschritten</a:t>
            </a:r>
          </a:p>
          <a:p>
            <a:r>
              <a:t>- Brechen Probleme runter, wägen ab</a:t>
            </a:r>
          </a:p>
          <a:p>
            <a:r>
              <a:t>- Weniger Halluzinationen bei technischen Themen</a:t>
            </a:r>
          </a:p>
          <a:p>
            <a:endParaRPr/>
          </a:p>
          <a:p>
            <a:r>
              <a:t>SCREENSHOT ERSTELLEN: MCP-Architekturdiagramm (Claude verbunden mit Jira, GitHub, Confluence)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Vier Gründe für Claude Code</a:t>
            </a:r>
          </a:p>
          <a:p>
            <a:r>
              <a:t>- Datenschutz durch Allianz-Kooperation</a:t>
            </a:r>
          </a:p>
          <a:p>
            <a:r>
              <a:t>- State-of-the-art Modelle</a:t>
            </a:r>
          </a:p>
          <a:p>
            <a:r>
              <a:t>- CLI und Desktop-App verfügbar</a:t>
            </a:r>
          </a:p>
          <a:p>
            <a:r>
              <a:t>- Konzepte auch auf andere Tools übertragbar</a:t>
            </a:r>
          </a:p>
          <a:p>
            <a:r>
              <a:t>- Danach: verbal überleiten zu den Demos ("Genug Theorie, schauen wir es uns an")</a:t>
            </a:r>
          </a:p>
          <a:p>
            <a:endParaRPr/>
          </a:p>
          <a:p>
            <a:r>
              <a:t>SCREENSHOT ERSTELLEN: Claude Cowork Desktop-App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Screen-Share beenden, zurück zu Folien</a:t>
            </a:r>
          </a:p>
          <a:p>
            <a:r>
              <a:t>- Zwei Beispiele im Detail gezeigt</a:t>
            </a:r>
          </a:p>
          <a:p>
            <a:r>
              <a:t>- Weitere Anwendungsfälle kurz nennen</a:t>
            </a:r>
          </a:p>
          <a:p>
            <a:r>
              <a:t>- Prinzip immer gleich: Zugriff + Definition = Automatisierung</a:t>
            </a:r>
          </a:p>
          <a:p>
            <a:r>
              <a:t>- Überleitung zu Learnings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Stärken: Recherche über mehrere Quellen, erste Entwürfe, Konsistenzprüfungen</a:t>
            </a:r>
          </a:p>
          <a:p>
            <a:r>
              <a:t>- Grenzen: AI entscheidet nicht für dich</a:t>
            </a:r>
          </a:p>
          <a:p>
            <a:r>
              <a:t>- Architekturentscheidungen: AI kann aufbereiten, Entscheidung bleibt beim Menschen</a:t>
            </a:r>
          </a:p>
          <a:p>
            <a:r>
              <a:t>- Implizites Wissen, organisatorischer Kontext – fehlt der 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6C43-14B1-AD02-CEAB-760D08C9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7AC12-DC9E-87CD-2506-59DAE4F5C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DEA83-2FF2-44B4-EFC5-FB24688BF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DC3BB-8062-B2C8-B09E-122744AB1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E0F7A-EA63-40E1-97FB-D173EE3BA0C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8791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Schritt 1: Nicht "Architektur neu entwerfen", sondern ein konkretes Problem</a:t>
            </a:r>
          </a:p>
          <a:p>
            <a:r>
              <a:t>- Schritt 2: Dokumente zugänglich machen (MCP-Server, Skills)</a:t>
            </a:r>
          </a:p>
          <a:p>
            <a:r>
              <a:t>- Schritt 3: Erstes Ergebnis nicht perfekt, verfeinern</a:t>
            </a:r>
          </a:p>
          <a:p>
            <a:r>
              <a:t>- Schritt 4: Gute Skills teilen, versionieren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1D19-7419-28B7-D3A6-DC5235FF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D89A9-1ECE-4EDA-86A7-0E428EABE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46397-8542-481C-ED5C-48993AB1F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842FE-2EE6-709A-D4B1-51E7E865B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E0F7A-EA63-40E1-97FB-D173EE3BA0C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584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8C588-2FC2-54D6-DC19-CBE92657F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778DD-E726-5D7D-9908-E1D0F818C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580294-A75F-9F67-11A0-B51B10538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78AD6-2F0E-0F49-242A-2EDC90370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E0F7A-EA63-40E1-97FB-D173EE3BA0C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2431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KLICK-ANIMATION: Phasen nacheinander einblenden</a:t>
            </a:r>
          </a:p>
          <a:p>
            <a:endParaRPr/>
          </a:p>
          <a:p>
            <a:r>
              <a:t>Phase 1: Sticky Notes und Stifte verteilen; Timer 5 Min stilles Brainstorming, 3 Min Nachzügler; keine Bewertung</a:t>
            </a:r>
          </a:p>
          <a:p>
            <a:r>
              <a:t>Phase 2: Reihum ans Whiteboard; beim Vorlesen schon gruppieren; Moderator hilft; nicht zu viel diskutieren</a:t>
            </a:r>
          </a:p>
          <a:p>
            <a:r>
              <a:t>Phase 3: Klebepunkte verteilen (oder Stifte); stille Abstimmung; nach 5 Min kurze Auswertung; Top 2-3 Cluster für Phase 4 merken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EFE54-EB59-9881-8762-24DBD252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AADAE-9836-3BB8-466F-5E7995FD6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CF002-2692-9BD3-56D0-EC9B81F94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KLICK-ANIMATION: Phasen nacheinander einblenden</a:t>
            </a:r>
          </a:p>
          <a:p>
            <a:endParaRPr/>
          </a:p>
          <a:p>
            <a:r>
              <a:t>Phase 1: Sticky Notes und Stifte verteilen; Timer 5 Min stilles Brainstorming, 3 Min Nachzügler; keine Bewertung</a:t>
            </a:r>
          </a:p>
          <a:p>
            <a:r>
              <a:t>Phase 2: Reihum ans Whiteboard; beim Vorlesen schon gruppieren; Moderator hilft; nicht zu viel diskutieren</a:t>
            </a:r>
          </a:p>
          <a:p>
            <a:r>
              <a:t>Phase 3: Klebepunkte verteilen (oder Stifte); stille Abstimmung; nach 5 Min kurze Auswertung; Top 2-3 Cluster für Phase 4 merken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AAEB6-49F0-6351-9C44-F2C1E6F74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70906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3887-A89A-F5D6-88C1-F05F3A58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2309E-2383-8A3B-6598-3DADA6737D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D38A6-EA8E-C10D-D0C9-1657D2E35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Kein Richtig oder Falsch</a:t>
            </a:r>
          </a:p>
          <a:p>
            <a:r>
              <a:t>- Zwei Dimensionen: Nutzungshäufigkeit + Haltung</a:t>
            </a:r>
          </a:p>
          <a:p>
            <a:r>
              <a:t>- Alle gleichzeitig, dann kurz betrachten</a:t>
            </a:r>
          </a:p>
          <a:p>
            <a:r>
              <a:t>- Breite Verteilung ist erwünscht</a:t>
            </a:r>
          </a:p>
          <a:p>
            <a:r>
              <a:t>- Keine Diskussion, nur Positionierung</a:t>
            </a:r>
          </a:p>
          <a:p>
            <a:r>
              <a:t>- FLIPCHART PHYSISCH VORBEREITEN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2EF77-E033-43F0-D40E-695F1DA48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88677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Schnelles Feedback</a:t>
            </a:r>
          </a:p>
          <a:p>
            <a:r>
              <a:t>- Alle gleichzeitig zeigen</a:t>
            </a:r>
          </a:p>
          <a:p>
            <a:r>
              <a:t>- Kurz wahrnehmen, nicht kommentieren</a:t>
            </a:r>
          </a:p>
          <a:p>
            <a:r>
              <a:t>- Selbstironischer Moment: KI-Bild mit 6 Fingern</a:t>
            </a:r>
          </a:p>
          <a:p>
            <a:r>
              <a:t>- Zeigt: auch KI-Tools sind nicht perfekt</a:t>
            </a:r>
          </a:p>
          <a:p>
            <a:endParaRPr/>
          </a:p>
          <a:p>
            <a:r>
              <a:t>BILD EINFÜGEN: KI-generierte Hand mit 6 Fingern in den Bildplatzhalter (rechte Seite)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Teams-Channel für Follow-up</a:t>
            </a:r>
          </a:p>
          <a:p>
            <a:r>
              <a:t>- Session-Insights werden dort geteilt</a:t>
            </a:r>
          </a:p>
          <a:p>
            <a:r>
              <a:t>- Mittagessen als Fortsetzung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8EA54-BF5A-45BA-4F1A-6F0FF061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D98BF-BDC0-86F2-AC5E-F29A12775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6A88D-4419-331D-51EB-55A22F5DA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BC516-DDDC-A56A-E507-F1BDCBD0B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E0F7A-EA63-40E1-97FB-D173EE3BA0C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575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55A5846-4501-444B-8F41-8054258174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4" y="1773239"/>
            <a:ext cx="11233151" cy="1620000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384000"/>
            <a:ext cx="7416800" cy="1656000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0"/>
            <a:r>
              <a:rPr lang="en-US" dirty="0"/>
              <a:t>Second row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15B85D1-F199-4887-990C-E3BAA2407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CB13E6-13DD-4532-8CE1-968B2D320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91" y="2708485"/>
            <a:ext cx="6253316" cy="3517490"/>
          </a:xfrm>
          <a:prstGeom prst="rect">
            <a:avLst/>
          </a:prstGeom>
        </p:spPr>
      </p:pic>
      <p:pic>
        <p:nvPicPr>
          <p:cNvPr id="2" name="Grafik 5">
            <a:extLst>
              <a:ext uri="{FF2B5EF4-FFF2-40B4-BE49-F238E27FC236}">
                <a16:creationId xmlns:a16="http://schemas.microsoft.com/office/drawing/2014/main" id="{F8A1DB93-5E07-059F-A8DA-4808C69D2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1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lue">
    <p:bg>
      <p:bgPr>
        <a:gradFill>
          <a:gsLst>
            <a:gs pos="100000">
              <a:srgbClr val="006192"/>
            </a:gs>
            <a:gs pos="12000">
              <a:srgbClr val="00B0A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55A5846-4501-444B-8F41-8054258174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4" y="1773239"/>
            <a:ext cx="11233151" cy="1620000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chemeClr val="bg2"/>
                </a:solidFill>
                <a:latin typeface="Allianz Neo" panose="020B0504020203020204" pitchFamily="34" charset="0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384000"/>
            <a:ext cx="7416800" cy="1656000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0"/>
            <a:r>
              <a:rPr lang="en-US" dirty="0"/>
              <a:t>Second row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15B85D1-F199-4887-990C-E3BAA2407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53D939DA-4566-137F-1E95-05C9402CE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1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4A093-8B28-4E43-B2A4-68404852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2315700"/>
            <a:ext cx="11233775" cy="2887655"/>
          </a:xfrm>
        </p:spPr>
        <p:txBody>
          <a:bodyPr/>
          <a:lstStyle>
            <a:lvl1pPr>
              <a:lnSpc>
                <a:spcPts val="8500"/>
              </a:lnSpc>
              <a:defRPr lang="en-US" sz="8500" kern="120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0A8EF058-F745-44F5-9C5A-CB9010BB23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  <a:latin typeface="Allianz Neo" panose="020B0504020203020204" pitchFamily="34" charset="0"/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5">
            <a:extLst>
              <a:ext uri="{FF2B5EF4-FFF2-40B4-BE49-F238E27FC236}">
                <a16:creationId xmlns:a16="http://schemas.microsoft.com/office/drawing/2014/main" id="{93169B54-12A8-7BF0-6B44-6F15B95D3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2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5200" y="2"/>
            <a:ext cx="6858000" cy="6858000"/>
          </a:xfrm>
          <a:solidFill>
            <a:schemeClr val="tx2"/>
          </a:solidFill>
        </p:spPr>
        <p:txBody>
          <a:bodyPr/>
          <a:lstStyle>
            <a:lvl1pPr>
              <a:defRPr>
                <a:latin typeface="Allianz Neo" panose="020B0504020203020204" pitchFamily="34" charset="0"/>
              </a:defRPr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800" y="1836000"/>
            <a:ext cx="4680000" cy="2400235"/>
          </a:xfrm>
        </p:spPr>
        <p:txBody>
          <a:bodyPr rIns="216000" anchor="ctr" anchorCtr="0"/>
          <a:lstStyle>
            <a:lvl1pPr algn="l">
              <a:lnSpc>
                <a:spcPts val="7000"/>
              </a:lnSpc>
              <a:defRPr sz="7000">
                <a:latin typeface="Allianz Neo" panose="020B0504020203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4788000"/>
            <a:ext cx="4680000" cy="562065"/>
          </a:xfrm>
        </p:spPr>
        <p:txBody>
          <a:bodyPr rIns="216000"/>
          <a:lstStyle>
            <a:lvl1pPr marL="0" indent="0" algn="l">
              <a:buNone/>
              <a:defRPr sz="1600"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010BB3A1-81DC-451B-8834-303DDC61D1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C2200793-2927-4E26-AE27-C3EF192AC9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44D99D3-D209-4B5F-AFD8-F759B2994F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-54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5">
            <a:extLst>
              <a:ext uri="{FF2B5EF4-FFF2-40B4-BE49-F238E27FC236}">
                <a16:creationId xmlns:a16="http://schemas.microsoft.com/office/drawing/2014/main" id="{D455F615-D6FE-0860-FE9D-2C8427759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4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blue">
    <p:bg>
      <p:bgPr>
        <a:gradFill>
          <a:gsLst>
            <a:gs pos="100000">
              <a:srgbClr val="006192"/>
            </a:gs>
            <a:gs pos="12000">
              <a:srgbClr val="00B0A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4" y="496800"/>
            <a:ext cx="1692275" cy="10440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800">
                <a:solidFill>
                  <a:srgbClr val="122B54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1620000"/>
            <a:ext cx="11233150" cy="1676355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rgbClr val="122B54"/>
                </a:solidFill>
                <a:latin typeface="Allianz Neo" panose="020B0504020203020204" pitchFamily="34" charset="0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5" y="3240000"/>
            <a:ext cx="7416800" cy="1676355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C2789B9-E108-4B68-95AC-2F43EFACBD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llianz Neo" panose="020B0504020203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8F9EA0B-D7B5-D1DE-D5D4-99E77B361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917846-2AD4-0D11-5D93-1BAE984E4270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89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96800"/>
            <a:ext cx="1692275" cy="10440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1620000"/>
            <a:ext cx="11233150" cy="1676355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85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5" y="3240000"/>
            <a:ext cx="7416800" cy="1676355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8500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Subtitle style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AF00734-E64C-9928-6E21-E022AAAFC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298F2CD4-349C-3B4C-73E3-DB1AD0F62265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05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4" y="496800"/>
            <a:ext cx="1692275" cy="10440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800">
                <a:solidFill>
                  <a:srgbClr val="122B54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1620000"/>
            <a:ext cx="11233150" cy="1676355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rgbClr val="122B54"/>
                </a:solidFill>
                <a:latin typeface="Allianz Neo" panose="020B0504020203020204" pitchFamily="34" charset="0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5" y="3240000"/>
            <a:ext cx="7416800" cy="1676355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C2789B9-E108-4B68-95AC-2F43EFACBD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llianz Neo" panose="020B0504020203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CFCF001-89CF-A1EB-1F6B-0C5D49D7E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FB0574-1808-E86E-AC33-CE637DA1A48B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1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old typo blu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28590" y="1152000"/>
            <a:ext cx="12801058" cy="2666928"/>
          </a:xfrm>
          <a:prstGeom prst="rect">
            <a:avLst/>
          </a:prstGeom>
        </p:spPr>
        <p:txBody>
          <a:bodyPr rIns="216000" anchor="b" anchorCtr="0"/>
          <a:lstStyle>
            <a:lvl1pPr algn="r">
              <a:lnSpc>
                <a:spcPct val="80000"/>
              </a:lnSpc>
              <a:defRPr sz="20002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28590" y="3420000"/>
            <a:ext cx="12801058" cy="3581884"/>
          </a:xfrm>
          <a:prstGeom prst="rect">
            <a:avLst/>
          </a:prstGeo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20002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BB343D-B628-5C77-5C7A-3CE600670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1823F0-779F-5628-2846-475E61709B65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51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old typo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28590" y="1152000"/>
            <a:ext cx="12801058" cy="2666928"/>
          </a:xfrm>
        </p:spPr>
        <p:txBody>
          <a:bodyPr rIns="216000" anchor="b" anchorCtr="0"/>
          <a:lstStyle>
            <a:lvl1pPr algn="r">
              <a:lnSpc>
                <a:spcPct val="80000"/>
              </a:lnSpc>
              <a:defRPr sz="20002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28590" y="3420000"/>
            <a:ext cx="12801058" cy="3581884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20002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EFA1D2F-AB2C-007B-B156-35FB852C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807FEB-EAAB-B366-05A5-5E922D4A5DA9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62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 + imag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19988-30BF-4574-85B3-793CCEE2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76250"/>
            <a:ext cx="3600448" cy="10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69759C4-BC62-4FF7-9444-30229490F1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3600000"/>
            <a:ext cx="3816350" cy="194786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CE71AF72-2FFB-40A2-ADC6-9889A350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8001" y="0"/>
            <a:ext cx="7044000" cy="4968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350D488-0B65-AECA-B3F0-12F7896C3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DB660735-B5E8-6546-27A0-AEF334B8BD38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4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219988-30BF-4574-85B3-793CCEE2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76250"/>
            <a:ext cx="3600448" cy="1080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69759C4-BC62-4FF7-9444-30229490F1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3600000"/>
            <a:ext cx="3816350" cy="1947863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CE71AF72-2FFB-40A2-ADC6-9889A350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8001" y="0"/>
            <a:ext cx="7044000" cy="4968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6003B3-8A02-1F03-7FF5-DC13E717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2DADC9D4-E300-AA18-3DDA-1767EC975813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699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chart">
    <p:bg>
      <p:bgPr>
        <a:gradFill>
          <a:gsLst>
            <a:gs pos="100000">
              <a:srgbClr val="006192"/>
            </a:gs>
            <a:gs pos="12000">
              <a:srgbClr val="00B0A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4C7D53-F7C8-42E2-A6B2-D07D282479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82"/>
          <a:stretch/>
        </p:blipFill>
        <p:spPr>
          <a:xfrm>
            <a:off x="3490026" y="1143095"/>
            <a:ext cx="4816761" cy="45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35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A92110-7759-4818-B8AB-E43CF4F0B5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AF63EA58-623B-4C98-B0B3-106149A956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127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- No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89296"/>
            <a:ext cx="9324974" cy="8870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376363"/>
            <a:ext cx="11233151" cy="4789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C13493-086D-4789-9703-1D3FC71378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43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>
            <a:extLst>
              <a:ext uri="{FF2B5EF4-FFF2-40B4-BE49-F238E27FC236}">
                <a16:creationId xmlns:a16="http://schemas.microsoft.com/office/drawing/2014/main" id="{7A1C0ECB-E7FD-4CFC-BB65-99367A5A0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4BDB62-A86B-4312-84AC-605A043A52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66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8D43DDA6-9E28-4292-8A58-91764D9BF3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3600451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401694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C551487E-C11A-4467-98A1-8C3C5A14A9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F6E1E7D-62F9-4031-8EDE-4D54A0DCE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9425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4185851"/>
            <a:ext cx="3600451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F92E55E2-AF52-4C0E-A959-DF683F5CE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9577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34A88299-44D9-4594-9216-B685B5454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0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8928000" cy="6084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52000" y="1332000"/>
            <a:ext cx="2460575" cy="4752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626A08E-050C-4C68-BDE6-F1BB5A27A3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970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056000" cy="594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2000" y="1808163"/>
            <a:ext cx="4080575" cy="4131838"/>
          </a:xfrm>
        </p:spPr>
        <p:txBody>
          <a:bodyPr/>
          <a:lstStyle>
            <a:lvl1pPr>
              <a:lnSpc>
                <a:spcPts val="3800"/>
              </a:lnSpc>
              <a:spcAft>
                <a:spcPts val="2400"/>
              </a:spcAft>
              <a:defRPr sz="3800" b="0"/>
            </a:lvl1pPr>
            <a:lvl2pPr marL="0" indent="0">
              <a:buNone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89E36F-7715-457D-8887-3CAB56AFC0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464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>
            <a:extLst>
              <a:ext uri="{FF2B5EF4-FFF2-40B4-BE49-F238E27FC236}">
                <a16:creationId xmlns:a16="http://schemas.microsoft.com/office/drawing/2014/main" id="{E0780CC6-0AAA-43D9-B97A-2EF6ED7D8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5775" y="-1"/>
            <a:ext cx="7896225" cy="4968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2563200"/>
            <a:ext cx="3600449" cy="2404799"/>
          </a:xfrm>
        </p:spPr>
        <p:txBody>
          <a:bodyPr anchor="b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68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>
            <a:extLst>
              <a:ext uri="{FF2B5EF4-FFF2-40B4-BE49-F238E27FC236}">
                <a16:creationId xmlns:a16="http://schemas.microsoft.com/office/drawing/2014/main" id="{DB4B0E92-1B2C-41F7-B669-32B6FD5663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168000"/>
            <a:ext cx="3600449" cy="2997850"/>
          </a:xfrm>
        </p:spPr>
        <p:txBody>
          <a:bodyPr anchor="t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21E4ABD4-4EF9-7B93-5587-D08FD7F0F81A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8050" y="1008001"/>
            <a:ext cx="6203950" cy="5850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102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+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89F8AF55-CD46-430D-AC56-3428F98D0C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550862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5508626" cy="1439863"/>
          </a:xfrm>
        </p:spPr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4176000"/>
            <a:ext cx="3816349" cy="1989850"/>
          </a:xfrm>
        </p:spPr>
        <p:txBody>
          <a:bodyPr anchor="t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2" y="1044000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838915D-D3FB-443D-B066-9871FCA0D9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40000" y="1044000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53DA06E5-3D83-444D-925F-F4A41465D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3952" y="3582001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A4C057F-21D1-4235-9674-D17DA9EE80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40000" y="3582001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8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ld headline on blue/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112125" cy="6858000"/>
          </a:xfrm>
          <a:prstGeom prst="rect">
            <a:avLst/>
          </a:prstGeom>
          <a:gradFill>
            <a:gsLst>
              <a:gs pos="100000">
                <a:srgbClr val="006192"/>
              </a:gs>
              <a:gs pos="12000">
                <a:srgbClr val="00B0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llianz Neo" panose="020B0504020203020204" pitchFamily="34" charset="0"/>
            </a:endParaRP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65CB8C84-525E-4B57-BAF4-5CD06402D3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476250"/>
            <a:ext cx="572452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2525" y="1808163"/>
            <a:ext cx="2940050" cy="4357687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600EDD0-042C-48C5-946C-9122C18A11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060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112125" cy="6858000"/>
          </a:xfrm>
          <a:prstGeom prst="rect">
            <a:avLst/>
          </a:prstGeom>
          <a:solidFill>
            <a:srgbClr val="13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llianz Neo" panose="020B0504020203020204" pitchFamily="34" charset="0"/>
            </a:endParaRP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65CB8C84-525E-4B57-BAF4-5CD06402D3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476250"/>
            <a:ext cx="572452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2525" y="1808163"/>
            <a:ext cx="2940050" cy="4357687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600EDD0-042C-48C5-946C-9122C18A11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427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ld headline on blue/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gradFill>
            <a:gsLst>
              <a:gs pos="100000">
                <a:srgbClr val="006192"/>
              </a:gs>
              <a:gs pos="12000">
                <a:srgbClr val="00B0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llianz Neo" panose="020B0504020203020204" pitchFamily="34" charset="0"/>
            </a:endParaRP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86895624-7DAF-4916-BF2D-DA99D815DD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476250"/>
            <a:ext cx="5025082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0000" y="3024000"/>
            <a:ext cx="4152573" cy="3141849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A37E33-1BC4-4258-8988-7DB0EC8D5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0300" y="0"/>
            <a:ext cx="4320000" cy="2340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631362-B5E9-4A03-8563-BC489D509F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55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13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llianz Neo" panose="020B0504020203020204" pitchFamily="34" charset="0"/>
            </a:endParaRP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86895624-7DAF-4916-BF2D-DA99D815DD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476250"/>
            <a:ext cx="5025082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0000" y="3024000"/>
            <a:ext cx="4152573" cy="3141849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A37E33-1BC4-4258-8988-7DB0EC8D5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0300" y="0"/>
            <a:ext cx="4320000" cy="2340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631362-B5E9-4A03-8563-BC489D509F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06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BF6088-36A1-4310-BB51-1649635E78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0606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E58946-949A-488B-8C82-A425EDC09E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0159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CF6E46-F87C-4B64-99C8-86D0AD8F84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15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FB93F98-2502-4A46-903A-C90B11A87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00" y="-152396"/>
            <a:ext cx="1104853" cy="93734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31789C7-E5A6-4AA7-BF30-57CEC805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3"/>
            <a:ext cx="7400615" cy="43576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20E780E-8236-45DA-A6AF-143D4C7283C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69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blea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F0E3A786-3A65-164E-9599-754014031CE2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43F4184-F695-473F-B37A-0DA4B8E54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8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D3F89-8F63-4AD4-9A29-6909CDF4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9" y="3031886"/>
            <a:ext cx="5929704" cy="932854"/>
          </a:xfrm>
        </p:spPr>
        <p:txBody>
          <a:bodyPr/>
          <a:lstStyle>
            <a:lvl1pPr defTabSz="720000">
              <a:defRPr lang="en-US" sz="3800" kern="120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2637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7955563-D116-42F8-9493-607FD96D81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1DF75E5-F9FE-4B14-8C90-B1BF90164CF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45163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rgbClr val="00908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E809D7-298E-4784-9AE3-F5FC40D204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7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B7EEF68F-5357-4EC1-854D-F85E9950B8DD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361512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rgbClr val="00908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4FD059CA-F54D-436B-83BF-7C80E05A47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77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F40182DB-D138-4445-9088-170FAB7AB943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157390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rgbClr val="00908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3F0C00D3-5C3B-4DEC-B521-74B05D0D8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718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4">
            <a:extLst>
              <a:ext uri="{FF2B5EF4-FFF2-40B4-BE49-F238E27FC236}">
                <a16:creationId xmlns:a16="http://schemas.microsoft.com/office/drawing/2014/main" id="{CBA18CC5-0EE1-4A52-A8DC-E8A87E5CEB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2ED1243-6147-42B8-9521-E858A885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808163"/>
            <a:ext cx="11233150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4B3AA978-9AA1-EDD6-7FF0-D4D0980859F0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9539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- No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89296"/>
            <a:ext cx="9324974" cy="8870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376363"/>
            <a:ext cx="11233151" cy="4789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66B618-3572-4A35-AE43-3071208EAA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E29A76-6030-9380-29C3-695259113AF6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83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>
            <a:extLst>
              <a:ext uri="{FF2B5EF4-FFF2-40B4-BE49-F238E27FC236}">
                <a16:creationId xmlns:a16="http://schemas.microsoft.com/office/drawing/2014/main" id="{38466069-A1D4-43E3-9D57-F1BB85187B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03C9E28-168F-4D13-868D-27257D6C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5508626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49" y="1808163"/>
            <a:ext cx="5508626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0A950C1-7AA2-4F73-AC21-33D3D0370B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BCC7F7-45E5-272D-22F6-72C8FE8A581D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302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DF867C49-9429-44E7-8D7C-BE8830218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C1CFEB79-DAF0-459A-90C1-93E72C7A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95C63E0E-3BF5-4908-9362-9309FED38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3600451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0DFEF79D-1387-4178-94B9-1DC016DC9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D142C95E-C2F8-4F78-A54D-A69241CB121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EAE339A-6B80-4E81-A55D-5C7A743CA5B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6093D7D9-55C3-B505-A50D-A508CEFEB48C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85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056000" cy="594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2000" y="1808163"/>
            <a:ext cx="4080575" cy="4131838"/>
          </a:xfrm>
        </p:spPr>
        <p:txBody>
          <a:bodyPr/>
          <a:lstStyle>
            <a:lvl1pPr>
              <a:lnSpc>
                <a:spcPts val="3800"/>
              </a:lnSpc>
              <a:spcAft>
                <a:spcPts val="2400"/>
              </a:spcAft>
              <a:defRPr sz="3800" b="0"/>
            </a:lvl1pPr>
            <a:lvl2pPr marL="0" indent="0">
              <a:buNone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9133B21-53A9-4C10-9A93-A4D7F9A03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32B9F1BE-E240-DC11-CC92-159884EAE8CE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431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4">
            <a:extLst>
              <a:ext uri="{FF2B5EF4-FFF2-40B4-BE49-F238E27FC236}">
                <a16:creationId xmlns:a16="http://schemas.microsoft.com/office/drawing/2014/main" id="{B5A5C9BE-C1FB-44B5-B87B-4817825EC3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BDFD4E2-0908-44C9-B61C-E96E93B11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DB801B0-E6B4-4F96-8CE5-F9E84D58C4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46B0BFB6-6D74-EB7E-244B-630F789F2C57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1983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>
            <a:extLst>
              <a:ext uri="{FF2B5EF4-FFF2-40B4-BE49-F238E27FC236}">
                <a16:creationId xmlns:a16="http://schemas.microsoft.com/office/drawing/2014/main" id="{C59C485C-B44D-40A1-BE56-1CA8AA189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AA99CC9-05C0-45B6-8C99-173138DC65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15EB219C-4977-3966-9781-DC05427777EA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219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/Content side by sid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4">
            <a:extLst>
              <a:ext uri="{FF2B5EF4-FFF2-40B4-BE49-F238E27FC236}">
                <a16:creationId xmlns:a16="http://schemas.microsoft.com/office/drawing/2014/main" id="{E701F698-4425-4620-94EB-05146EF47E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1BBB61B-6E7A-4BFF-9CB2-ED26389C4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1" y="1808162"/>
            <a:ext cx="3584264" cy="4357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17BF0A-6C84-41F6-BF3F-CBB13FEE33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775" y="1808162"/>
            <a:ext cx="7416800" cy="435768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E89875-00B9-49CB-9A52-F4F62C2F70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67B25247-657A-C049-8667-1964AFBE7995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681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7A28BB5-45D7-4A7F-B5F7-BB60CFEF3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00" y="-152396"/>
            <a:ext cx="1103268" cy="936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D128BBF-7995-4434-9230-F239AB8A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7416798" cy="4357687"/>
          </a:xfrm>
        </p:spPr>
        <p:txBody>
          <a:bodyPr/>
          <a:lstStyle>
            <a:lvl1pPr>
              <a:spcAft>
                <a:spcPts val="0"/>
              </a:spcAft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D1C1F5E-AD8D-491B-B3B3-0EF68361C67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0C6AB0-F298-2882-3AA8-204D74998F11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96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FA13754-0890-465C-BA8A-E18B554E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55A5846-4501-444B-8F41-8054258174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4" y="1773239"/>
            <a:ext cx="11233151" cy="1620000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384000"/>
            <a:ext cx="7416800" cy="1656000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rgbClr val="13A0D3"/>
                </a:solidFill>
                <a:latin typeface="Allianz Neo" panose="020B05040202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0"/>
            <a:r>
              <a:rPr lang="en-US" dirty="0"/>
              <a:t>Second row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15B85D1-F199-4887-990C-E3BAA2407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977100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4A093-8B28-4E43-B2A4-68404852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2315700"/>
            <a:ext cx="11233775" cy="2887655"/>
          </a:xfrm>
        </p:spPr>
        <p:txBody>
          <a:bodyPr/>
          <a:lstStyle>
            <a:lvl1pPr>
              <a:lnSpc>
                <a:spcPts val="8500"/>
              </a:lnSpc>
              <a:defRPr lang="en-US" sz="8500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FA13754-0890-465C-BA8A-E18B554E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0A8EF058-F745-44F5-9C5A-CB9010BB23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14592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5200" y="2"/>
            <a:ext cx="6858000" cy="6858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800" y="1836000"/>
            <a:ext cx="4680000" cy="2400235"/>
          </a:xfrm>
        </p:spPr>
        <p:txBody>
          <a:bodyPr rIns="216000" anchor="ctr" anchorCtr="0"/>
          <a:lstStyle>
            <a:lvl1pPr algn="l">
              <a:lnSpc>
                <a:spcPts val="7000"/>
              </a:lnSpc>
              <a:defRPr sz="7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4788000"/>
            <a:ext cx="4680000" cy="562065"/>
          </a:xfrm>
        </p:spPr>
        <p:txBody>
          <a:bodyPr rIns="216000"/>
          <a:lstStyle>
            <a:lvl1pPr marL="0" indent="0" algn="l">
              <a:buNone/>
              <a:defRPr sz="1600"/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DB0C78F-5BF6-4741-8EF4-0317AF8FB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010BB3A1-81DC-451B-8834-303DDC61D1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C2200793-2927-4E26-AE27-C3EF192AC9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44D99D3-D209-4B5F-AFD8-F759B2994F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-54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81205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A92110-7759-4818-B8AB-E43CF4F0B5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AF63EA58-623B-4C98-B0B3-106149A956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2566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- No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89296"/>
            <a:ext cx="9324974" cy="8870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376363"/>
            <a:ext cx="11233151" cy="4789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C13493-086D-4789-9703-1D3FC71378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21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>
            <a:extLst>
              <a:ext uri="{FF2B5EF4-FFF2-40B4-BE49-F238E27FC236}">
                <a16:creationId xmlns:a16="http://schemas.microsoft.com/office/drawing/2014/main" id="{7A1C0ECB-E7FD-4CFC-BB65-99367A5A0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4BDB62-A86B-4312-84AC-605A043A52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161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8D43DDA6-9E28-4292-8A58-91764D9BF3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3600451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245266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C551487E-C11A-4467-98A1-8C3C5A14A9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F6E1E7D-62F9-4031-8EDE-4D54A0DCE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9425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4185851"/>
            <a:ext cx="3600451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F92E55E2-AF52-4C0E-A959-DF683F5CE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9577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34A88299-44D9-4594-9216-B685B5454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67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8928000" cy="6084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52000" y="1332000"/>
            <a:ext cx="2460575" cy="4752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626A08E-050C-4C68-BDE6-F1BB5A27A3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04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056000" cy="594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2000" y="1808163"/>
            <a:ext cx="4080575" cy="4131838"/>
          </a:xfrm>
        </p:spPr>
        <p:txBody>
          <a:bodyPr/>
          <a:lstStyle>
            <a:lvl1pPr>
              <a:lnSpc>
                <a:spcPts val="3800"/>
              </a:lnSpc>
              <a:spcAft>
                <a:spcPts val="2400"/>
              </a:spcAft>
              <a:defRPr sz="3800" b="0"/>
            </a:lvl1pPr>
            <a:lvl2pPr marL="0" indent="0">
              <a:buNone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89E36F-7715-457D-8887-3CAB56AFC0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1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+ headlin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>
            <a:extLst>
              <a:ext uri="{FF2B5EF4-FFF2-40B4-BE49-F238E27FC236}">
                <a16:creationId xmlns:a16="http://schemas.microsoft.com/office/drawing/2014/main" id="{E0780CC6-0AAA-43D9-B97A-2EF6ED7D8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5775" y="-1"/>
            <a:ext cx="7896225" cy="4968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2563200"/>
            <a:ext cx="3600449" cy="2404799"/>
          </a:xfrm>
        </p:spPr>
        <p:txBody>
          <a:bodyPr anchor="b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CEB6A8EB-A666-4A27-9824-30E6CEF93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692000" y="504000"/>
            <a:ext cx="1018800" cy="252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649A55A1-E153-AA1F-BED5-AD3782124586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441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>
            <a:extLst>
              <a:ext uri="{FF2B5EF4-FFF2-40B4-BE49-F238E27FC236}">
                <a16:creationId xmlns:a16="http://schemas.microsoft.com/office/drawing/2014/main" id="{DB4B0E92-1B2C-41F7-B669-32B6FD5663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168000"/>
            <a:ext cx="3600449" cy="2997850"/>
          </a:xfrm>
        </p:spPr>
        <p:txBody>
          <a:bodyPr anchor="t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DF90C0CD-B617-5587-7674-4709E1BB57A7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8050" y="1008001"/>
            <a:ext cx="6203950" cy="5850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041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+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89F8AF55-CD46-430D-AC56-3428F98D0C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550862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5508626" cy="1439863"/>
          </a:xfrm>
        </p:spPr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4176000"/>
            <a:ext cx="3816349" cy="1989850"/>
          </a:xfrm>
        </p:spPr>
        <p:txBody>
          <a:bodyPr anchor="t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2" y="1044000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838915D-D3FB-443D-B066-9871FCA0D9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40000" y="1044000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53DA06E5-3D83-444D-925F-F4A41465D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3952" y="3582001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A4C057F-21D1-4235-9674-D17DA9EE80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40000" y="3582001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25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112125" cy="6858000"/>
          </a:xfrm>
          <a:prstGeom prst="rect">
            <a:avLst/>
          </a:prstGeom>
          <a:solidFill>
            <a:srgbClr val="13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65CB8C84-525E-4B57-BAF4-5CD06402D3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476250"/>
            <a:ext cx="572452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2525" y="1808163"/>
            <a:ext cx="2940050" cy="4357687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600EDD0-042C-48C5-946C-9122C18A11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88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13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86895624-7DAF-4916-BF2D-DA99D815DD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476250"/>
            <a:ext cx="5025082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0000" y="3024000"/>
            <a:ext cx="4152573" cy="3141849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A37E33-1BC4-4258-8988-7DB0EC8D5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0300" y="0"/>
            <a:ext cx="4320000" cy="2340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631362-B5E9-4A03-8563-BC489D509F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901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BF6088-36A1-4310-BB51-1649635E78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1958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E58946-949A-488B-8C82-A425EDC09E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3289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CF6E46-F87C-4B64-99C8-86D0AD8F84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8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FB93F98-2502-4A46-903A-C90B11A87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00" y="-152396"/>
            <a:ext cx="1104853" cy="93734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31789C7-E5A6-4AA7-BF30-57CEC805A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3"/>
            <a:ext cx="7400615" cy="43576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20E780E-8236-45DA-A6AF-143D4C7283C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4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blea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43F4184-F695-473F-B37A-0DA4B8E54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8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F2B9096-2D8C-433C-8C26-F6A72A4C0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692000" y="504000"/>
            <a:ext cx="1018800" cy="252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D3F89-8F63-4AD4-9A29-6909CDF4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9" y="3031886"/>
            <a:ext cx="5929704" cy="932854"/>
          </a:xfrm>
        </p:spPr>
        <p:txBody>
          <a:bodyPr/>
          <a:lstStyle>
            <a:lvl1pPr defTabSz="720000">
              <a:defRPr lang="en-US" sz="38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37DF8E02-3450-20EE-18A7-3D0C6E7D2126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50210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7955563-D116-42F8-9493-607FD96D81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1DF75E5-F9FE-4B14-8C90-B1BF90164CF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24691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E809D7-298E-4784-9AE3-F5FC40D204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7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B7EEF68F-5357-4EC1-854D-F85E9950B8DD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341040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4FD059CA-F54D-436B-83BF-7C80E05A47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77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F40182DB-D138-4445-9088-170FAB7AB943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157390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3F0C00D3-5C3B-4DEC-B521-74B05D0D8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434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 blue">
    <p:bg>
      <p:bgPr>
        <a:gradFill>
          <a:gsLst>
            <a:gs pos="100000">
              <a:srgbClr val="006192"/>
            </a:gs>
            <a:gs pos="12000">
              <a:srgbClr val="00B0A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A76155D-28BD-4C10-BAB6-57A10E8FE8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smtClean="0"/>
              <a:pPr/>
              <a:t>‹Nr.›</a:t>
            </a:fld>
            <a:endParaRPr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4" y="496800"/>
            <a:ext cx="1692275" cy="10440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800">
                <a:solidFill>
                  <a:srgbClr val="122B54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1620000"/>
            <a:ext cx="11233150" cy="1676355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5" y="3240000"/>
            <a:ext cx="7416800" cy="1676355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C2789B9-E108-4B68-95AC-2F43EFACBD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8F9EA0B-D7B5-D1DE-D5D4-99E77B361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2630BF-6ED4-4200-81CB-E3AF30410201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tx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2548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96FE83-F99B-4339-865C-D01C13BF52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56C449F3-BD9D-48DC-BFF1-0F66671DA7C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96800"/>
            <a:ext cx="1692275" cy="10440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1620000"/>
            <a:ext cx="11233150" cy="1676355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8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5" y="3240000"/>
            <a:ext cx="7416800" cy="1676355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8500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Subtitle style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AF00734-E64C-9928-6E21-E022AAAFC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5618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A76155D-28BD-4C10-BAB6-57A10E8FE8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4" y="496800"/>
            <a:ext cx="1692275" cy="10440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800">
                <a:solidFill>
                  <a:srgbClr val="122B54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1620000"/>
            <a:ext cx="11233150" cy="1676355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5" y="3240000"/>
            <a:ext cx="7416800" cy="1676355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C2789B9-E108-4B68-95AC-2F43EFACBD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CFCF001-89CF-A1EB-1F6B-0C5D49D7E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CE7548-3850-402C-A0D0-29D9C4D4CC18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tx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8223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bold typo blu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4903B4-6642-4AFF-90D9-E8903BFF6D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28590" y="1152000"/>
            <a:ext cx="12801058" cy="2666928"/>
          </a:xfrm>
          <a:prstGeom prst="rect">
            <a:avLst/>
          </a:prstGeom>
        </p:spPr>
        <p:txBody>
          <a:bodyPr rIns="216000" anchor="b" anchorCtr="0"/>
          <a:lstStyle>
            <a:lvl1pPr algn="r">
              <a:lnSpc>
                <a:spcPct val="80000"/>
              </a:lnSpc>
              <a:defRPr sz="20002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28590" y="3420000"/>
            <a:ext cx="12801058" cy="3581884"/>
          </a:xfrm>
          <a:prstGeom prst="rect">
            <a:avLst/>
          </a:prstGeo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20002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BB343D-B628-5C77-5C7A-3CE600670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064C85-B79C-4252-9B77-11139414F85A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tx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0195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old typo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D4BF3A5-0D07-42B9-83A0-4BB19773B0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28590" y="1152000"/>
            <a:ext cx="12801058" cy="2666928"/>
          </a:xfrm>
        </p:spPr>
        <p:txBody>
          <a:bodyPr rIns="216000" anchor="b" anchorCtr="0"/>
          <a:lstStyle>
            <a:lvl1pPr algn="r">
              <a:lnSpc>
                <a:spcPct val="80000"/>
              </a:lnSpc>
              <a:defRPr sz="20002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28590" y="3420000"/>
            <a:ext cx="12801058" cy="3581884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20002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 dirty="0"/>
              <a:t>Sub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EFA1D2F-AB2C-007B-B156-35FB852C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092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lue + imag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DBAB04-1D2E-4D8E-B3D2-20C3A531B5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219988-30BF-4574-85B3-793CCEE2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76250"/>
            <a:ext cx="3600448" cy="10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69759C4-BC62-4FF7-9444-30229490F1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3600000"/>
            <a:ext cx="3816350" cy="1947863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CE71AF72-2FFB-40A2-ADC6-9889A350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8001" y="0"/>
            <a:ext cx="7044000" cy="4968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350D488-0B65-AECA-B3F0-12F7896C3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8333B2-BE2F-4F76-8B42-4C33A003593A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tx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bg1"/>
                </a:solidFill>
                <a:latin typeface="Allianz Neo" panose="020B0504020203020204" pitchFamily="34" charset="0"/>
              </a:rPr>
              <a:t>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</a:t>
            </a:r>
            <a:r>
              <a:rPr lang="de-DE" sz="900" b="0" dirty="0">
                <a:solidFill>
                  <a:schemeClr val="bg1"/>
                </a:solidFill>
                <a:latin typeface="Allianz Neo" panose="020B0504020203020204" pitchFamily="34" charset="0"/>
              </a:rPr>
              <a:t> |</a:t>
            </a:r>
            <a:endParaRPr lang="en-GB" sz="900" dirty="0">
              <a:solidFill>
                <a:schemeClr val="bg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984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DBAB04-1D2E-4D8E-B3D2-20C3A531B5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219988-30BF-4574-85B3-793CCEE2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76250"/>
            <a:ext cx="3600448" cy="1080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69759C4-BC62-4FF7-9444-30229490F1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3600000"/>
            <a:ext cx="3816350" cy="1947863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CE71AF72-2FFB-40A2-ADC6-9889A3507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8001" y="0"/>
            <a:ext cx="7044000" cy="4968000"/>
          </a:xfrm>
          <a:solidFill>
            <a:schemeClr val="tx2"/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6003B3-8A02-1F03-7FF5-DC13E717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679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chart">
    <p:bg>
      <p:bgPr>
        <a:gradFill>
          <a:gsLst>
            <a:gs pos="100000">
              <a:srgbClr val="006192"/>
            </a:gs>
            <a:gs pos="12000">
              <a:srgbClr val="00B0A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761017-7A9E-407D-8DCD-CEDEF7758D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E17BDC-EA43-4E3E-BD9B-A4BB1E6EA0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4980" y="1143096"/>
            <a:ext cx="4571807" cy="45718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8043A-EA99-423D-BEB5-FC1A941ACFDD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tx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69388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u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FA13754-0890-465C-BA8A-E18B554E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855A5846-4501-444B-8F41-8054258174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4" y="1773239"/>
            <a:ext cx="11233151" cy="1620000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384000"/>
            <a:ext cx="7416800" cy="1656000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rgbClr val="13A0D3"/>
                </a:solidFill>
                <a:latin typeface="Allianz Neo" panose="020B05040202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0"/>
            <a:r>
              <a:rPr lang="en-US" dirty="0"/>
              <a:t>Second row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15B85D1-F199-4887-990C-E3BAA2407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381702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A92110-7759-4818-B8AB-E43CF4F0B5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AF63EA58-623B-4C98-B0B3-106149A956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36657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BF6088-36A1-4310-BB51-1649635E78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73583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5200" y="2"/>
            <a:ext cx="6858000" cy="6858000"/>
          </a:xfrm>
          <a:solidFill>
            <a:schemeClr val="tx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800" y="1836000"/>
            <a:ext cx="4680000" cy="2400235"/>
          </a:xfrm>
        </p:spPr>
        <p:txBody>
          <a:bodyPr rIns="216000" anchor="ctr" anchorCtr="0"/>
          <a:lstStyle>
            <a:lvl1pPr algn="l">
              <a:lnSpc>
                <a:spcPts val="7000"/>
              </a:lnSpc>
              <a:defRPr sz="7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4788000"/>
            <a:ext cx="4680000" cy="562065"/>
          </a:xfrm>
        </p:spPr>
        <p:txBody>
          <a:bodyPr rIns="216000"/>
          <a:lstStyle>
            <a:lvl1pPr marL="0" indent="0" algn="l">
              <a:buNone/>
              <a:defRPr sz="1600"/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DB0C78F-5BF6-4741-8EF4-0317AF8FB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010BB3A1-81DC-451B-8834-303DDC61D1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C2200793-2927-4E26-AE27-C3EF192AC9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44D99D3-D209-4B5F-AFD8-F759B2994F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-54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5506721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>
            <a:extLst>
              <a:ext uri="{FF2B5EF4-FFF2-40B4-BE49-F238E27FC236}">
                <a16:creationId xmlns:a16="http://schemas.microsoft.com/office/drawing/2014/main" id="{38466069-A1D4-43E3-9D57-F1BB85187B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en-US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Topline goes here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03C9E28-168F-4D13-868D-27257D6C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5508626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49" y="1808163"/>
            <a:ext cx="5508626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0A950C1-7AA2-4F73-AC21-33D3D0370B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BCC7F7-45E5-272D-22F6-72C8FE8A581D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chemeClr val="tx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chemeClr val="tx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311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55A5846-4501-444B-8F41-8054258174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4" y="1773239"/>
            <a:ext cx="11233151" cy="1620000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384000"/>
            <a:ext cx="7416800" cy="1656000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rgbClr val="00908D"/>
                </a:solidFill>
                <a:latin typeface="Allianz Neo" panose="020B05040202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0"/>
            <a:r>
              <a:rPr lang="en-US" dirty="0"/>
              <a:t>Second row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15B85D1-F199-4887-990C-E3BAA2407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F8A1DB93-5E07-059F-A8DA-4808C69D2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2235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lue">
    <p:bg>
      <p:bgPr>
        <a:gradFill>
          <a:gsLst>
            <a:gs pos="100000">
              <a:srgbClr val="006192"/>
            </a:gs>
            <a:gs pos="12000">
              <a:srgbClr val="00B0AC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55A5846-4501-444B-8F41-8054258174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4" y="1773239"/>
            <a:ext cx="11233151" cy="1620000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7909B2E5-8CFF-4102-B771-B048BAA6D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384000"/>
            <a:ext cx="7416800" cy="1656000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tx1"/>
                </a:solidFill>
                <a:latin typeface="Allianz Neo" panose="020B05040202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style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  <a:p>
            <a:pPr lvl="0"/>
            <a:r>
              <a:rPr lang="en-US" dirty="0"/>
              <a:t>Second row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15B85D1-F199-4887-990C-E3BAA2407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fik 5">
            <a:extLst>
              <a:ext uri="{FF2B5EF4-FFF2-40B4-BE49-F238E27FC236}">
                <a16:creationId xmlns:a16="http://schemas.microsoft.com/office/drawing/2014/main" id="{53D939DA-4566-137F-1E95-05C9402CE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417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4A093-8B28-4E43-B2A4-68404852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2315700"/>
            <a:ext cx="11233775" cy="2887655"/>
          </a:xfrm>
        </p:spPr>
        <p:txBody>
          <a:bodyPr/>
          <a:lstStyle>
            <a:lvl1pPr>
              <a:lnSpc>
                <a:spcPts val="8500"/>
              </a:lnSpc>
              <a:defRPr lang="en-US" sz="8500" kern="120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Textplatzhalter 14">
            <a:extLst>
              <a:ext uri="{FF2B5EF4-FFF2-40B4-BE49-F238E27FC236}">
                <a16:creationId xmlns:a16="http://schemas.microsoft.com/office/drawing/2014/main" id="{A89B177C-F8F6-4738-B4AF-9E4A824385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D04322D5-0CE0-4328-BE55-EFF287C34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0A8EF058-F745-44F5-9C5A-CB9010BB23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162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bg1"/>
                </a:solidFill>
                <a:latin typeface="Allianz Neo" panose="020B0504020203020204" pitchFamily="34" charset="0"/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fik 5">
            <a:extLst>
              <a:ext uri="{FF2B5EF4-FFF2-40B4-BE49-F238E27FC236}">
                <a16:creationId xmlns:a16="http://schemas.microsoft.com/office/drawing/2014/main" id="{93169B54-12A8-7BF0-6B44-6F15B95D3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949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5200" y="2"/>
            <a:ext cx="6858000" cy="6858000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800" y="1836000"/>
            <a:ext cx="4680000" cy="2400235"/>
          </a:xfrm>
        </p:spPr>
        <p:txBody>
          <a:bodyPr rIns="216000" anchor="ctr" anchorCtr="0"/>
          <a:lstStyle>
            <a:lvl1pPr algn="l">
              <a:lnSpc>
                <a:spcPts val="7000"/>
              </a:lnSpc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4788000"/>
            <a:ext cx="4680000" cy="562065"/>
          </a:xfrm>
        </p:spPr>
        <p:txBody>
          <a:bodyPr rIns="216000"/>
          <a:lstStyle>
            <a:lvl1pPr marL="0" indent="0" algn="l">
              <a:buNone/>
              <a:defRPr sz="1600"/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010BB3A1-81DC-451B-8834-303DDC61D1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8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C2200793-2927-4E26-AE27-C3EF192AC9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5968800"/>
            <a:ext cx="1692900" cy="546124"/>
          </a:xfrm>
        </p:spPr>
        <p:txBody>
          <a:bodyPr anchor="b" anchorCtr="0"/>
          <a:lstStyle>
            <a:lvl1pPr>
              <a:lnSpc>
                <a:spcPct val="100000"/>
              </a:lnSpc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44D99D3-D209-4B5F-AFD8-F759B2994F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-5400000">
            <a:off x="11016000" y="5772158"/>
            <a:ext cx="1281600" cy="144000"/>
          </a:xfrm>
        </p:spPr>
        <p:txBody>
          <a:bodyPr anchor="b" anchorCtr="0"/>
          <a:lstStyle>
            <a:lvl1pPr>
              <a:defRPr sz="800">
                <a:solidFill>
                  <a:schemeClr val="tx1"/>
                </a:solidFill>
              </a:defRPr>
            </a:lvl1pPr>
            <a:lvl5pPr marL="288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fik 5">
            <a:extLst>
              <a:ext uri="{FF2B5EF4-FFF2-40B4-BE49-F238E27FC236}">
                <a16:creationId xmlns:a16="http://schemas.microsoft.com/office/drawing/2014/main" id="{D455F615-D6FE-0860-FE9D-2C8427759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476250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436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6A92110-7759-4818-B8AB-E43CF4F0B5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AF63EA58-623B-4C98-B0B3-106149A9567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84ABCF1-F66C-42C3-892B-72AE24E22D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99582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- No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89296"/>
            <a:ext cx="9324974" cy="88706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376363"/>
            <a:ext cx="11233151" cy="478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28A5C0F-76A3-4DA0-9F81-A12F1964D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C13493-086D-4789-9703-1D3FC71378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6725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808163"/>
            <a:ext cx="5508625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4BDB62-A86B-4312-84AC-605A043A52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9D2575-F934-4AA7-8FDB-F583B1E8E3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7A1C0ECB-E7FD-4CFC-BB65-99367A5A0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3619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E807FE-5BC5-4806-B587-BCDD6C4B17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3600451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8D43DDA6-9E28-4292-8A58-91764D9BF3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4225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F5DC0C1-41FA-4470-BBAC-3017E7C9FB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E807FE-5BC5-4806-B587-BCDD6C4B17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89B1D163-4D8D-4A72-A40F-8C4E47066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4185851"/>
            <a:ext cx="3600451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DE0FC12B-A1E5-42CC-96D8-0293C9200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A50DEAB-0BFD-4146-B54A-21CD06E1B0F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4185851"/>
            <a:ext cx="3600449" cy="1980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F6E1E7D-62F9-4031-8EDE-4D54A0DCE1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9425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F92E55E2-AF52-4C0E-A959-DF683F5CEFE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9577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34A88299-44D9-4594-9216-B685B545498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12126" y="1808163"/>
            <a:ext cx="3600450" cy="198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C551487E-C11A-4467-98A1-8C3C5A14A9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07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8928000" cy="6084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52000" y="1332000"/>
            <a:ext cx="2460575" cy="4752000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626A08E-050C-4C68-BDE6-F1BB5A27A3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2393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056000" cy="594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2000" y="1808163"/>
            <a:ext cx="4080575" cy="4131838"/>
          </a:xfrm>
        </p:spPr>
        <p:txBody>
          <a:bodyPr/>
          <a:lstStyle>
            <a:lvl1pPr>
              <a:lnSpc>
                <a:spcPts val="3800"/>
              </a:lnSpc>
              <a:spcAft>
                <a:spcPts val="2400"/>
              </a:spcAft>
              <a:defRPr sz="3800" b="0"/>
            </a:lvl1pPr>
            <a:lvl2pPr marL="0" indent="0">
              <a:buNone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89E36F-7715-457D-8887-3CAB56AFC0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4845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+ headlin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5775" y="-1"/>
            <a:ext cx="7896225" cy="4968000"/>
          </a:xfrm>
          <a:solidFill>
            <a:schemeClr val="tx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2563200"/>
            <a:ext cx="3600449" cy="2404799"/>
          </a:xfrm>
        </p:spPr>
        <p:txBody>
          <a:bodyPr anchor="b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CEB6A8EB-A666-4A27-9824-30E6CEF93D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692000" y="504000"/>
            <a:ext cx="1018800" cy="25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E0780CC6-0AAA-43D9-B97A-2EF6ED7D8C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8DB884-072D-4133-B643-04A4C5723BB3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bg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bg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bg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34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8050" y="1008001"/>
            <a:ext cx="6203950" cy="5850000"/>
          </a:xfrm>
          <a:solidFill>
            <a:schemeClr val="tx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3600451" cy="14398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3168000"/>
            <a:ext cx="3600449" cy="2997850"/>
          </a:xfrm>
        </p:spPr>
        <p:txBody>
          <a:bodyPr anchor="t" anchorCtr="0"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DB4B0E92-1B2C-41F7-B669-32B6FD5663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09E4D9-FF7A-470D-A96B-CCDBC712E864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tx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689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+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6">
            <a:extLst>
              <a:ext uri="{FF2B5EF4-FFF2-40B4-BE49-F238E27FC236}">
                <a16:creationId xmlns:a16="http://schemas.microsoft.com/office/drawing/2014/main" id="{56AD9E6D-63E1-41E1-8A4D-9A2F8102A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3952" y="1044000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3F8960E-E537-4E49-AC42-4DEBF27F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5508626" cy="1439863"/>
          </a:xfrm>
        </p:spPr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3B815B3-09D1-4001-B105-D9E1330B1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4176000"/>
            <a:ext cx="3816349" cy="1989850"/>
          </a:xfrm>
        </p:spPr>
        <p:txBody>
          <a:bodyPr anchor="t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D691213-0404-49EC-B501-4C4965B4859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3838915D-D3FB-443D-B066-9871FCA0D9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40000" y="1044000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53DA06E5-3D83-444D-925F-F4A41465D64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03952" y="3582001"/>
            <a:ext cx="2088000" cy="2232000"/>
          </a:xfrm>
          <a:solidFill>
            <a:schemeClr val="tx2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A4C057F-21D1-4235-9674-D17DA9EE80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40000" y="3582001"/>
            <a:ext cx="2376000" cy="2232000"/>
          </a:xfrm>
        </p:spPr>
        <p:txBody>
          <a:bodyPr anchor="ctr" anchorCtr="0"/>
          <a:lstStyle>
            <a:lvl1pPr>
              <a:defRPr sz="1600" b="0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89F8AF55-CD46-430D-AC56-3428F98D0C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550862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</a:extLst>
          </p:cNvPr>
          <p:cNvSpPr/>
          <p:nvPr userDrawn="1"/>
        </p:nvSpPr>
        <p:spPr>
          <a:xfrm>
            <a:off x="0" y="0"/>
            <a:ext cx="8112125" cy="6858000"/>
          </a:xfrm>
          <a:prstGeom prst="rect">
            <a:avLst/>
          </a:prstGeom>
          <a:solidFill>
            <a:srgbClr val="13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E423D4-7901-4F8B-B075-3D0E7C20A6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2525" y="1808163"/>
            <a:ext cx="2940050" cy="4357687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600EDD0-042C-48C5-946C-9122C18A11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65CB8C84-525E-4B57-BAF4-5CD06402D3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5" y="476250"/>
            <a:ext cx="572452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9038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headline on blue/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solidFill>
            <a:srgbClr val="13A0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E423D4-7901-4F8B-B075-3D0E7C20A6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0000" y="3024000"/>
            <a:ext cx="4152573" cy="3141849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A37E33-1BC4-4258-8988-7DB0EC8D5A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0300" y="0"/>
            <a:ext cx="4320000" cy="2340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631362-B5E9-4A03-8563-BC489D509F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86895624-7DAF-4916-BF2D-DA99D815DD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476250"/>
            <a:ext cx="5025082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4643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ld headline on blue/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85B9BCC-ED7D-4926-91D7-795B583CD299}"/>
              </a:ext>
            </a:extLst>
          </p:cNvPr>
          <p:cNvSpPr/>
          <p:nvPr userDrawn="1"/>
        </p:nvSpPr>
        <p:spPr>
          <a:xfrm>
            <a:off x="0" y="0"/>
            <a:ext cx="7020000" cy="6858000"/>
          </a:xfrm>
          <a:prstGeom prst="rect">
            <a:avLst/>
          </a:prstGeom>
          <a:gradFill>
            <a:gsLst>
              <a:gs pos="100000">
                <a:srgbClr val="006192"/>
              </a:gs>
              <a:gs pos="12000">
                <a:srgbClr val="00B0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E423D4-7901-4F8B-B075-3D0E7C20A6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8E2DDD5-62F8-4BB9-A01C-AC7CC80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1808162"/>
            <a:ext cx="5724523" cy="4357687"/>
          </a:xfrm>
        </p:spPr>
        <p:txBody>
          <a:bodyPr/>
          <a:lstStyle>
            <a:lvl1pPr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DCC88A-A947-4C0A-827F-38E6245966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60000" y="3024000"/>
            <a:ext cx="4152573" cy="3141849"/>
          </a:xfrm>
        </p:spPr>
        <p:txBody>
          <a:bodyPr/>
          <a:lstStyle>
            <a:lvl1pPr>
              <a:defRPr sz="1600" b="1"/>
            </a:lvl1pPr>
            <a:lvl2pPr marL="0" indent="0">
              <a:buNone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A37E33-1BC4-4258-8988-7DB0EC8D5A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0300" y="0"/>
            <a:ext cx="4320000" cy="2340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631362-B5E9-4A03-8563-BC489D509F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86895624-7DAF-4916-BF2D-DA99D815DD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476250"/>
            <a:ext cx="5025082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6205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45E11-429A-423F-97E9-1B1309F4D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BF6088-36A1-4310-BB51-1649635E78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668640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8500"/>
              </a:lnSpc>
              <a:defRPr sz="8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45E11-429A-423F-97E9-1B1309F4D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E58946-949A-488B-8C82-A425EDC09E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558650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CF6E46-F87C-4B64-99C8-86D0AD8F84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238627-407D-4004-A6C9-31955AAD8E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0485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FB93F98-2502-4A46-903A-C90B11A87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00" y="-152396"/>
            <a:ext cx="1104853" cy="937345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864DFD-E38D-49D7-BB64-174EB574BF4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68A33C7-022A-46B7-AC45-09A692D08C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5610" y="1808162"/>
            <a:ext cx="7400615" cy="4357687"/>
          </a:xfrm>
        </p:spPr>
        <p:txBody>
          <a:bodyPr/>
          <a:lstStyle>
            <a:lvl1pPr>
              <a:lnSpc>
                <a:spcPts val="3800"/>
              </a:lnSpc>
              <a:spcAft>
                <a:spcPts val="3000"/>
              </a:spcAft>
              <a:defRPr sz="3800"/>
            </a:lvl1pPr>
            <a:lvl2pPr marL="0" indent="0">
              <a:buFont typeface="Arial" panose="020B0604020202020204" pitchFamily="34" charset="0"/>
              <a:buNone/>
              <a:defRPr sz="1600"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20E780E-8236-45DA-A6AF-143D4C7283C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385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blea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43F4184-F695-473F-B37A-0DA4B8E546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8000"/>
          </a:xfrm>
          <a:solidFill>
            <a:schemeClr val="tx2">
              <a:lumMod val="90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D1BC4-FEF0-4830-B116-C4AAB3BFE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0" y="3024000"/>
            <a:ext cx="5232125" cy="2248991"/>
          </a:xfrm>
        </p:spPr>
        <p:txBody>
          <a:bodyPr/>
          <a:lstStyle>
            <a:lvl1pPr>
              <a:lnSpc>
                <a:spcPts val="3800"/>
              </a:lnSpc>
              <a:defRPr sz="3800">
                <a:solidFill>
                  <a:schemeClr val="tx1"/>
                </a:solidFill>
              </a:defRPr>
            </a:lvl1pPr>
            <a:lvl2pPr marL="0" indent="0" algn="r">
              <a:lnSpc>
                <a:spcPts val="3800"/>
              </a:lnSpc>
              <a:buNone/>
              <a:defRPr sz="3800">
                <a:solidFill>
                  <a:srgbClr val="13A0D3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1AAF74-D43E-4774-9DEC-557D0F40A2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F2B9096-2D8C-433C-8C26-F6A72A4C02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692000" y="504000"/>
            <a:ext cx="1018800" cy="252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519503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45E11-429A-423F-97E9-1B1309F4D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91DF75E5-F9FE-4B14-8C90-B1BF90164CF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24691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E809D7-298E-4784-9AE3-F5FC40D204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7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B7EEF68F-5357-4EC1-854D-F85E9950B8DD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341040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F40182DB-D138-4445-9088-170FAB7AB943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157390" y="1836000"/>
            <a:ext cx="1872000" cy="1872000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4FD059CA-F54D-436B-83BF-7C80E05A47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577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3F0C00D3-5C3B-4DEC-B521-74B05D0D8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2125" y="3983525"/>
            <a:ext cx="3600450" cy="2182325"/>
          </a:xfrm>
        </p:spPr>
        <p:txBody>
          <a:bodyPr/>
          <a:lstStyle>
            <a:lvl1pPr>
              <a:spcAft>
                <a:spcPts val="600"/>
              </a:spcAft>
              <a:defRPr sz="1600" b="1"/>
            </a:lvl1pPr>
            <a:lvl2pPr marL="0" indent="0">
              <a:buNone/>
              <a:tabLst>
                <a:tab pos="288000" algn="l"/>
              </a:tabLst>
              <a:defRPr sz="1600"/>
            </a:lvl2pPr>
            <a:lvl3pPr marL="180000" indent="-180000">
              <a:buFontTx/>
              <a:buBlip>
                <a:blip r:embed="rId2"/>
              </a:buBlip>
              <a:defRPr sz="1600"/>
            </a:lvl3pPr>
            <a:lvl4pPr marL="180000" indent="-180000">
              <a:buFontTx/>
              <a:buBlip>
                <a:blip r:embed="rId3"/>
              </a:buBlip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97955563-D116-42F8-9493-607FD96D81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4" y="476250"/>
            <a:ext cx="9324973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20566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808163"/>
            <a:ext cx="11233150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1B47329-9857-4D53-8AEE-0DA821EB3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2ED1243-6147-42B8-9521-E858A885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CBA18CC5-0EE1-4A52-A8DC-E8A87E5CEB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239823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- No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89296"/>
            <a:ext cx="9324974" cy="887067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4" y="1376363"/>
            <a:ext cx="11233151" cy="4789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28A5C0F-76A3-4DA0-9F81-A12F1964D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66B618-3572-4A35-AE43-3071208EAA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7183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5508626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49" y="1808163"/>
            <a:ext cx="5508626" cy="4357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5D0B0C-A748-4D32-9576-AC3B06930A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03C9E28-168F-4D13-868D-27257D6C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0A950C1-7AA2-4F73-AC21-33D3D0370B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38466069-A1D4-43E3-9D57-F1BB85187B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476250"/>
            <a:ext cx="9324975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3802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96B8A2-A7F5-4CCA-9AAF-45B703C2E4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C1CFEB79-DAF0-459A-90C1-93E72C7A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95C63E0E-3BF5-4908-9362-9309FED38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3600451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0DFEF79D-1387-4178-94B9-1DC016DC9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D142C95E-C2F8-4F78-A54D-A69241CB121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1808163"/>
            <a:ext cx="3600449" cy="435768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EAE339A-6B80-4E81-A55D-5C7A743CA5B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DF867C49-9429-44E7-8D7C-BE88302188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837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1E388C-6A4B-4AA3-B573-6AE8043CA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9729243C-D78B-4B34-B6EA-A7A7D5BA44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7056000" cy="5940000"/>
          </a:xfrm>
          <a:solidFill>
            <a:schemeClr val="tx2">
              <a:lumMod val="90000"/>
            </a:schemeClr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2F612BB-6DB3-48F4-9220-749BDAAD5D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2000" y="1808163"/>
            <a:ext cx="4080575" cy="4131838"/>
          </a:xfrm>
        </p:spPr>
        <p:txBody>
          <a:bodyPr/>
          <a:lstStyle>
            <a:lvl1pPr>
              <a:lnSpc>
                <a:spcPts val="3800"/>
              </a:lnSpc>
              <a:spcAft>
                <a:spcPts val="2400"/>
              </a:spcAft>
              <a:defRPr sz="3800" b="0"/>
            </a:lvl1pPr>
            <a:lvl2pPr marL="0" indent="0">
              <a:buNone/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9133B21-53A9-4C10-9A93-A4D7F9A03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924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BDFD4E2-0908-44C9-B61C-E96E93B11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5560388-B2D9-46A0-B80F-A4F52B8241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DB801B0-E6B4-4F96-8CE5-F9E84D58C4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B5A5C9BE-C1FB-44B5-B87B-4817825EC3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763435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ED9665-CC57-45BB-925F-9031ABDF5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AA99CC9-05C0-45B6-8C99-173138DC65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C59C485C-B44D-40A1-BE56-1CA8AA189B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476250"/>
            <a:ext cx="9324974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5712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/Content side by sid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1BBB61B-6E7A-4BFF-9CB2-ED26389C4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1" y="1808162"/>
            <a:ext cx="3584264" cy="4357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17BF0A-6C84-41F6-BF3F-CBB13FEE33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775" y="1808162"/>
            <a:ext cx="7416800" cy="435768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DA1E9D5-A24F-4523-B6CC-0D44E010C4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E89875-00B9-49CB-9A52-F4F62C2F70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E701F698-4425-4620-94EB-05146EF47E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76250"/>
            <a:ext cx="3600450" cy="252000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Topline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330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7A28BB5-45D7-4A7F-B5F7-BB60CFEF37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800" y="-152396"/>
            <a:ext cx="1103268" cy="936000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AAFA79-6410-48B1-BD41-CB373E0AA9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7FF25BD-BB7E-4BA1-98E8-46EBC01F61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5610" y="1808162"/>
            <a:ext cx="7400615" cy="4357687"/>
          </a:xfrm>
        </p:spPr>
        <p:txBody>
          <a:bodyPr/>
          <a:lstStyle>
            <a:lvl1pPr>
              <a:lnSpc>
                <a:spcPts val="3800"/>
              </a:lnSpc>
              <a:spcAft>
                <a:spcPts val="3000"/>
              </a:spcAft>
              <a:defRPr sz="3800"/>
            </a:lvl1pPr>
            <a:lvl2pPr marL="0" indent="0">
              <a:buFont typeface="Arial" panose="020B0604020202020204" pitchFamily="34" charset="0"/>
              <a:buNone/>
              <a:defRPr sz="1600"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D1C1F5E-AD8D-491B-B3B3-0EF68361C67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8899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image" Target="../media/image6.svg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37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image" Target="../media/image6.svg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7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2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95.xml"/><Relationship Id="rId20" Type="http://schemas.openxmlformats.org/officeDocument/2006/relationships/theme" Target="../theme/theme9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89.xml"/><Relationship Id="rId19" Type="http://schemas.openxmlformats.org/officeDocument/2006/relationships/slideLayout" Target="../slideLayouts/slideLayout98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93.xml"/><Relationship Id="rId22" Type="http://schemas.openxmlformats.org/officeDocument/2006/relationships/image" Target="../media/image6.sv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image" Target="../media/image12.svg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03.xml"/><Relationship Id="rId10" Type="http://schemas.openxmlformats.org/officeDocument/2006/relationships/theme" Target="../theme/theme10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04B8442-C573-4F72-B4E9-57061958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580" y="6372000"/>
            <a:ext cx="26899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497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746" r:id="rId2"/>
    <p:sldLayoutId id="2147483707" r:id="rId3"/>
    <p:sldLayoutId id="2147483708" r:id="rId4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+mn-lt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orient="horz" pos="300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9" pos="1368" userDrawn="1">
          <p15:clr>
            <a:srgbClr val="F26B43"/>
          </p15:clr>
        </p15:guide>
        <p15:guide id="10" pos="1504" userDrawn="1">
          <p15:clr>
            <a:srgbClr val="F26B43"/>
          </p15:clr>
        </p15:guide>
        <p15:guide id="11" pos="2570" userDrawn="1">
          <p15:clr>
            <a:srgbClr val="F26B43"/>
          </p15:clr>
        </p15:guide>
        <p15:guide id="12" pos="2706" userDrawn="1">
          <p15:clr>
            <a:srgbClr val="F26B43"/>
          </p15:clr>
        </p15:guide>
        <p15:guide id="13" pos="3772" userDrawn="1">
          <p15:clr>
            <a:srgbClr val="F26B43"/>
          </p15:clr>
        </p15:guide>
        <p15:guide id="14" pos="3908" userDrawn="1">
          <p15:clr>
            <a:srgbClr val="F26B43"/>
          </p15:clr>
        </p15:guide>
        <p15:guide id="15" pos="4974" userDrawn="1">
          <p15:clr>
            <a:srgbClr val="F26B43"/>
          </p15:clr>
        </p15:guide>
        <p15:guide id="16" pos="5110" userDrawn="1">
          <p15:clr>
            <a:srgbClr val="F26B43"/>
          </p15:clr>
        </p15:guide>
        <p15:guide id="17" pos="6176" userDrawn="1">
          <p15:clr>
            <a:srgbClr val="F26B43"/>
          </p15:clr>
        </p15:guide>
        <p15:guide id="18" pos="6312" userDrawn="1">
          <p15:clr>
            <a:srgbClr val="F26B43"/>
          </p15:clr>
        </p15:guide>
        <p15:guide id="19" orient="horz" pos="550" userDrawn="1">
          <p15:clr>
            <a:srgbClr val="F26B43"/>
          </p15:clr>
        </p15:guide>
        <p15:guide id="22" orient="horz" pos="11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04B8442-C573-4F72-B4E9-57061958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580" y="6372000"/>
            <a:ext cx="26899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Don´t use level 7 to 9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A2F4508-9777-4819-A665-39ABDE492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bg1">
                    <a:alpha val="0"/>
                  </a:schemeClr>
                </a:solidFill>
                <a:latin typeface="Allianz Neo" panose="020B0504020203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842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34" r:id="rId2"/>
    <p:sldLayoutId id="2147483737" r:id="rId3"/>
    <p:sldLayoutId id="2147483736" r:id="rId4"/>
    <p:sldLayoutId id="2147483733" r:id="rId5"/>
    <p:sldLayoutId id="2147483735" r:id="rId6"/>
    <p:sldLayoutId id="2147483738" r:id="rId7"/>
    <p:sldLayoutId id="2147483705" r:id="rId8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Allianz Neo" panose="020B0504020203020204" pitchFamily="34" charset="0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orient="horz" pos="300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9" pos="1368" userDrawn="1">
          <p15:clr>
            <a:srgbClr val="F26B43"/>
          </p15:clr>
        </p15:guide>
        <p15:guide id="10" pos="1504" userDrawn="1">
          <p15:clr>
            <a:srgbClr val="F26B43"/>
          </p15:clr>
        </p15:guide>
        <p15:guide id="11" pos="2570" userDrawn="1">
          <p15:clr>
            <a:srgbClr val="F26B43"/>
          </p15:clr>
        </p15:guide>
        <p15:guide id="12" pos="2706" userDrawn="1">
          <p15:clr>
            <a:srgbClr val="F26B43"/>
          </p15:clr>
        </p15:guide>
        <p15:guide id="13" pos="3772" userDrawn="1">
          <p15:clr>
            <a:srgbClr val="F26B43"/>
          </p15:clr>
        </p15:guide>
        <p15:guide id="14" pos="3908" userDrawn="1">
          <p15:clr>
            <a:srgbClr val="F26B43"/>
          </p15:clr>
        </p15:guide>
        <p15:guide id="15" pos="4974" userDrawn="1">
          <p15:clr>
            <a:srgbClr val="F26B43"/>
          </p15:clr>
        </p15:guide>
        <p15:guide id="16" pos="5110" userDrawn="1">
          <p15:clr>
            <a:srgbClr val="F26B43"/>
          </p15:clr>
        </p15:guide>
        <p15:guide id="17" pos="6176" userDrawn="1">
          <p15:clr>
            <a:srgbClr val="F26B43"/>
          </p15:clr>
        </p15:guide>
        <p15:guide id="18" pos="6312" userDrawn="1">
          <p15:clr>
            <a:srgbClr val="F26B43"/>
          </p15:clr>
        </p15:guide>
        <p15:guide id="19" orient="horz" pos="550" userDrawn="1">
          <p15:clr>
            <a:srgbClr val="F26B43"/>
          </p15:clr>
        </p15:guide>
        <p15:guide id="22" orient="horz" pos="11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Don´t use level 7 to 9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59566B-9EAA-A33C-519C-725B8B5FF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4758A998-8F44-4916-D84E-8656D2E3548F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295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92" r:id="rId2"/>
    <p:sldLayoutId id="2147483652" r:id="rId3"/>
    <p:sldLayoutId id="2147483663" r:id="rId4"/>
    <p:sldLayoutId id="2147483698" r:id="rId5"/>
    <p:sldLayoutId id="2147483655" r:id="rId6"/>
    <p:sldLayoutId id="2147483695" r:id="rId7"/>
    <p:sldLayoutId id="2147483696" r:id="rId8"/>
    <p:sldLayoutId id="2147483697" r:id="rId9"/>
    <p:sldLayoutId id="2147483699" r:id="rId10"/>
    <p:sldLayoutId id="2147483743" r:id="rId11"/>
    <p:sldLayoutId id="2147483684" r:id="rId12"/>
    <p:sldLayoutId id="2147483744" r:id="rId13"/>
    <p:sldLayoutId id="2147483694" r:id="rId14"/>
    <p:sldLayoutId id="2147483654" r:id="rId15"/>
    <p:sldLayoutId id="2147483702" r:id="rId16"/>
    <p:sldLayoutId id="2147483687" r:id="rId17"/>
    <p:sldLayoutId id="2147483688" r:id="rId18"/>
    <p:sldLayoutId id="2147483661" r:id="rId19"/>
    <p:sldLayoutId id="2147483704" r:id="rId20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Allianz Neo" panose="020B0504020203020204" pitchFamily="34" charset="0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orient="horz" pos="300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9" pos="1368" userDrawn="1">
          <p15:clr>
            <a:srgbClr val="F26B43"/>
          </p15:clr>
        </p15:guide>
        <p15:guide id="10" pos="1504" userDrawn="1">
          <p15:clr>
            <a:srgbClr val="F26B43"/>
          </p15:clr>
        </p15:guide>
        <p15:guide id="11" pos="2570" userDrawn="1">
          <p15:clr>
            <a:srgbClr val="F26B43"/>
          </p15:clr>
        </p15:guide>
        <p15:guide id="12" pos="2706" userDrawn="1">
          <p15:clr>
            <a:srgbClr val="F26B43"/>
          </p15:clr>
        </p15:guide>
        <p15:guide id="13" pos="3772" userDrawn="1">
          <p15:clr>
            <a:srgbClr val="F26B43"/>
          </p15:clr>
        </p15:guide>
        <p15:guide id="14" pos="3908" userDrawn="1">
          <p15:clr>
            <a:srgbClr val="F26B43"/>
          </p15:clr>
        </p15:guide>
        <p15:guide id="15" pos="4974" userDrawn="1">
          <p15:clr>
            <a:srgbClr val="F26B43"/>
          </p15:clr>
        </p15:guide>
        <p15:guide id="16" pos="5110" userDrawn="1">
          <p15:clr>
            <a:srgbClr val="F26B43"/>
          </p15:clr>
        </p15:guide>
        <p15:guide id="17" pos="6176" userDrawn="1">
          <p15:clr>
            <a:srgbClr val="F26B43"/>
          </p15:clr>
        </p15:guide>
        <p15:guide id="18" pos="6312" userDrawn="1">
          <p15:clr>
            <a:srgbClr val="F26B43"/>
          </p15:clr>
        </p15:guide>
        <p15:guide id="19" orient="horz" pos="550" userDrawn="1">
          <p15:clr>
            <a:srgbClr val="F26B43"/>
          </p15:clr>
        </p15:guide>
        <p15:guide id="22" orient="horz" pos="11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C537BF08-75BA-421A-99FE-E0E5618D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6B4F9080-C8C2-406E-9CAD-3E76991AB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Don´t use level 7 to 9</a:t>
            </a: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D88D4DA1-666E-4D7E-9EEA-96C021035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577490F-86CF-F9E8-A01C-D453840DA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3" name="Foliennummernplatzhalter 4">
            <a:extLst>
              <a:ext uri="{FF2B5EF4-FFF2-40B4-BE49-F238E27FC236}">
                <a16:creationId xmlns:a16="http://schemas.microsoft.com/office/drawing/2014/main" id="{8E3B5317-1DDB-B894-A677-41FFDE82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/>
          <a:lstStyle>
            <a:lvl1pPr>
              <a:defRPr>
                <a:latin typeface="Allianz Neo" panose="020B0504020203020204" pitchFamily="34" charset="0"/>
              </a:defRPr>
            </a:lvl1pPr>
          </a:lstStyle>
          <a:p>
            <a:pPr algn="r">
              <a:lnSpc>
                <a:spcPts val="1000"/>
              </a:lnSpc>
              <a:defRPr/>
            </a:pPr>
            <a:r>
              <a:rPr lang="en-US" sz="900"/>
              <a:t> </a:t>
            </a:r>
            <a:r>
              <a:rPr lang="en-US" sz="900" b="1"/>
              <a:t>Allianz</a:t>
            </a:r>
            <a:r>
              <a:rPr lang="en-US" sz="900"/>
              <a:t> Technology | </a:t>
            </a:r>
            <a:fld id="{0F96B16C-3F5F-44BC-AFCC-8CBCBD90898D}" type="slidenum">
              <a:rPr lang="en-US" sz="900" b="1" smtClean="0"/>
              <a:pPr algn="r">
                <a:lnSpc>
                  <a:spcPts val="1000"/>
                </a:lnSpc>
                <a:defRPr/>
              </a:pPr>
              <a:t>‹Nr.›</a:t>
            </a:fld>
            <a:endParaRPr 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59715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93" r:id="rId2"/>
    <p:sldLayoutId id="2147483678" r:id="rId3"/>
    <p:sldLayoutId id="2147483679" r:id="rId4"/>
    <p:sldLayoutId id="2147483703" r:id="rId5"/>
    <p:sldLayoutId id="2147483681" r:id="rId6"/>
    <p:sldLayoutId id="2147483683" r:id="rId7"/>
    <p:sldLayoutId id="2147483671" r:id="rId8"/>
    <p:sldLayoutId id="2147483672" r:id="rId9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tx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6pPr>
      <a:lvl7pPr marL="0" indent="0" algn="l" defTabSz="96771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Allianz Neo" panose="020B0504020203020204" pitchFamily="34" charset="0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orient="horz" pos="300" userDrawn="1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9" pos="1368" userDrawn="1">
          <p15:clr>
            <a:srgbClr val="F26B43"/>
          </p15:clr>
        </p15:guide>
        <p15:guide id="10" pos="1504" userDrawn="1">
          <p15:clr>
            <a:srgbClr val="F26B43"/>
          </p15:clr>
        </p15:guide>
        <p15:guide id="11" pos="2570" userDrawn="1">
          <p15:clr>
            <a:srgbClr val="F26B43"/>
          </p15:clr>
        </p15:guide>
        <p15:guide id="12" pos="2706" userDrawn="1">
          <p15:clr>
            <a:srgbClr val="F26B43"/>
          </p15:clr>
        </p15:guide>
        <p15:guide id="13" pos="3772" userDrawn="1">
          <p15:clr>
            <a:srgbClr val="F26B43"/>
          </p15:clr>
        </p15:guide>
        <p15:guide id="14" pos="3908" userDrawn="1">
          <p15:clr>
            <a:srgbClr val="F26B43"/>
          </p15:clr>
        </p15:guide>
        <p15:guide id="15" pos="5110" userDrawn="1">
          <p15:clr>
            <a:srgbClr val="F26B43"/>
          </p15:clr>
        </p15:guide>
        <p15:guide id="16" pos="4974" userDrawn="1">
          <p15:clr>
            <a:srgbClr val="F26B43"/>
          </p15:clr>
        </p15:guide>
        <p15:guide id="17" pos="6312" userDrawn="1">
          <p15:clr>
            <a:srgbClr val="F26B43"/>
          </p15:clr>
        </p15:guide>
        <p15:guide id="18" pos="6176" userDrawn="1">
          <p15:clr>
            <a:srgbClr val="F26B43"/>
          </p15:clr>
        </p15:guide>
        <p15:guide id="19" orient="horz" pos="550" userDrawn="1">
          <p15:clr>
            <a:srgbClr val="F26B43"/>
          </p15:clr>
        </p15:guide>
        <p15:guide id="21" orient="horz" pos="11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69A9FCF-4D55-4AF3-8D50-049F0279B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DE9796E9-187F-DADC-CC7D-61A27FADCB1D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8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+mn-lt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4974">
          <p15:clr>
            <a:srgbClr val="F26B43"/>
          </p15:clr>
        </p15:guide>
        <p15:guide id="16" pos="5110">
          <p15:clr>
            <a:srgbClr val="F26B43"/>
          </p15:clr>
        </p15:guide>
        <p15:guide id="17" pos="6176">
          <p15:clr>
            <a:srgbClr val="F26B43"/>
          </p15:clr>
        </p15:guide>
        <p15:guide id="18" pos="6312">
          <p15:clr>
            <a:srgbClr val="F26B43"/>
          </p15:clr>
        </p15:guide>
        <p15:guide id="19" orient="horz" pos="550">
          <p15:clr>
            <a:srgbClr val="F26B43"/>
          </p15:clr>
        </p15:guide>
        <p15:guide id="22" orient="horz" pos="1139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Don´t use level 7 to 9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69A9FCF-4D55-4AF3-8D50-049F0279B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4" name="Foliennummernplatzhalter 4">
            <a:extLst>
              <a:ext uri="{FF2B5EF4-FFF2-40B4-BE49-F238E27FC236}">
                <a16:creationId xmlns:a16="http://schemas.microsoft.com/office/drawing/2014/main" id="{376AA6F7-F927-BDF6-0D87-241CA5523E27}"/>
              </a:ext>
            </a:extLst>
          </p:cNvPr>
          <p:cNvSpPr txBox="1">
            <a:spLocks/>
          </p:cNvSpPr>
          <p:nvPr userDrawn="1"/>
        </p:nvSpPr>
        <p:spPr>
          <a:xfrm>
            <a:off x="9191626" y="6372000"/>
            <a:ext cx="252095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205" rtl="0" eaLnBrk="1" latinLnBrk="0" hangingPunct="1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02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05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08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10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11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14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16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19" algn="l" defTabSz="91420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 </a:t>
            </a:r>
            <a:r>
              <a:rPr lang="de-DE" sz="900" dirty="0">
                <a:solidFill>
                  <a:srgbClr val="003781"/>
                </a:solidFill>
                <a:latin typeface="Allianz Neo" panose="020B0504020203020204" pitchFamily="34" charset="0"/>
              </a:rPr>
              <a:t>Allianz </a:t>
            </a:r>
            <a:r>
              <a:rPr lang="de-DE" sz="900" b="0" dirty="0">
                <a:solidFill>
                  <a:srgbClr val="003781"/>
                </a:solidFill>
                <a:latin typeface="Allianz Neo" panose="020B0504020203020204" pitchFamily="34" charset="0"/>
              </a:rPr>
              <a:t>Technology | </a:t>
            </a:r>
            <a:fld id="{0F96B16C-3F5F-44BC-AFCC-8CBCBD90898D}" type="slidenum">
              <a:rPr sz="900" smtClean="0">
                <a:solidFill>
                  <a:srgbClr val="003781"/>
                </a:solidFill>
                <a:latin typeface="Allianz Neo" panose="020B0504020203020204" pitchFamily="34" charset="0"/>
              </a:rPr>
              <a:pPr>
                <a:defRPr/>
              </a:pPr>
              <a:t>‹Nr.›</a:t>
            </a:fld>
            <a:endParaRPr sz="900" dirty="0">
              <a:solidFill>
                <a:srgbClr val="00378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322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Allianz Neo" panose="020B0504020203020204" pitchFamily="34" charset="0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4974">
          <p15:clr>
            <a:srgbClr val="F26B43"/>
          </p15:clr>
        </p15:guide>
        <p15:guide id="16" pos="5110">
          <p15:clr>
            <a:srgbClr val="F26B43"/>
          </p15:clr>
        </p15:guide>
        <p15:guide id="17" pos="6176">
          <p15:clr>
            <a:srgbClr val="F26B43"/>
          </p15:clr>
        </p15:guide>
        <p15:guide id="18" pos="6312">
          <p15:clr>
            <a:srgbClr val="F26B43"/>
          </p15:clr>
        </p15:guide>
        <p15:guide id="19" orient="horz" pos="550">
          <p15:clr>
            <a:srgbClr val="F26B43"/>
          </p15:clr>
        </p15:guide>
        <p15:guide id="22" orient="horz" pos="1139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04B8442-C573-4F72-B4E9-57061958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7000" y="6372000"/>
            <a:ext cx="15557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en-US" sz="800" b="1" kern="120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Don´t use level 7 to 9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A2F4508-9777-4819-A665-39ABDE492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bg1">
                    <a:alpha val="0"/>
                  </a:schemeClr>
                </a:solidFill>
                <a:latin typeface="Allianz Neo" panose="020B050402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9D6CB-2698-4AEF-ABDA-846D80BA9D7B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bg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bg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bg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012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817" r:id="rId9"/>
    <p:sldLayoutId id="2147483818" r:id="rId10"/>
    <p:sldLayoutId id="2147483819" r:id="rId11"/>
    <p:sldLayoutId id="2147483820" r:id="rId12"/>
    <p:sldLayoutId id="2147483823" r:id="rId13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Allianz Neo" panose="020B0504020203020204" pitchFamily="34" charset="0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4974">
          <p15:clr>
            <a:srgbClr val="F26B43"/>
          </p15:clr>
        </p15:guide>
        <p15:guide id="16" pos="5110">
          <p15:clr>
            <a:srgbClr val="F26B43"/>
          </p15:clr>
        </p15:guide>
        <p15:guide id="17" pos="6176">
          <p15:clr>
            <a:srgbClr val="F26B43"/>
          </p15:clr>
        </p15:guide>
        <p15:guide id="18" pos="6312">
          <p15:clr>
            <a:srgbClr val="F26B43"/>
          </p15:clr>
        </p15:guide>
        <p15:guide id="19" orient="horz" pos="550">
          <p15:clr>
            <a:srgbClr val="F26B43"/>
          </p15:clr>
        </p15:guide>
        <p15:guide id="22" orient="horz" pos="1139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04B8442-C573-4F72-B4E9-57061958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72000"/>
            <a:ext cx="180657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en-US" sz="900" b="1" kern="120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r>
              <a:rPr lang="de-DE" dirty="0"/>
              <a:t>Allianz</a:t>
            </a:r>
            <a:r>
              <a:rPr lang="de-DE" b="0" dirty="0"/>
              <a:t> Technology | </a:t>
            </a:r>
            <a:fld id="{56C449F3-BD9D-48DC-BFF1-0F66671DA7C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08350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+mn-lt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4974">
          <p15:clr>
            <a:srgbClr val="F26B43"/>
          </p15:clr>
        </p15:guide>
        <p15:guide id="16" pos="5110">
          <p15:clr>
            <a:srgbClr val="F26B43"/>
          </p15:clr>
        </p15:guide>
        <p15:guide id="17" pos="6176">
          <p15:clr>
            <a:srgbClr val="F26B43"/>
          </p15:clr>
        </p15:guide>
        <p15:guide id="18" pos="6312">
          <p15:clr>
            <a:srgbClr val="F26B43"/>
          </p15:clr>
        </p15:guide>
        <p15:guide id="19" orient="horz" pos="550">
          <p15:clr>
            <a:srgbClr val="F26B43"/>
          </p15:clr>
        </p15:guide>
        <p15:guide id="22" orient="horz" pos="1139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Ebenen 7 bis 9 nicht verwenden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bg1"/>
                </a:solidFill>
                <a:latin typeface="Allianz Neo" panose="020B0504020203020204" pitchFamily="34" charset="0"/>
              </a:defRPr>
            </a:lvl1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69A9FCF-4D55-4AF3-8D50-049F0279B78E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8" name="Foliennummernplatzhalter 9">
            <a:extLst>
              <a:ext uri="{FF2B5EF4-FFF2-40B4-BE49-F238E27FC236}">
                <a16:creationId xmlns:a16="http://schemas.microsoft.com/office/drawing/2014/main" id="{804B8442-C573-4F72-B4E9-57061958D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580" y="6372000"/>
            <a:ext cx="26899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de-DE" sz="800" b="1" kern="1200" smtClean="0">
                <a:solidFill>
                  <a:schemeClr val="bg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fld id="{56C449F3-BD9D-48DC-BFF1-0F66671DA7C6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98F720-21BE-4E64-9A5C-05413FEB97E5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bg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bg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bg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8281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  <p:sldLayoutId id="2147483806" r:id="rId19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bg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bg1"/>
          </a:solidFill>
          <a:latin typeface="Allianz Neo" panose="020B0504020203020204" pitchFamily="34" charset="0"/>
          <a:ea typeface="+mn-ea"/>
          <a:cs typeface="+mn-cs"/>
        </a:defRPr>
      </a:lvl6pPr>
      <a:lvl7pPr marL="0" indent="0" algn="l" defTabSz="96771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Allianz Neo" panose="020B0504020203020204" pitchFamily="34" charset="0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4974">
          <p15:clr>
            <a:srgbClr val="F26B43"/>
          </p15:clr>
        </p15:guide>
        <p15:guide id="16" pos="5110">
          <p15:clr>
            <a:srgbClr val="F26B43"/>
          </p15:clr>
        </p15:guide>
        <p15:guide id="17" pos="6176">
          <p15:clr>
            <a:srgbClr val="F26B43"/>
          </p15:clr>
        </p15:guide>
        <p15:guide id="18" pos="6312">
          <p15:clr>
            <a:srgbClr val="F26B43"/>
          </p15:clr>
        </p15:guide>
        <p15:guide id="19" orient="horz" pos="550">
          <p15:clr>
            <a:srgbClr val="F26B43"/>
          </p15:clr>
        </p15:guide>
        <p15:guide id="22" orient="horz" pos="1139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C537BF08-75BA-421A-99FE-E0E5618D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6B4F9080-C8C2-406E-9CAD-3E76991AB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4" y="1808163"/>
            <a:ext cx="11233151" cy="435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Ebenen 7 bis 9 nicht verwenden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1AF2E81-26A4-440F-A8A4-A0986FA3C60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92000" y="504000"/>
            <a:ext cx="1017998" cy="252000"/>
          </a:xfrm>
          <a:prstGeom prst="rect">
            <a:avLst/>
          </a:prstGeom>
        </p:spPr>
      </p:pic>
      <p:sp>
        <p:nvSpPr>
          <p:cNvPr id="11" name="Foliennummernplatzhalter 9">
            <a:extLst>
              <a:ext uri="{FF2B5EF4-FFF2-40B4-BE49-F238E27FC236}">
                <a16:creationId xmlns:a16="http://schemas.microsoft.com/office/drawing/2014/main" id="{135B86A6-138A-4A28-AB13-4C24B97CD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580" y="6372000"/>
            <a:ext cx="268995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ts val="1000"/>
              </a:lnSpc>
              <a:defRPr lang="de-DE" sz="800" b="1" kern="1200" smtClean="0">
                <a:solidFill>
                  <a:schemeClr val="tx1"/>
                </a:solidFill>
                <a:latin typeface="Allianz Neo" panose="020B0504020203020204" pitchFamily="34" charset="0"/>
                <a:ea typeface="+mn-ea"/>
                <a:cs typeface="+mn-cs"/>
              </a:defRPr>
            </a:lvl1pPr>
          </a:lstStyle>
          <a:p>
            <a:fld id="{56C449F3-BD9D-48DC-BFF1-0F66671DA7C6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D88D4DA1-666E-4D7E-9EEA-96C021035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426" y="6165850"/>
            <a:ext cx="9324974" cy="350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90000"/>
              </a:lnSpc>
              <a:defRPr sz="800" b="0" cap="none" spc="0" baseline="0">
                <a:solidFill>
                  <a:schemeClr val="tx1"/>
                </a:solidFill>
                <a:latin typeface="Allianz Neo" panose="020B0504020203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7ADE5-7827-4FEC-A06A-0D1A67B1907A}"/>
              </a:ext>
            </a:extLst>
          </p:cNvPr>
          <p:cNvSpPr txBox="1"/>
          <p:nvPr userDrawn="1"/>
        </p:nvSpPr>
        <p:spPr>
          <a:xfrm>
            <a:off x="10526713" y="6375206"/>
            <a:ext cx="1057275" cy="16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/>
            <a:r>
              <a:rPr lang="de-DE" sz="900" b="1" dirty="0">
                <a:solidFill>
                  <a:schemeClr val="tx1"/>
                </a:solidFill>
                <a:latin typeface="Allianz Neo" panose="020B0504020203020204" pitchFamily="34" charset="0"/>
              </a:rPr>
              <a:t>Allianz</a:t>
            </a:r>
            <a:r>
              <a:rPr lang="de-DE" sz="900" b="0" dirty="0">
                <a:solidFill>
                  <a:schemeClr val="tx1"/>
                </a:solidFill>
                <a:latin typeface="Allianz Neo" panose="020B0504020203020204" pitchFamily="34" charset="0"/>
              </a:rPr>
              <a:t> Technology |</a:t>
            </a:r>
            <a:endParaRPr lang="en-GB" sz="900" dirty="0">
              <a:solidFill>
                <a:schemeClr val="tx1"/>
              </a:solidFill>
              <a:latin typeface="Allianz Neo" panose="020B05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765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</p:sldLayoutIdLst>
  <p:hf hdr="0" ftr="0" dt="0"/>
  <p:txStyles>
    <p:titleStyle>
      <a:lvl1pPr algn="l" defTabSz="967710" rtl="0" eaLnBrk="1" latinLnBrk="0" hangingPunct="1">
        <a:lnSpc>
          <a:spcPts val="3800"/>
        </a:lnSpc>
        <a:spcBef>
          <a:spcPct val="0"/>
        </a:spcBef>
        <a:buNone/>
        <a:defRPr sz="3800" kern="1200">
          <a:solidFill>
            <a:schemeClr val="tx1"/>
          </a:solidFill>
          <a:latin typeface="Allianz Neo" panose="020B0504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1pPr>
      <a:lvl2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2pPr>
      <a:lvl3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3pPr>
      <a:lvl4pPr marL="288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4pPr>
      <a:lvl5pPr marL="576000" indent="-288000" algn="l" defTabSz="967710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5pPr>
      <a:lvl6pPr marL="0" indent="0" algn="l" defTabSz="96771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Allianz Neo" panose="020B0504020203020204" pitchFamily="34" charset="0"/>
          <a:ea typeface="+mn-ea"/>
          <a:cs typeface="+mn-cs"/>
        </a:defRPr>
      </a:lvl6pPr>
      <a:lvl7pPr marL="0" indent="0" algn="l" defTabSz="96771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Allianz Neo" panose="020B0504020203020204" pitchFamily="34" charset="0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7378">
          <p15:clr>
            <a:srgbClr val="F26B43"/>
          </p15:clr>
        </p15:guide>
        <p15:guide id="3" orient="horz" pos="300">
          <p15:clr>
            <a:srgbClr val="F26B43"/>
          </p15:clr>
        </p15:guide>
        <p15:guide id="6" orient="horz" pos="3884">
          <p15:clr>
            <a:srgbClr val="F26B43"/>
          </p15:clr>
        </p15:guide>
        <p15:guide id="9" pos="1368">
          <p15:clr>
            <a:srgbClr val="F26B43"/>
          </p15:clr>
        </p15:guide>
        <p15:guide id="10" pos="1504">
          <p15:clr>
            <a:srgbClr val="F26B43"/>
          </p15:clr>
        </p15:guide>
        <p15:guide id="11" pos="2570">
          <p15:clr>
            <a:srgbClr val="F26B43"/>
          </p15:clr>
        </p15:guide>
        <p15:guide id="12" pos="2706">
          <p15:clr>
            <a:srgbClr val="F26B43"/>
          </p15:clr>
        </p15:guide>
        <p15:guide id="13" pos="3772">
          <p15:clr>
            <a:srgbClr val="F26B43"/>
          </p15:clr>
        </p15:guide>
        <p15:guide id="14" pos="3908">
          <p15:clr>
            <a:srgbClr val="F26B43"/>
          </p15:clr>
        </p15:guide>
        <p15:guide id="15" pos="5110">
          <p15:clr>
            <a:srgbClr val="F26B43"/>
          </p15:clr>
        </p15:guide>
        <p15:guide id="16" pos="4974">
          <p15:clr>
            <a:srgbClr val="F26B43"/>
          </p15:clr>
        </p15:guide>
        <p15:guide id="17" pos="6312">
          <p15:clr>
            <a:srgbClr val="F26B43"/>
          </p15:clr>
        </p15:guide>
        <p15:guide id="18" pos="6176">
          <p15:clr>
            <a:srgbClr val="F26B43"/>
          </p15:clr>
        </p15:guide>
        <p15:guide id="19" orient="horz" pos="550">
          <p15:clr>
            <a:srgbClr val="F26B43"/>
          </p15:clr>
        </p15:guide>
        <p15:guide id="21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0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dp.allianz/gen-ai/order-claude-cod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hyperlink" Target="https://github.developer.allianz.io/genai/claude-code-training-lab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424" y="2166094"/>
            <a:ext cx="11233151" cy="1620000"/>
          </a:xfrm>
        </p:spPr>
        <p:txBody>
          <a:bodyPr/>
          <a:lstStyle/>
          <a:p>
            <a:r>
              <a:rPr dirty="0"/>
              <a:t>Community Day </a:t>
            </a:r>
            <a:br>
              <a:rPr lang="en-US" dirty="0"/>
            </a:br>
            <a:r>
              <a:rPr dirty="0"/>
              <a:t>Sach-</a:t>
            </a:r>
            <a:r>
              <a:rPr dirty="0" err="1"/>
              <a:t>Architekt</a:t>
            </a:r>
            <a:r>
              <a:rPr lang="en-US" dirty="0" err="1"/>
              <a:t>ur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5776" y="3776855"/>
            <a:ext cx="7416800" cy="1656000"/>
          </a:xfrm>
        </p:spPr>
        <p:txBody>
          <a:bodyPr/>
          <a:lstStyle/>
          <a:p>
            <a:r>
              <a:rPr dirty="0"/>
              <a:t>AI in der Praxis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09:05 - 12:00 Uhr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02. März 2026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5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19586-F0E5-3E4D-8C4C-CF113D858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941390FF-7082-9E5B-6BC1-E2163D32D3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9425" y="1808163"/>
          <a:ext cx="11233146" cy="297167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457251">
                  <a:extLst>
                    <a:ext uri="{9D8B030D-6E8A-4147-A177-3AD203B41FA5}">
                      <a16:colId xmlns:a16="http://schemas.microsoft.com/office/drawing/2014/main" val="2224460928"/>
                    </a:ext>
                  </a:extLst>
                </a:gridCol>
                <a:gridCol w="1755179">
                  <a:extLst>
                    <a:ext uri="{9D8B030D-6E8A-4147-A177-3AD203B41FA5}">
                      <a16:colId xmlns:a16="http://schemas.microsoft.com/office/drawing/2014/main" val="1298502400"/>
                    </a:ext>
                  </a:extLst>
                </a:gridCol>
                <a:gridCol w="1755179">
                  <a:extLst>
                    <a:ext uri="{9D8B030D-6E8A-4147-A177-3AD203B41FA5}">
                      <a16:colId xmlns:a16="http://schemas.microsoft.com/office/drawing/2014/main" val="2827711817"/>
                    </a:ext>
                  </a:extLst>
                </a:gridCol>
                <a:gridCol w="1755179">
                  <a:extLst>
                    <a:ext uri="{9D8B030D-6E8A-4147-A177-3AD203B41FA5}">
                      <a16:colId xmlns:a16="http://schemas.microsoft.com/office/drawing/2014/main" val="3466815723"/>
                    </a:ext>
                  </a:extLst>
                </a:gridCol>
                <a:gridCol w="1755179">
                  <a:extLst>
                    <a:ext uri="{9D8B030D-6E8A-4147-A177-3AD203B41FA5}">
                      <a16:colId xmlns:a16="http://schemas.microsoft.com/office/drawing/2014/main" val="3067633684"/>
                    </a:ext>
                  </a:extLst>
                </a:gridCol>
                <a:gridCol w="1755179">
                  <a:extLst>
                    <a:ext uri="{9D8B030D-6E8A-4147-A177-3AD203B41FA5}">
                      <a16:colId xmlns:a16="http://schemas.microsoft.com/office/drawing/2014/main" val="4043521639"/>
                    </a:ext>
                  </a:extLst>
                </a:gridCol>
              </a:tblGrid>
              <a:tr h="495279">
                <a:tc>
                  <a:txBody>
                    <a:bodyPr/>
                    <a:lstStyle/>
                    <a:p>
                      <a:pPr algn="l"/>
                      <a:r>
                        <a:rPr lang="de-DE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Consectetuer</a:t>
                      </a:r>
                      <a:endParaRPr lang="de-DE" sz="1600" dirty="0">
                        <a:solidFill>
                          <a:schemeClr val="tx1"/>
                        </a:solidFill>
                        <a:latin typeface="Allianz Neo" panose="020B05040202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2238897"/>
                  </a:ext>
                </a:extLst>
              </a:tr>
              <a:tr h="495279">
                <a:tc>
                  <a:txBody>
                    <a:bodyPr/>
                    <a:lstStyle/>
                    <a:p>
                      <a:pPr algn="l"/>
                      <a:r>
                        <a:rPr lang="de-DE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Consectetuer</a:t>
                      </a:r>
                      <a:endParaRPr lang="de-DE" sz="1600" dirty="0">
                        <a:solidFill>
                          <a:schemeClr val="tx1"/>
                        </a:solidFill>
                        <a:latin typeface="Allianz Neo" panose="020B05040202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90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5801949"/>
                  </a:ext>
                </a:extLst>
              </a:tr>
              <a:tr h="495279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Consectetuer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4107618"/>
                  </a:ext>
                </a:extLst>
              </a:tr>
              <a:tr h="495279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Consectetuer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1492974"/>
                  </a:ext>
                </a:extLst>
              </a:tr>
              <a:tr h="495279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Consectetuer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0380080"/>
                  </a:ext>
                </a:extLst>
              </a:tr>
              <a:tr h="495279"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Consectetuer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7906417"/>
                  </a:ext>
                </a:extLst>
              </a:tr>
            </a:tbl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A7199B53-D119-52D0-144A-C40988F75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de-DE" dirty="0">
                <a:solidFill>
                  <a:srgbClr val="00908D"/>
                </a:solidFill>
              </a:rPr>
              <a:t>Headline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423D8F-CB78-7D94-7D6E-46BD64F92F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D2EF42-DD4D-36C5-E19C-45FFF4558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C449F3-BD9D-48DC-BFF1-0F66671DA7C6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622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dirty="0"/>
              <a:t>09:05 – 09:15    Check-in</a:t>
            </a:r>
            <a:r>
              <a:rPr dirty="0">
                <a:solidFill>
                  <a:srgbClr val="969696"/>
                </a:solidFill>
              </a:rPr>
              <a:t> </a:t>
            </a:r>
            <a:r>
              <a:rPr lang="en-US" dirty="0">
                <a:solidFill>
                  <a:srgbClr val="969696"/>
                </a:solidFill>
              </a:rPr>
              <a:t>(alle)</a:t>
            </a:r>
          </a:p>
          <a:p>
            <a:pPr>
              <a:spcAft>
                <a:spcPts val="600"/>
              </a:spcAft>
            </a:pPr>
            <a:r>
              <a:rPr dirty="0"/>
              <a:t>09:15 – 09:55    </a:t>
            </a:r>
            <a:r>
              <a:rPr dirty="0">
                <a:solidFill>
                  <a:srgbClr val="00908D"/>
                </a:solidFill>
              </a:rPr>
              <a:t>AI </a:t>
            </a:r>
            <a:r>
              <a:rPr dirty="0" err="1">
                <a:solidFill>
                  <a:srgbClr val="00908D"/>
                </a:solidFill>
              </a:rPr>
              <a:t>Usecases</a:t>
            </a:r>
            <a:r>
              <a:rPr dirty="0">
                <a:solidFill>
                  <a:srgbClr val="00908D"/>
                </a:solidFill>
              </a:rPr>
              <a:t> </a:t>
            </a:r>
            <a:r>
              <a:rPr dirty="0"/>
              <a:t>– </a:t>
            </a:r>
            <a:r>
              <a:rPr dirty="0" err="1"/>
              <a:t>Sammlung</a:t>
            </a:r>
            <a:r>
              <a:rPr dirty="0"/>
              <a:t> &amp; </a:t>
            </a:r>
            <a:r>
              <a:rPr dirty="0" err="1"/>
              <a:t>Kategorisierung</a:t>
            </a:r>
            <a:r>
              <a:rPr dirty="0">
                <a:solidFill>
                  <a:srgbClr val="969696"/>
                </a:solidFill>
              </a:rPr>
              <a:t>  (Lisa)</a:t>
            </a:r>
          </a:p>
          <a:p>
            <a:pPr>
              <a:spcAft>
                <a:spcPts val="600"/>
              </a:spcAft>
            </a:pPr>
            <a:r>
              <a:rPr dirty="0"/>
              <a:t>09:55 – 10:20    </a:t>
            </a:r>
            <a:r>
              <a:rPr dirty="0" err="1"/>
              <a:t>Erfahrungsbericht</a:t>
            </a:r>
            <a:r>
              <a:rPr dirty="0"/>
              <a:t> – </a:t>
            </a:r>
            <a:r>
              <a:rPr lang="en-US" dirty="0">
                <a:solidFill>
                  <a:srgbClr val="00908D"/>
                </a:solidFill>
              </a:rPr>
              <a:t>ML </a:t>
            </a:r>
            <a:r>
              <a:rPr lang="en-US" dirty="0" err="1">
                <a:solidFill>
                  <a:srgbClr val="00908D"/>
                </a:solidFill>
              </a:rPr>
              <a:t>zu</a:t>
            </a:r>
            <a:r>
              <a:rPr lang="en-US" dirty="0">
                <a:solidFill>
                  <a:srgbClr val="00908D"/>
                </a:solidFill>
              </a:rPr>
              <a:t> </a:t>
            </a:r>
            <a:r>
              <a:rPr dirty="0">
                <a:solidFill>
                  <a:srgbClr val="00908D"/>
                </a:solidFill>
              </a:rPr>
              <a:t>LLM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Cytora</a:t>
            </a:r>
            <a:r>
              <a:rPr dirty="0"/>
              <a:t>/</a:t>
            </a:r>
            <a:r>
              <a:rPr dirty="0" err="1"/>
              <a:t>Midcorp</a:t>
            </a:r>
            <a:r>
              <a:rPr dirty="0">
                <a:solidFill>
                  <a:srgbClr val="969696"/>
                </a:solidFill>
              </a:rPr>
              <a:t>  (Jana)</a:t>
            </a:r>
          </a:p>
          <a:p>
            <a:pPr>
              <a:spcAft>
                <a:spcPts val="600"/>
              </a:spcAft>
            </a:pPr>
            <a:r>
              <a:rPr dirty="0"/>
              <a:t>10:20 – 10:35    Pause</a:t>
            </a:r>
          </a:p>
          <a:p>
            <a:pPr>
              <a:spcAft>
                <a:spcPts val="600"/>
              </a:spcAft>
            </a:pPr>
            <a:r>
              <a:rPr dirty="0"/>
              <a:t>10:35 – 11:05    </a:t>
            </a:r>
            <a:r>
              <a:rPr dirty="0" err="1"/>
              <a:t>Impulsvortrag</a:t>
            </a:r>
            <a:r>
              <a:rPr dirty="0"/>
              <a:t> – </a:t>
            </a:r>
            <a:r>
              <a:rPr dirty="0">
                <a:solidFill>
                  <a:srgbClr val="00908D"/>
                </a:solidFill>
              </a:rPr>
              <a:t>AI in der </a:t>
            </a:r>
            <a:r>
              <a:rPr dirty="0" err="1">
                <a:solidFill>
                  <a:srgbClr val="00908D"/>
                </a:solidFill>
              </a:rPr>
              <a:t>Architekturarbeit</a:t>
            </a:r>
            <a:r>
              <a:rPr dirty="0">
                <a:solidFill>
                  <a:srgbClr val="969696"/>
                </a:solidFill>
              </a:rPr>
              <a:t>  (Martin)</a:t>
            </a:r>
          </a:p>
          <a:p>
            <a:pPr>
              <a:spcAft>
                <a:spcPts val="600"/>
              </a:spcAft>
            </a:pPr>
            <a:r>
              <a:rPr dirty="0"/>
              <a:t>11:05 – 11:50    Working Session – AI </a:t>
            </a:r>
            <a:r>
              <a:rPr dirty="0" err="1"/>
              <a:t>im</a:t>
            </a:r>
            <a:r>
              <a:rPr dirty="0"/>
              <a:t> </a:t>
            </a:r>
            <a:r>
              <a:rPr lang="en-US" dirty="0" err="1"/>
              <a:t>Arbeitsa</a:t>
            </a:r>
            <a:r>
              <a:rPr dirty="0" err="1"/>
              <a:t>lltag</a:t>
            </a:r>
            <a:r>
              <a:rPr lang="en-US" dirty="0"/>
              <a:t> </a:t>
            </a:r>
            <a:r>
              <a:rPr lang="en-US" dirty="0" err="1"/>
              <a:t>einsetzen</a:t>
            </a:r>
            <a:r>
              <a:rPr dirty="0">
                <a:solidFill>
                  <a:srgbClr val="969696"/>
                </a:solidFill>
              </a:rPr>
              <a:t>  (alle)</a:t>
            </a:r>
          </a:p>
          <a:p>
            <a:pPr>
              <a:spcAft>
                <a:spcPts val="600"/>
              </a:spcAft>
            </a:pPr>
            <a:r>
              <a:rPr dirty="0"/>
              <a:t>11:50 – 12:00    Check-out</a:t>
            </a:r>
            <a:r>
              <a:rPr dirty="0">
                <a:solidFill>
                  <a:srgbClr val="969696"/>
                </a:solidFill>
              </a:rPr>
              <a:t>  </a:t>
            </a:r>
            <a:r>
              <a:rPr lang="en-US" dirty="0">
                <a:solidFill>
                  <a:srgbClr val="969696"/>
                </a:solidFill>
              </a:rPr>
              <a:t>(alle)</a:t>
            </a:r>
            <a:endParaRPr dirty="0">
              <a:solidFill>
                <a:srgbClr val="969696"/>
              </a:solidFill>
            </a:endParaRPr>
          </a:p>
          <a:p>
            <a:pPr>
              <a:spcBef>
                <a:spcPts val="1400"/>
              </a:spcBef>
            </a:pPr>
            <a:r>
              <a:rPr dirty="0" err="1">
                <a:solidFill>
                  <a:srgbClr val="00908D"/>
                </a:solidFill>
              </a:rPr>
              <a:t>Anschließend</a:t>
            </a:r>
            <a:r>
              <a:rPr dirty="0">
                <a:solidFill>
                  <a:srgbClr val="00908D"/>
                </a:solidFill>
              </a:rPr>
              <a:t>: </a:t>
            </a:r>
            <a:r>
              <a:rPr dirty="0" err="1">
                <a:solidFill>
                  <a:srgbClr val="00908D"/>
                </a:solidFill>
              </a:rPr>
              <a:t>Gemeinsames</a:t>
            </a:r>
            <a:r>
              <a:rPr dirty="0">
                <a:solidFill>
                  <a:srgbClr val="00908D"/>
                </a:solidFill>
              </a:rPr>
              <a:t> </a:t>
            </a:r>
            <a:r>
              <a:rPr dirty="0" err="1">
                <a:solidFill>
                  <a:srgbClr val="00908D"/>
                </a:solidFill>
              </a:rPr>
              <a:t>Mittagessen</a:t>
            </a:r>
            <a:endParaRPr dirty="0">
              <a:solidFill>
                <a:srgbClr val="00908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Check-in: Wo </a:t>
            </a:r>
            <a:r>
              <a:rPr lang="en-US" dirty="0" err="1"/>
              <a:t>seht</a:t>
            </a:r>
            <a:r>
              <a:rPr lang="en-US" dirty="0"/>
              <a:t>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der AI-</a:t>
            </a:r>
            <a:r>
              <a:rPr lang="en-US" dirty="0" err="1"/>
              <a:t>Nutzung</a:t>
            </a:r>
            <a:r>
              <a:rPr dirty="0"/>
              <a:t>?</a:t>
            </a:r>
          </a:p>
        </p:txBody>
      </p:sp>
      <p:cxnSp>
        <p:nvCxnSpPr>
          <p:cNvPr id="4" name="Connector 3"/>
          <p:cNvCxnSpPr>
            <a:cxnSpLocks/>
          </p:cNvCxnSpPr>
          <p:nvPr/>
        </p:nvCxnSpPr>
        <p:spPr>
          <a:xfrm flipV="1">
            <a:off x="3770932" y="3904746"/>
            <a:ext cx="3854614" cy="1866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698239" y="2250000"/>
            <a:ext cx="0" cy="350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242933" y="5814464"/>
            <a:ext cx="14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accent1"/>
                </a:solidFill>
              </a:rPr>
              <a:t>skeptisch</a:t>
            </a:r>
            <a:endParaRPr sz="1400" b="0" dirty="0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9065" y="1888036"/>
            <a:ext cx="14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 err="1">
                <a:solidFill>
                  <a:schemeClr val="accent1"/>
                </a:solidFill>
              </a:rPr>
              <a:t>begeistert</a:t>
            </a:r>
            <a:endParaRPr sz="1400" b="0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7278" y="5322021"/>
            <a:ext cx="255717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 dirty="0" err="1">
                <a:solidFill>
                  <a:schemeClr val="accent1"/>
                </a:solidFill>
              </a:rPr>
              <a:t>Setzt</a:t>
            </a:r>
            <a:r>
              <a:rPr lang="en-US" sz="1300" b="0" dirty="0">
                <a:solidFill>
                  <a:schemeClr val="accent1"/>
                </a:solidFill>
              </a:rPr>
              <a:t> </a:t>
            </a:r>
            <a:r>
              <a:rPr lang="en-US" sz="1300" b="0" dirty="0" err="1">
                <a:solidFill>
                  <a:schemeClr val="accent1"/>
                </a:solidFill>
              </a:rPr>
              <a:t>einen</a:t>
            </a:r>
            <a:r>
              <a:rPr lang="en-US" sz="1300" b="0" dirty="0">
                <a:solidFill>
                  <a:schemeClr val="accent1"/>
                </a:solidFill>
              </a:rPr>
              <a:t> Punkt auf das Flipchart</a:t>
            </a:r>
            <a:endParaRPr sz="1300" b="0" dirty="0">
              <a:solidFill>
                <a:schemeClr val="accent1"/>
              </a:solidFill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2A27A92-EBD4-63E2-58B6-5578A1E6E97A}"/>
              </a:ext>
            </a:extLst>
          </p:cNvPr>
          <p:cNvSpPr txBox="1"/>
          <p:nvPr/>
        </p:nvSpPr>
        <p:spPr>
          <a:xfrm>
            <a:off x="3068320" y="3756180"/>
            <a:ext cx="812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 err="1">
                <a:solidFill>
                  <a:schemeClr val="accent1"/>
                </a:solidFill>
              </a:rPr>
              <a:t>selten</a:t>
            </a:r>
            <a:endParaRPr sz="1400" b="0" dirty="0">
              <a:solidFill>
                <a:schemeClr val="accent1"/>
              </a:solidFill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316DC78-C60B-EA0A-C200-57E01197DD66}"/>
              </a:ext>
            </a:extLst>
          </p:cNvPr>
          <p:cNvSpPr txBox="1"/>
          <p:nvPr/>
        </p:nvSpPr>
        <p:spPr>
          <a:xfrm>
            <a:off x="7651917" y="3731160"/>
            <a:ext cx="848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 err="1">
                <a:solidFill>
                  <a:schemeClr val="accent1"/>
                </a:solidFill>
              </a:rPr>
              <a:t>häufig</a:t>
            </a:r>
            <a:endParaRPr sz="1400" b="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Ein-Wort-</a:t>
            </a:r>
            <a:r>
              <a:rPr dirty="0" err="1"/>
              <a:t>Blitzrunde</a:t>
            </a:r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Was </a:t>
            </a:r>
            <a:r>
              <a:rPr dirty="0" err="1"/>
              <a:t>verbindest</a:t>
            </a:r>
            <a:r>
              <a:rPr dirty="0"/>
              <a:t> du </a:t>
            </a:r>
            <a:r>
              <a:rPr dirty="0" err="1"/>
              <a:t>mit</a:t>
            </a:r>
            <a:r>
              <a:rPr dirty="0"/>
              <a:t> AI</a:t>
            </a:r>
          </a:p>
          <a:p>
            <a:r>
              <a:rPr dirty="0"/>
              <a:t>in </a:t>
            </a:r>
            <a:r>
              <a:rPr dirty="0" err="1"/>
              <a:t>deiner</a:t>
            </a:r>
            <a:r>
              <a:rPr dirty="0"/>
              <a:t> Arbeit?</a:t>
            </a:r>
          </a:p>
          <a:p>
            <a:endParaRPr dirty="0"/>
          </a:p>
          <a:p>
            <a:r>
              <a:rPr dirty="0"/>
              <a:t>Ein Wort. </a:t>
            </a:r>
            <a:r>
              <a:rPr dirty="0" err="1"/>
              <a:t>Reihum</a:t>
            </a:r>
            <a:r>
              <a:rPr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pic>
        <p:nvPicPr>
          <p:cNvPr id="8" name="Picture Placeholder 15">
            <a:extLst>
              <a:ext uri="{FF2B5EF4-FFF2-40B4-BE49-F238E27FC236}">
                <a16:creationId xmlns:a16="http://schemas.microsoft.com/office/drawing/2014/main" id="{857761BB-5D5E-95F2-8201-1A95E0A58E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52" r="2852"/>
          <a:stretch>
            <a:fillRect/>
          </a:stretch>
        </p:blipFill>
        <p:spPr>
          <a:xfrm>
            <a:off x="5335588" y="0"/>
            <a:ext cx="6858000" cy="68580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649" y="2531853"/>
            <a:ext cx="11233151" cy="1620000"/>
          </a:xfrm>
        </p:spPr>
        <p:txBody>
          <a:bodyPr/>
          <a:lstStyle/>
          <a:p>
            <a:r>
              <a:rPr dirty="0">
                <a:solidFill>
                  <a:srgbClr val="13A0D3"/>
                </a:solidFill>
                <a:ea typeface="+mn-ea"/>
                <a:cs typeface="+mn-cs"/>
              </a:rPr>
              <a:t>AI </a:t>
            </a:r>
            <a:r>
              <a:rPr lang="en-US" dirty="0">
                <a:solidFill>
                  <a:srgbClr val="13A0D3"/>
                </a:solidFill>
                <a:ea typeface="+mn-ea"/>
                <a:cs typeface="+mn-cs"/>
              </a:rPr>
              <a:t>Use Cases</a:t>
            </a:r>
            <a:r>
              <a:rPr dirty="0">
                <a:solidFill>
                  <a:srgbClr val="13A0D3"/>
                </a:solidFill>
                <a:ea typeface="+mn-ea"/>
                <a:cs typeface="+mn-cs"/>
              </a:rPr>
              <a:t> </a:t>
            </a:r>
            <a:r>
              <a:rPr dirty="0"/>
              <a:t>in der </a:t>
            </a:r>
            <a:r>
              <a:rPr lang="en-US" dirty="0"/>
              <a:t>              Az Vers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Lisa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dirty="0"/>
              <a:t>0 </a:t>
            </a:r>
            <a:r>
              <a:rPr dirty="0" err="1"/>
              <a:t>Minuten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E0AD731-D041-BE47-8AE6-9CC7714928F0}"/>
              </a:ext>
            </a:extLst>
          </p:cNvPr>
          <p:cNvSpPr txBox="1"/>
          <p:nvPr/>
        </p:nvSpPr>
        <p:spPr>
          <a:xfrm>
            <a:off x="5891107" y="4367829"/>
            <a:ext cx="6173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noProof="0" dirty="0" err="1">
                <a:solidFill>
                  <a:srgbClr val="13A0D3"/>
                </a:solidFill>
              </a:rPr>
              <a:t>Bebauungsplan</a:t>
            </a:r>
            <a:r>
              <a:rPr lang="en-US" sz="2400" noProof="0" dirty="0">
                <a:solidFill>
                  <a:srgbClr val="13A0D3"/>
                </a:solidFill>
              </a:rPr>
              <a:t> und </a:t>
            </a:r>
            <a:r>
              <a:rPr lang="en-US" sz="2400" noProof="0" dirty="0" err="1">
                <a:solidFill>
                  <a:srgbClr val="13A0D3"/>
                </a:solidFill>
              </a:rPr>
              <a:t>Diskussion</a:t>
            </a:r>
            <a:endParaRPr lang="en-DE" sz="2400" dirty="0">
              <a:solidFill>
                <a:srgbClr val="13A0D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D1D6-0CFD-D819-5587-D71B44E7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5482-674E-E659-0D3B-231BCF261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49" y="2531853"/>
            <a:ext cx="11233151" cy="1620000"/>
          </a:xfrm>
        </p:spPr>
        <p:txBody>
          <a:bodyPr/>
          <a:lstStyle/>
          <a:p>
            <a:r>
              <a:rPr lang="en-US" dirty="0" err="1">
                <a:solidFill>
                  <a:srgbClr val="13A0D3"/>
                </a:solidFill>
                <a:ea typeface="+mn-ea"/>
                <a:cs typeface="+mn-cs"/>
              </a:rPr>
              <a:t>Einführung</a:t>
            </a:r>
            <a:r>
              <a:rPr lang="en-US" dirty="0">
                <a:solidFill>
                  <a:srgbClr val="13A0D3"/>
                </a:solidFill>
                <a:ea typeface="+mn-ea"/>
                <a:cs typeface="+mn-cs"/>
              </a:rPr>
              <a:t> LLM</a:t>
            </a:r>
            <a:br>
              <a:rPr lang="en-US" dirty="0">
                <a:solidFill>
                  <a:srgbClr val="13A0D3"/>
                </a:solidFill>
                <a:ea typeface="+mn-ea"/>
                <a:cs typeface="+mn-cs"/>
              </a:rPr>
            </a:b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Cytora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97D2E-6F69-E8C2-D1EB-08B302CAB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Jana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531EB4-79FE-669B-09E8-2E815AC21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25</a:t>
            </a:r>
            <a:r>
              <a:rPr dirty="0"/>
              <a:t> </a:t>
            </a:r>
            <a:r>
              <a:rPr dirty="0" err="1"/>
              <a:t>Minuten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9992CD-71FB-8D9E-F86B-8D73309F09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4E819D7-6933-1297-5279-1947FF23B54D}"/>
              </a:ext>
            </a:extLst>
          </p:cNvPr>
          <p:cNvSpPr txBox="1"/>
          <p:nvPr/>
        </p:nvSpPr>
        <p:spPr>
          <a:xfrm>
            <a:off x="5891107" y="4367829"/>
            <a:ext cx="6173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noProof="0" dirty="0" err="1">
                <a:solidFill>
                  <a:srgbClr val="13A0D3"/>
                </a:solidFill>
              </a:rPr>
              <a:t>Erfahrung</a:t>
            </a:r>
            <a:r>
              <a:rPr lang="en-US" sz="2400" dirty="0" err="1">
                <a:solidFill>
                  <a:srgbClr val="13A0D3"/>
                </a:solidFill>
              </a:rPr>
              <a:t>sbericht</a:t>
            </a:r>
            <a:r>
              <a:rPr lang="en-US" sz="2400" dirty="0">
                <a:solidFill>
                  <a:srgbClr val="13A0D3"/>
                </a:solidFill>
              </a:rPr>
              <a:t> und </a:t>
            </a:r>
            <a:r>
              <a:rPr lang="en-US" sz="2400" dirty="0" err="1">
                <a:solidFill>
                  <a:srgbClr val="13A0D3"/>
                </a:solidFill>
              </a:rPr>
              <a:t>Diskussion</a:t>
            </a:r>
            <a:endParaRPr lang="en-DE" sz="2400" dirty="0">
              <a:solidFill>
                <a:srgbClr val="13A0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09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Pause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15 </a:t>
            </a:r>
            <a:r>
              <a:rPr dirty="0" err="1"/>
              <a:t>Minuten</a:t>
            </a:r>
            <a:endParaRPr dirty="0"/>
          </a:p>
          <a:p>
            <a:endParaRPr dirty="0"/>
          </a:p>
          <a:p>
            <a:r>
              <a:rPr dirty="0"/>
              <a:t>Weiter </a:t>
            </a:r>
            <a:r>
              <a:rPr dirty="0" err="1"/>
              <a:t>geht's</a:t>
            </a:r>
            <a:r>
              <a:rPr dirty="0"/>
              <a:t> um 10:35 Uhr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81FD-6F83-4366-09C2-7B9586D8C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11CB8-0933-98CF-6990-FCEB7F8D3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49" y="2531853"/>
            <a:ext cx="11233151" cy="1620000"/>
          </a:xfrm>
        </p:spPr>
        <p:txBody>
          <a:bodyPr/>
          <a:lstStyle/>
          <a:p>
            <a:r>
              <a:rPr dirty="0">
                <a:solidFill>
                  <a:srgbClr val="13A0D3"/>
                </a:solidFill>
                <a:ea typeface="+mn-ea"/>
                <a:cs typeface="+mn-cs"/>
              </a:rPr>
              <a:t>AI </a:t>
            </a:r>
            <a:r>
              <a:rPr dirty="0" err="1">
                <a:solidFill>
                  <a:srgbClr val="13A0D3"/>
                </a:solidFill>
                <a:ea typeface="+mn-ea"/>
                <a:cs typeface="+mn-cs"/>
              </a:rPr>
              <a:t>Nutzung</a:t>
            </a:r>
            <a:r>
              <a:rPr dirty="0">
                <a:solidFill>
                  <a:srgbClr val="13A0D3"/>
                </a:solidFill>
                <a:ea typeface="+mn-ea"/>
                <a:cs typeface="+mn-cs"/>
              </a:rPr>
              <a:t> </a:t>
            </a:r>
            <a:r>
              <a:rPr dirty="0"/>
              <a:t>in der </a:t>
            </a:r>
            <a:r>
              <a:rPr lang="en-US" dirty="0"/>
              <a:t>              </a:t>
            </a:r>
            <a:r>
              <a:rPr dirty="0" err="1"/>
              <a:t>Architekturarbeit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C80A1-B00C-6B77-BA8A-9CB053E036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Martin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BBA66-6762-5403-7F64-43EA4E003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30 Minuten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4C40B8-0C99-CF8D-C617-61E471099C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A440FCF-B68D-2AF4-AA11-CA42E68C44A6}"/>
              </a:ext>
            </a:extLst>
          </p:cNvPr>
          <p:cNvSpPr txBox="1"/>
          <p:nvPr/>
        </p:nvSpPr>
        <p:spPr>
          <a:xfrm>
            <a:off x="5891107" y="4367829"/>
            <a:ext cx="61738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noProof="0" dirty="0" err="1">
                <a:solidFill>
                  <a:srgbClr val="13A0D3"/>
                </a:solidFill>
              </a:rPr>
              <a:t>Impulsvortrag</a:t>
            </a:r>
            <a:r>
              <a:rPr lang="en-US" sz="2400" noProof="0" dirty="0">
                <a:solidFill>
                  <a:srgbClr val="13A0D3"/>
                </a:solidFill>
              </a:rPr>
              <a:t> und Demo</a:t>
            </a:r>
            <a:endParaRPr lang="en-DE" sz="2400" dirty="0">
              <a:solidFill>
                <a:srgbClr val="13A0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430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56CA-BCC2-9CD6-D834-0F6068C3A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018575E-9DA5-304F-7A5E-D7F899A3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de-DE" dirty="0"/>
              <a:t>AI vom </a:t>
            </a:r>
            <a:r>
              <a:rPr lang="de-DE" dirty="0">
                <a:solidFill>
                  <a:srgbClr val="00908D"/>
                </a:solidFill>
              </a:rPr>
              <a:t>Hype</a:t>
            </a:r>
            <a:r>
              <a:rPr lang="de-DE" dirty="0"/>
              <a:t> zum Werkzeug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6EB46D1B-1579-4C8D-C46D-FBE1F01194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43580" y="6372000"/>
            <a:ext cx="268995" cy="144000"/>
          </a:xfrm>
        </p:spPr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96B16C-3F5F-44BC-AFCC-8CBCBD90898D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ea typeface="+mn-ea"/>
              <a:cs typeface="+mn-cs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F447177-47FF-1D10-5F4A-2EA745F13F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DDBD6E4-EFD4-3E9B-5D28-E8D22691C690}"/>
              </a:ext>
            </a:extLst>
          </p:cNvPr>
          <p:cNvSpPr txBox="1"/>
          <p:nvPr/>
        </p:nvSpPr>
        <p:spPr>
          <a:xfrm>
            <a:off x="2229908" y="4330302"/>
            <a:ext cx="1692275" cy="81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5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106" normalizeH="0" baseline="0" noProof="0" dirty="0">
                <a:ln>
                  <a:noFill/>
                </a:ln>
                <a:solidFill>
                  <a:srgbClr val="00908D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2023</a:t>
            </a: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5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ChatGPT ausprobieren</a:t>
            </a:r>
            <a:b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</a:b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Wow-Effekt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04DCCD7-0F4A-CF5E-199C-13AB060EC67E}"/>
              </a:ext>
            </a:extLst>
          </p:cNvPr>
          <p:cNvSpPr txBox="1"/>
          <p:nvPr/>
        </p:nvSpPr>
        <p:spPr>
          <a:xfrm>
            <a:off x="6046258" y="4330302"/>
            <a:ext cx="1692275" cy="81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5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106" normalizeH="0" baseline="0" noProof="0" dirty="0">
                <a:ln>
                  <a:noFill/>
                </a:ln>
                <a:solidFill>
                  <a:srgbClr val="00908D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2025</a:t>
            </a: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5"/>
              </a:spcAft>
              <a:buClrTx/>
              <a:buSzTx/>
              <a:buFontTx/>
              <a:buNone/>
              <a:tabLst/>
              <a:defRPr/>
            </a:pP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In Prozesse integrieren</a:t>
            </a:r>
            <a:b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</a:br>
            <a:r>
              <a:rPr kumimoji="0" lang="da-DK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Produktiv einsetzen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E9EF0E4F-D5D7-95F7-F6B3-C49C8B267DF4}"/>
              </a:ext>
            </a:extLst>
          </p:cNvPr>
          <p:cNvSpPr txBox="1"/>
          <p:nvPr/>
        </p:nvSpPr>
        <p:spPr>
          <a:xfrm>
            <a:off x="3982508" y="2215843"/>
            <a:ext cx="2003425" cy="8543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5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Grenzen kennenlernen</a:t>
            </a:r>
            <a:b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Was kann es wirklich?</a:t>
            </a:r>
          </a:p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5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106" normalizeH="0" baseline="0" noProof="0" dirty="0">
                <a:ln>
                  <a:noFill/>
                </a:ln>
                <a:solidFill>
                  <a:srgbClr val="00908D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2024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692B738-621B-4285-9682-8747D66E3AB7}"/>
              </a:ext>
            </a:extLst>
          </p:cNvPr>
          <p:cNvSpPr txBox="1"/>
          <p:nvPr/>
        </p:nvSpPr>
        <p:spPr>
          <a:xfrm>
            <a:off x="7954432" y="2215853"/>
            <a:ext cx="1692275" cy="12131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35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106" normalizeH="0" baseline="0" noProof="0" dirty="0">
                <a:ln>
                  <a:noFill/>
                </a:ln>
                <a:solidFill>
                  <a:srgbClr val="00908D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t>2026</a:t>
            </a:r>
            <a:br>
              <a:rPr kumimoji="0" lang="de-DE" sz="1600" b="1" i="0" u="none" strike="noStrike" kern="1200" cap="none" spc="106" normalizeH="0" baseline="0" noProof="0" dirty="0">
                <a:ln>
                  <a:noFill/>
                </a:ln>
                <a:solidFill>
                  <a:srgbClr val="00908D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</a:br>
            <a:endParaRPr kumimoji="0" lang="de-DE" sz="1600" b="1" i="0" u="none" strike="noStrike" kern="1200" cap="none" spc="106" normalizeH="0" baseline="0" noProof="0" dirty="0">
              <a:ln>
                <a:noFill/>
              </a:ln>
              <a:solidFill>
                <a:srgbClr val="00908D"/>
              </a:solidFill>
              <a:effectLst/>
              <a:uLnTx/>
              <a:uFillTx/>
              <a:latin typeface="Allianz Neo" panose="020B0504020203020204" pitchFamily="34" charset="0"/>
              <a:ea typeface="+mn-ea"/>
              <a:cs typeface="+mn-cs"/>
            </a:endParaRP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892A8244-B300-34F1-3D1C-EFFAA4FA4120}"/>
              </a:ext>
            </a:extLst>
          </p:cNvPr>
          <p:cNvGrpSpPr>
            <a:grpSpLocks noChangeAspect="1"/>
          </p:cNvGrpSpPr>
          <p:nvPr/>
        </p:nvGrpSpPr>
        <p:grpSpPr>
          <a:xfrm>
            <a:off x="2224988" y="3340412"/>
            <a:ext cx="792000" cy="792000"/>
            <a:chOff x="8681207" y="2084642"/>
            <a:chExt cx="328528" cy="328528"/>
          </a:xfrm>
          <a:solidFill>
            <a:schemeClr val="tx1"/>
          </a:solidFill>
        </p:grpSpPr>
        <p:sp>
          <p:nvSpPr>
            <p:cNvPr id="57" name="Freihandform 1559">
              <a:extLst>
                <a:ext uri="{FF2B5EF4-FFF2-40B4-BE49-F238E27FC236}">
                  <a16:creationId xmlns:a16="http://schemas.microsoft.com/office/drawing/2014/main" id="{3A135A10-9BB1-C463-5D86-F76D07B48262}"/>
                </a:ext>
              </a:extLst>
            </p:cNvPr>
            <p:cNvSpPr/>
            <p:nvPr/>
          </p:nvSpPr>
          <p:spPr>
            <a:xfrm>
              <a:off x="8681207" y="2084642"/>
              <a:ext cx="328528" cy="3285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2" h="1412">
                  <a:moveTo>
                    <a:pt x="705" y="1376"/>
                  </a:moveTo>
                  <a:cubicBezTo>
                    <a:pt x="336" y="1376"/>
                    <a:pt x="36" y="1075"/>
                    <a:pt x="36" y="705"/>
                  </a:cubicBezTo>
                  <a:cubicBezTo>
                    <a:pt x="36" y="337"/>
                    <a:pt x="336" y="36"/>
                    <a:pt x="705" y="36"/>
                  </a:cubicBezTo>
                  <a:cubicBezTo>
                    <a:pt x="1075" y="36"/>
                    <a:pt x="1376" y="337"/>
                    <a:pt x="1376" y="705"/>
                  </a:cubicBezTo>
                  <a:cubicBezTo>
                    <a:pt x="1376" y="1075"/>
                    <a:pt x="1075" y="1376"/>
                    <a:pt x="705" y="1376"/>
                  </a:cubicBezTo>
                  <a:close/>
                  <a:moveTo>
                    <a:pt x="705" y="0"/>
                  </a:moveTo>
                  <a:cubicBezTo>
                    <a:pt x="317" y="0"/>
                    <a:pt x="0" y="318"/>
                    <a:pt x="0" y="705"/>
                  </a:cubicBezTo>
                  <a:cubicBezTo>
                    <a:pt x="0" y="1094"/>
                    <a:pt x="317" y="1412"/>
                    <a:pt x="705" y="1412"/>
                  </a:cubicBezTo>
                  <a:cubicBezTo>
                    <a:pt x="1094" y="1412"/>
                    <a:pt x="1412" y="1094"/>
                    <a:pt x="1412" y="705"/>
                  </a:cubicBezTo>
                  <a:cubicBezTo>
                    <a:pt x="1412" y="318"/>
                    <a:pt x="1094" y="0"/>
                    <a:pt x="705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8" name="Freihandform 1560">
              <a:extLst>
                <a:ext uri="{FF2B5EF4-FFF2-40B4-BE49-F238E27FC236}">
                  <a16:creationId xmlns:a16="http://schemas.microsoft.com/office/drawing/2014/main" id="{D0D11A20-A025-0B54-DBB2-9BB417C8476E}"/>
                </a:ext>
              </a:extLst>
            </p:cNvPr>
            <p:cNvSpPr/>
            <p:nvPr/>
          </p:nvSpPr>
          <p:spPr>
            <a:xfrm>
              <a:off x="8755016" y="2174750"/>
              <a:ext cx="180679" cy="1476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77" h="635">
                  <a:moveTo>
                    <a:pt x="758" y="602"/>
                  </a:moveTo>
                  <a:lnTo>
                    <a:pt x="36" y="602"/>
                  </a:lnTo>
                  <a:lnTo>
                    <a:pt x="36" y="19"/>
                  </a:lnTo>
                  <a:cubicBezTo>
                    <a:pt x="36" y="9"/>
                    <a:pt x="28" y="0"/>
                    <a:pt x="17" y="0"/>
                  </a:cubicBezTo>
                  <a:cubicBezTo>
                    <a:pt x="9" y="0"/>
                    <a:pt x="0" y="9"/>
                    <a:pt x="0" y="19"/>
                  </a:cubicBezTo>
                  <a:lnTo>
                    <a:pt x="0" y="618"/>
                  </a:lnTo>
                  <a:cubicBezTo>
                    <a:pt x="0" y="629"/>
                    <a:pt x="9" y="635"/>
                    <a:pt x="17" y="635"/>
                  </a:cubicBezTo>
                  <a:lnTo>
                    <a:pt x="758" y="635"/>
                  </a:lnTo>
                  <a:cubicBezTo>
                    <a:pt x="769" y="635"/>
                    <a:pt x="777" y="629"/>
                    <a:pt x="777" y="618"/>
                  </a:cubicBezTo>
                  <a:cubicBezTo>
                    <a:pt x="777" y="608"/>
                    <a:pt x="769" y="602"/>
                    <a:pt x="758" y="6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9" name="Freihandform 1561">
              <a:extLst>
                <a:ext uri="{FF2B5EF4-FFF2-40B4-BE49-F238E27FC236}">
                  <a16:creationId xmlns:a16="http://schemas.microsoft.com/office/drawing/2014/main" id="{2ED5EC64-7757-3C9C-D1B3-B7D67EAFD364}"/>
                </a:ext>
              </a:extLst>
            </p:cNvPr>
            <p:cNvSpPr/>
            <p:nvPr/>
          </p:nvSpPr>
          <p:spPr>
            <a:xfrm>
              <a:off x="8779464" y="2207812"/>
              <a:ext cx="139235" cy="8219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9" h="354">
                  <a:moveTo>
                    <a:pt x="17" y="354"/>
                  </a:moveTo>
                  <a:cubicBezTo>
                    <a:pt x="21" y="354"/>
                    <a:pt x="26" y="352"/>
                    <a:pt x="30" y="349"/>
                  </a:cubicBezTo>
                  <a:lnTo>
                    <a:pt x="229" y="182"/>
                  </a:lnTo>
                  <a:lnTo>
                    <a:pt x="322" y="277"/>
                  </a:lnTo>
                  <a:cubicBezTo>
                    <a:pt x="330" y="284"/>
                    <a:pt x="341" y="284"/>
                    <a:pt x="347" y="277"/>
                  </a:cubicBezTo>
                  <a:lnTo>
                    <a:pt x="565" y="59"/>
                  </a:lnTo>
                  <a:lnTo>
                    <a:pt x="565" y="123"/>
                  </a:lnTo>
                  <a:cubicBezTo>
                    <a:pt x="565" y="134"/>
                    <a:pt x="572" y="142"/>
                    <a:pt x="582" y="142"/>
                  </a:cubicBezTo>
                  <a:cubicBezTo>
                    <a:pt x="593" y="142"/>
                    <a:pt x="599" y="134"/>
                    <a:pt x="599" y="123"/>
                  </a:cubicBezTo>
                  <a:lnTo>
                    <a:pt x="599" y="17"/>
                  </a:lnTo>
                  <a:cubicBezTo>
                    <a:pt x="599" y="15"/>
                    <a:pt x="599" y="13"/>
                    <a:pt x="599" y="11"/>
                  </a:cubicBezTo>
                  <a:cubicBezTo>
                    <a:pt x="597" y="7"/>
                    <a:pt x="593" y="2"/>
                    <a:pt x="589" y="2"/>
                  </a:cubicBezTo>
                  <a:cubicBezTo>
                    <a:pt x="586" y="0"/>
                    <a:pt x="584" y="0"/>
                    <a:pt x="582" y="0"/>
                  </a:cubicBezTo>
                  <a:lnTo>
                    <a:pt x="476" y="0"/>
                  </a:lnTo>
                  <a:cubicBezTo>
                    <a:pt x="466" y="0"/>
                    <a:pt x="459" y="9"/>
                    <a:pt x="459" y="17"/>
                  </a:cubicBezTo>
                  <a:cubicBezTo>
                    <a:pt x="459" y="28"/>
                    <a:pt x="466" y="36"/>
                    <a:pt x="476" y="36"/>
                  </a:cubicBezTo>
                  <a:lnTo>
                    <a:pt x="540" y="36"/>
                  </a:lnTo>
                  <a:lnTo>
                    <a:pt x="335" y="239"/>
                  </a:lnTo>
                  <a:lnTo>
                    <a:pt x="241" y="146"/>
                  </a:lnTo>
                  <a:cubicBezTo>
                    <a:pt x="235" y="140"/>
                    <a:pt x="225" y="140"/>
                    <a:pt x="218" y="146"/>
                  </a:cubicBezTo>
                  <a:lnTo>
                    <a:pt x="7" y="322"/>
                  </a:lnTo>
                  <a:cubicBezTo>
                    <a:pt x="-2" y="328"/>
                    <a:pt x="-2" y="339"/>
                    <a:pt x="4" y="347"/>
                  </a:cubicBezTo>
                  <a:cubicBezTo>
                    <a:pt x="9" y="352"/>
                    <a:pt x="13" y="354"/>
                    <a:pt x="17" y="35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D3126091-43B2-4BB0-A4BC-863C0BD04F0F}"/>
              </a:ext>
            </a:extLst>
          </p:cNvPr>
          <p:cNvGrpSpPr>
            <a:grpSpLocks noChangeAspect="1"/>
          </p:cNvGrpSpPr>
          <p:nvPr/>
        </p:nvGrpSpPr>
        <p:grpSpPr>
          <a:xfrm>
            <a:off x="7942133" y="3340412"/>
            <a:ext cx="791442" cy="792000"/>
            <a:chOff x="6888480" y="4745702"/>
            <a:chExt cx="328296" cy="328528"/>
          </a:xfrm>
          <a:solidFill>
            <a:schemeClr val="tx1"/>
          </a:solidFill>
        </p:grpSpPr>
        <p:sp>
          <p:nvSpPr>
            <p:cNvPr id="64" name="Freihandform 1349">
              <a:extLst>
                <a:ext uri="{FF2B5EF4-FFF2-40B4-BE49-F238E27FC236}">
                  <a16:creationId xmlns:a16="http://schemas.microsoft.com/office/drawing/2014/main" id="{73CA6994-46DC-A952-FA3C-F6389A6833CF}"/>
                </a:ext>
              </a:extLst>
            </p:cNvPr>
            <p:cNvSpPr/>
            <p:nvPr/>
          </p:nvSpPr>
          <p:spPr>
            <a:xfrm>
              <a:off x="6888480" y="4745702"/>
              <a:ext cx="328296" cy="3285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1" h="1412">
                  <a:moveTo>
                    <a:pt x="704" y="1376"/>
                  </a:moveTo>
                  <a:cubicBezTo>
                    <a:pt x="336" y="1376"/>
                    <a:pt x="36" y="1075"/>
                    <a:pt x="36" y="705"/>
                  </a:cubicBezTo>
                  <a:cubicBezTo>
                    <a:pt x="36" y="337"/>
                    <a:pt x="336" y="36"/>
                    <a:pt x="704" y="36"/>
                  </a:cubicBezTo>
                  <a:cubicBezTo>
                    <a:pt x="1075" y="36"/>
                    <a:pt x="1375" y="337"/>
                    <a:pt x="1375" y="705"/>
                  </a:cubicBezTo>
                  <a:cubicBezTo>
                    <a:pt x="1375" y="1075"/>
                    <a:pt x="1075" y="1376"/>
                    <a:pt x="704" y="1376"/>
                  </a:cubicBezTo>
                  <a:close/>
                  <a:moveTo>
                    <a:pt x="704" y="0"/>
                  </a:moveTo>
                  <a:cubicBezTo>
                    <a:pt x="317" y="0"/>
                    <a:pt x="0" y="318"/>
                    <a:pt x="0" y="705"/>
                  </a:cubicBezTo>
                  <a:cubicBezTo>
                    <a:pt x="0" y="1094"/>
                    <a:pt x="317" y="1412"/>
                    <a:pt x="704" y="1412"/>
                  </a:cubicBezTo>
                  <a:cubicBezTo>
                    <a:pt x="1094" y="1412"/>
                    <a:pt x="1411" y="1094"/>
                    <a:pt x="1411" y="705"/>
                  </a:cubicBezTo>
                  <a:cubicBezTo>
                    <a:pt x="1411" y="318"/>
                    <a:pt x="1094" y="0"/>
                    <a:pt x="704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5" name="Freihandform 1350">
              <a:extLst>
                <a:ext uri="{FF2B5EF4-FFF2-40B4-BE49-F238E27FC236}">
                  <a16:creationId xmlns:a16="http://schemas.microsoft.com/office/drawing/2014/main" id="{D7279BBB-D84A-A737-6F81-DF3C57E49BC9}"/>
                </a:ext>
              </a:extLst>
            </p:cNvPr>
            <p:cNvSpPr/>
            <p:nvPr/>
          </p:nvSpPr>
          <p:spPr>
            <a:xfrm>
              <a:off x="6954139" y="4853038"/>
              <a:ext cx="196977" cy="11385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7" h="490">
                  <a:moveTo>
                    <a:pt x="422" y="454"/>
                  </a:moveTo>
                  <a:cubicBezTo>
                    <a:pt x="420" y="454"/>
                    <a:pt x="179" y="447"/>
                    <a:pt x="37" y="240"/>
                  </a:cubicBezTo>
                  <a:cubicBezTo>
                    <a:pt x="63" y="206"/>
                    <a:pt x="192" y="43"/>
                    <a:pt x="424" y="37"/>
                  </a:cubicBezTo>
                  <a:cubicBezTo>
                    <a:pt x="427" y="34"/>
                    <a:pt x="647" y="13"/>
                    <a:pt x="808" y="246"/>
                  </a:cubicBezTo>
                  <a:cubicBezTo>
                    <a:pt x="780" y="286"/>
                    <a:pt x="657" y="451"/>
                    <a:pt x="422" y="454"/>
                  </a:cubicBezTo>
                  <a:close/>
                  <a:moveTo>
                    <a:pt x="422" y="1"/>
                  </a:moveTo>
                  <a:cubicBezTo>
                    <a:pt x="170" y="9"/>
                    <a:pt x="22" y="193"/>
                    <a:pt x="3" y="229"/>
                  </a:cubicBezTo>
                  <a:cubicBezTo>
                    <a:pt x="1" y="231"/>
                    <a:pt x="-3" y="240"/>
                    <a:pt x="3" y="250"/>
                  </a:cubicBezTo>
                  <a:cubicBezTo>
                    <a:pt x="154" y="481"/>
                    <a:pt x="412" y="490"/>
                    <a:pt x="422" y="490"/>
                  </a:cubicBezTo>
                  <a:cubicBezTo>
                    <a:pt x="712" y="487"/>
                    <a:pt x="839" y="263"/>
                    <a:pt x="844" y="255"/>
                  </a:cubicBezTo>
                  <a:cubicBezTo>
                    <a:pt x="848" y="248"/>
                    <a:pt x="848" y="242"/>
                    <a:pt x="844" y="236"/>
                  </a:cubicBezTo>
                  <a:cubicBezTo>
                    <a:pt x="670" y="-25"/>
                    <a:pt x="431" y="1"/>
                    <a:pt x="422" y="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6" name="Freihandform 1351">
              <a:extLst>
                <a:ext uri="{FF2B5EF4-FFF2-40B4-BE49-F238E27FC236}">
                  <a16:creationId xmlns:a16="http://schemas.microsoft.com/office/drawing/2014/main" id="{A03117C4-42EE-7D68-BA5F-205D38032874}"/>
                </a:ext>
              </a:extLst>
            </p:cNvPr>
            <p:cNvSpPr/>
            <p:nvPr/>
          </p:nvSpPr>
          <p:spPr>
            <a:xfrm>
              <a:off x="7011649" y="4868871"/>
              <a:ext cx="81958" cy="8219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3" h="354">
                  <a:moveTo>
                    <a:pt x="175" y="318"/>
                  </a:moveTo>
                  <a:cubicBezTo>
                    <a:pt x="99" y="318"/>
                    <a:pt x="36" y="254"/>
                    <a:pt x="36" y="176"/>
                  </a:cubicBezTo>
                  <a:cubicBezTo>
                    <a:pt x="36" y="100"/>
                    <a:pt x="99" y="36"/>
                    <a:pt x="175" y="36"/>
                  </a:cubicBezTo>
                  <a:cubicBezTo>
                    <a:pt x="254" y="36"/>
                    <a:pt x="317" y="100"/>
                    <a:pt x="317" y="176"/>
                  </a:cubicBezTo>
                  <a:cubicBezTo>
                    <a:pt x="317" y="254"/>
                    <a:pt x="254" y="318"/>
                    <a:pt x="175" y="318"/>
                  </a:cubicBezTo>
                  <a:close/>
                  <a:moveTo>
                    <a:pt x="175" y="0"/>
                  </a:moveTo>
                  <a:cubicBezTo>
                    <a:pt x="78" y="0"/>
                    <a:pt x="0" y="79"/>
                    <a:pt x="0" y="176"/>
                  </a:cubicBezTo>
                  <a:cubicBezTo>
                    <a:pt x="0" y="273"/>
                    <a:pt x="78" y="354"/>
                    <a:pt x="175" y="354"/>
                  </a:cubicBezTo>
                  <a:cubicBezTo>
                    <a:pt x="273" y="354"/>
                    <a:pt x="353" y="273"/>
                    <a:pt x="353" y="176"/>
                  </a:cubicBezTo>
                  <a:cubicBezTo>
                    <a:pt x="353" y="79"/>
                    <a:pt x="273" y="0"/>
                    <a:pt x="175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3A1E910D-07BD-1119-2430-16B7069E3A93}"/>
              </a:ext>
            </a:extLst>
          </p:cNvPr>
          <p:cNvGrpSpPr>
            <a:grpSpLocks noChangeAspect="1"/>
          </p:cNvGrpSpPr>
          <p:nvPr/>
        </p:nvGrpSpPr>
        <p:grpSpPr>
          <a:xfrm>
            <a:off x="6036418" y="3340412"/>
            <a:ext cx="792000" cy="792000"/>
            <a:chOff x="8681207" y="1197546"/>
            <a:chExt cx="328528" cy="328528"/>
          </a:xfrm>
          <a:solidFill>
            <a:schemeClr val="tx1"/>
          </a:solidFill>
        </p:grpSpPr>
        <p:sp>
          <p:nvSpPr>
            <p:cNvPr id="68" name="Freihandform 1469">
              <a:extLst>
                <a:ext uri="{FF2B5EF4-FFF2-40B4-BE49-F238E27FC236}">
                  <a16:creationId xmlns:a16="http://schemas.microsoft.com/office/drawing/2014/main" id="{1429BE31-80A1-1EF8-A870-14334B8197F4}"/>
                </a:ext>
              </a:extLst>
            </p:cNvPr>
            <p:cNvSpPr/>
            <p:nvPr/>
          </p:nvSpPr>
          <p:spPr>
            <a:xfrm>
              <a:off x="8681207" y="1197546"/>
              <a:ext cx="328528" cy="3285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2" h="1412">
                  <a:moveTo>
                    <a:pt x="705" y="1376"/>
                  </a:moveTo>
                  <a:cubicBezTo>
                    <a:pt x="336" y="1376"/>
                    <a:pt x="36" y="1075"/>
                    <a:pt x="36" y="705"/>
                  </a:cubicBezTo>
                  <a:cubicBezTo>
                    <a:pt x="36" y="337"/>
                    <a:pt x="336" y="36"/>
                    <a:pt x="705" y="36"/>
                  </a:cubicBezTo>
                  <a:cubicBezTo>
                    <a:pt x="1075" y="36"/>
                    <a:pt x="1376" y="337"/>
                    <a:pt x="1376" y="705"/>
                  </a:cubicBezTo>
                  <a:cubicBezTo>
                    <a:pt x="1376" y="1075"/>
                    <a:pt x="1075" y="1376"/>
                    <a:pt x="705" y="1376"/>
                  </a:cubicBezTo>
                  <a:close/>
                  <a:moveTo>
                    <a:pt x="705" y="0"/>
                  </a:moveTo>
                  <a:cubicBezTo>
                    <a:pt x="317" y="0"/>
                    <a:pt x="0" y="318"/>
                    <a:pt x="0" y="705"/>
                  </a:cubicBezTo>
                  <a:cubicBezTo>
                    <a:pt x="0" y="1094"/>
                    <a:pt x="317" y="1412"/>
                    <a:pt x="705" y="1412"/>
                  </a:cubicBezTo>
                  <a:cubicBezTo>
                    <a:pt x="1094" y="1412"/>
                    <a:pt x="1412" y="1094"/>
                    <a:pt x="1412" y="705"/>
                  </a:cubicBezTo>
                  <a:cubicBezTo>
                    <a:pt x="1412" y="318"/>
                    <a:pt x="1094" y="0"/>
                    <a:pt x="705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9" name="Freihandform 1470">
              <a:extLst>
                <a:ext uri="{FF2B5EF4-FFF2-40B4-BE49-F238E27FC236}">
                  <a16:creationId xmlns:a16="http://schemas.microsoft.com/office/drawing/2014/main" id="{0976D366-AD3C-283B-0695-CD9F2A397DC0}"/>
                </a:ext>
              </a:extLst>
            </p:cNvPr>
            <p:cNvSpPr/>
            <p:nvPr/>
          </p:nvSpPr>
          <p:spPr>
            <a:xfrm>
              <a:off x="8755016" y="1263205"/>
              <a:ext cx="180679" cy="1967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77" h="846">
                  <a:moveTo>
                    <a:pt x="513" y="601"/>
                  </a:moveTo>
                  <a:lnTo>
                    <a:pt x="265" y="601"/>
                  </a:lnTo>
                  <a:cubicBezTo>
                    <a:pt x="235" y="601"/>
                    <a:pt x="212" y="575"/>
                    <a:pt x="212" y="548"/>
                  </a:cubicBezTo>
                  <a:cubicBezTo>
                    <a:pt x="212" y="518"/>
                    <a:pt x="235" y="495"/>
                    <a:pt x="265" y="495"/>
                  </a:cubicBezTo>
                  <a:lnTo>
                    <a:pt x="513" y="495"/>
                  </a:lnTo>
                  <a:cubicBezTo>
                    <a:pt x="540" y="495"/>
                    <a:pt x="565" y="518"/>
                    <a:pt x="565" y="548"/>
                  </a:cubicBezTo>
                  <a:cubicBezTo>
                    <a:pt x="565" y="575"/>
                    <a:pt x="540" y="601"/>
                    <a:pt x="513" y="601"/>
                  </a:cubicBezTo>
                  <a:close/>
                  <a:moveTo>
                    <a:pt x="265" y="389"/>
                  </a:moveTo>
                  <a:cubicBezTo>
                    <a:pt x="252" y="389"/>
                    <a:pt x="240" y="383"/>
                    <a:pt x="233" y="374"/>
                  </a:cubicBezTo>
                  <a:cubicBezTo>
                    <a:pt x="225" y="366"/>
                    <a:pt x="223" y="353"/>
                    <a:pt x="225" y="340"/>
                  </a:cubicBezTo>
                  <a:lnTo>
                    <a:pt x="269" y="91"/>
                  </a:lnTo>
                  <a:cubicBezTo>
                    <a:pt x="275" y="61"/>
                    <a:pt x="305" y="36"/>
                    <a:pt x="335" y="36"/>
                  </a:cubicBezTo>
                  <a:lnTo>
                    <a:pt x="441" y="36"/>
                  </a:lnTo>
                  <a:cubicBezTo>
                    <a:pt x="472" y="36"/>
                    <a:pt x="502" y="61"/>
                    <a:pt x="506" y="91"/>
                  </a:cubicBezTo>
                  <a:lnTo>
                    <a:pt x="553" y="340"/>
                  </a:lnTo>
                  <a:cubicBezTo>
                    <a:pt x="555" y="353"/>
                    <a:pt x="553" y="366"/>
                    <a:pt x="544" y="374"/>
                  </a:cubicBezTo>
                  <a:cubicBezTo>
                    <a:pt x="536" y="383"/>
                    <a:pt x="525" y="389"/>
                    <a:pt x="513" y="389"/>
                  </a:cubicBezTo>
                  <a:close/>
                  <a:moveTo>
                    <a:pt x="758" y="353"/>
                  </a:moveTo>
                  <a:lnTo>
                    <a:pt x="688" y="353"/>
                  </a:lnTo>
                  <a:cubicBezTo>
                    <a:pt x="678" y="353"/>
                    <a:pt x="671" y="361"/>
                    <a:pt x="671" y="370"/>
                  </a:cubicBezTo>
                  <a:cubicBezTo>
                    <a:pt x="671" y="381"/>
                    <a:pt x="678" y="389"/>
                    <a:pt x="688" y="389"/>
                  </a:cubicBezTo>
                  <a:lnTo>
                    <a:pt x="705" y="389"/>
                  </a:lnTo>
                  <a:lnTo>
                    <a:pt x="705" y="476"/>
                  </a:lnTo>
                  <a:cubicBezTo>
                    <a:pt x="705" y="505"/>
                    <a:pt x="682" y="529"/>
                    <a:pt x="652" y="529"/>
                  </a:cubicBezTo>
                  <a:lnTo>
                    <a:pt x="597" y="529"/>
                  </a:lnTo>
                  <a:cubicBezTo>
                    <a:pt x="591" y="488"/>
                    <a:pt x="555" y="459"/>
                    <a:pt x="513" y="459"/>
                  </a:cubicBezTo>
                  <a:lnTo>
                    <a:pt x="407" y="459"/>
                  </a:lnTo>
                  <a:lnTo>
                    <a:pt x="407" y="423"/>
                  </a:lnTo>
                  <a:lnTo>
                    <a:pt x="513" y="423"/>
                  </a:lnTo>
                  <a:cubicBezTo>
                    <a:pt x="536" y="423"/>
                    <a:pt x="557" y="414"/>
                    <a:pt x="572" y="397"/>
                  </a:cubicBezTo>
                  <a:cubicBezTo>
                    <a:pt x="587" y="381"/>
                    <a:pt x="591" y="357"/>
                    <a:pt x="587" y="334"/>
                  </a:cubicBezTo>
                  <a:lnTo>
                    <a:pt x="542" y="84"/>
                  </a:lnTo>
                  <a:cubicBezTo>
                    <a:pt x="534" y="38"/>
                    <a:pt x="489" y="0"/>
                    <a:pt x="441" y="0"/>
                  </a:cubicBezTo>
                  <a:lnTo>
                    <a:pt x="335" y="0"/>
                  </a:lnTo>
                  <a:cubicBezTo>
                    <a:pt x="288" y="0"/>
                    <a:pt x="244" y="38"/>
                    <a:pt x="235" y="84"/>
                  </a:cubicBezTo>
                  <a:lnTo>
                    <a:pt x="189" y="334"/>
                  </a:lnTo>
                  <a:cubicBezTo>
                    <a:pt x="184" y="357"/>
                    <a:pt x="191" y="381"/>
                    <a:pt x="206" y="397"/>
                  </a:cubicBezTo>
                  <a:cubicBezTo>
                    <a:pt x="220" y="414"/>
                    <a:pt x="242" y="423"/>
                    <a:pt x="265" y="423"/>
                  </a:cubicBezTo>
                  <a:lnTo>
                    <a:pt x="371" y="423"/>
                  </a:lnTo>
                  <a:lnTo>
                    <a:pt x="371" y="459"/>
                  </a:lnTo>
                  <a:lnTo>
                    <a:pt x="265" y="459"/>
                  </a:lnTo>
                  <a:cubicBezTo>
                    <a:pt x="223" y="459"/>
                    <a:pt x="187" y="488"/>
                    <a:pt x="178" y="529"/>
                  </a:cubicBezTo>
                  <a:lnTo>
                    <a:pt x="123" y="529"/>
                  </a:lnTo>
                  <a:cubicBezTo>
                    <a:pt x="96" y="529"/>
                    <a:pt x="70" y="505"/>
                    <a:pt x="70" y="476"/>
                  </a:cubicBezTo>
                  <a:lnTo>
                    <a:pt x="70" y="389"/>
                  </a:lnTo>
                  <a:lnTo>
                    <a:pt x="89" y="389"/>
                  </a:lnTo>
                  <a:cubicBezTo>
                    <a:pt x="98" y="389"/>
                    <a:pt x="106" y="381"/>
                    <a:pt x="106" y="370"/>
                  </a:cubicBezTo>
                  <a:cubicBezTo>
                    <a:pt x="106" y="361"/>
                    <a:pt x="98" y="353"/>
                    <a:pt x="89" y="353"/>
                  </a:cubicBezTo>
                  <a:lnTo>
                    <a:pt x="17" y="353"/>
                  </a:lnTo>
                  <a:cubicBezTo>
                    <a:pt x="9" y="353"/>
                    <a:pt x="0" y="361"/>
                    <a:pt x="0" y="370"/>
                  </a:cubicBezTo>
                  <a:cubicBezTo>
                    <a:pt x="0" y="381"/>
                    <a:pt x="9" y="389"/>
                    <a:pt x="17" y="389"/>
                  </a:cubicBezTo>
                  <a:lnTo>
                    <a:pt x="36" y="389"/>
                  </a:lnTo>
                  <a:lnTo>
                    <a:pt x="36" y="476"/>
                  </a:lnTo>
                  <a:cubicBezTo>
                    <a:pt x="36" y="524"/>
                    <a:pt x="74" y="565"/>
                    <a:pt x="123" y="565"/>
                  </a:cubicBezTo>
                  <a:lnTo>
                    <a:pt x="178" y="565"/>
                  </a:lnTo>
                  <a:cubicBezTo>
                    <a:pt x="187" y="605"/>
                    <a:pt x="223" y="635"/>
                    <a:pt x="265" y="635"/>
                  </a:cubicBezTo>
                  <a:lnTo>
                    <a:pt x="371" y="635"/>
                  </a:lnTo>
                  <a:lnTo>
                    <a:pt x="371" y="711"/>
                  </a:lnTo>
                  <a:lnTo>
                    <a:pt x="155" y="776"/>
                  </a:lnTo>
                  <a:cubicBezTo>
                    <a:pt x="146" y="778"/>
                    <a:pt x="142" y="787"/>
                    <a:pt x="142" y="793"/>
                  </a:cubicBezTo>
                  <a:lnTo>
                    <a:pt x="142" y="829"/>
                  </a:lnTo>
                  <a:cubicBezTo>
                    <a:pt x="142" y="840"/>
                    <a:pt x="148" y="846"/>
                    <a:pt x="159" y="846"/>
                  </a:cubicBezTo>
                  <a:cubicBezTo>
                    <a:pt x="170" y="846"/>
                    <a:pt x="176" y="840"/>
                    <a:pt x="176" y="829"/>
                  </a:cubicBezTo>
                  <a:lnTo>
                    <a:pt x="176" y="806"/>
                  </a:lnTo>
                  <a:lnTo>
                    <a:pt x="371" y="747"/>
                  </a:lnTo>
                  <a:lnTo>
                    <a:pt x="371" y="829"/>
                  </a:lnTo>
                  <a:cubicBezTo>
                    <a:pt x="371" y="840"/>
                    <a:pt x="379" y="846"/>
                    <a:pt x="388" y="846"/>
                  </a:cubicBezTo>
                  <a:cubicBezTo>
                    <a:pt x="398" y="846"/>
                    <a:pt x="407" y="840"/>
                    <a:pt x="407" y="829"/>
                  </a:cubicBezTo>
                  <a:lnTo>
                    <a:pt x="407" y="747"/>
                  </a:lnTo>
                  <a:lnTo>
                    <a:pt x="599" y="806"/>
                  </a:lnTo>
                  <a:lnTo>
                    <a:pt x="599" y="829"/>
                  </a:lnTo>
                  <a:cubicBezTo>
                    <a:pt x="599" y="840"/>
                    <a:pt x="608" y="846"/>
                    <a:pt x="618" y="846"/>
                  </a:cubicBezTo>
                  <a:cubicBezTo>
                    <a:pt x="627" y="846"/>
                    <a:pt x="635" y="840"/>
                    <a:pt x="635" y="829"/>
                  </a:cubicBezTo>
                  <a:lnTo>
                    <a:pt x="635" y="793"/>
                  </a:lnTo>
                  <a:cubicBezTo>
                    <a:pt x="635" y="787"/>
                    <a:pt x="631" y="778"/>
                    <a:pt x="623" y="776"/>
                  </a:cubicBezTo>
                  <a:lnTo>
                    <a:pt x="407" y="711"/>
                  </a:lnTo>
                  <a:lnTo>
                    <a:pt x="407" y="635"/>
                  </a:lnTo>
                  <a:lnTo>
                    <a:pt x="513" y="635"/>
                  </a:lnTo>
                  <a:cubicBezTo>
                    <a:pt x="555" y="635"/>
                    <a:pt x="591" y="605"/>
                    <a:pt x="597" y="565"/>
                  </a:cubicBezTo>
                  <a:lnTo>
                    <a:pt x="652" y="565"/>
                  </a:lnTo>
                  <a:cubicBezTo>
                    <a:pt x="701" y="565"/>
                    <a:pt x="741" y="524"/>
                    <a:pt x="741" y="476"/>
                  </a:cubicBezTo>
                  <a:lnTo>
                    <a:pt x="741" y="389"/>
                  </a:lnTo>
                  <a:lnTo>
                    <a:pt x="758" y="389"/>
                  </a:lnTo>
                  <a:cubicBezTo>
                    <a:pt x="769" y="389"/>
                    <a:pt x="777" y="381"/>
                    <a:pt x="777" y="370"/>
                  </a:cubicBezTo>
                  <a:cubicBezTo>
                    <a:pt x="777" y="361"/>
                    <a:pt x="769" y="353"/>
                    <a:pt x="758" y="35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90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</p:grp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D4D43203-348D-CB60-67B1-BAE5268A2FFE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3016988" y="3736412"/>
            <a:ext cx="1113715" cy="0"/>
          </a:xfrm>
          <a:prstGeom prst="line">
            <a:avLst/>
          </a:prstGeom>
          <a:ln w="12700">
            <a:solidFill>
              <a:srgbClr val="00B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3DC37574-652B-4649-93A6-9DF21F99F600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4922703" y="3736412"/>
            <a:ext cx="1113715" cy="0"/>
          </a:xfrm>
          <a:prstGeom prst="line">
            <a:avLst/>
          </a:prstGeom>
          <a:ln w="12700">
            <a:solidFill>
              <a:srgbClr val="00B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7548D8DB-2C06-471B-C902-6275A15F484D}"/>
              </a:ext>
            </a:extLst>
          </p:cNvPr>
          <p:cNvCxnSpPr>
            <a:cxnSpLocks/>
            <a:stCxn id="68" idx="3"/>
            <a:endCxn id="64" idx="1"/>
          </p:cNvCxnSpPr>
          <p:nvPr/>
        </p:nvCxnSpPr>
        <p:spPr>
          <a:xfrm>
            <a:off x="6828418" y="3736412"/>
            <a:ext cx="1113715" cy="0"/>
          </a:xfrm>
          <a:prstGeom prst="line">
            <a:avLst/>
          </a:prstGeom>
          <a:ln w="12700">
            <a:solidFill>
              <a:srgbClr val="00B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27F2C0E6-E98D-8D0E-D2AA-3561A2016851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8733575" y="3736412"/>
            <a:ext cx="913133" cy="0"/>
          </a:xfrm>
          <a:prstGeom prst="line">
            <a:avLst/>
          </a:prstGeom>
          <a:ln w="12700">
            <a:solidFill>
              <a:srgbClr val="00B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7B44997-395D-DB4E-80FA-9996A2ED2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4130703" y="3340412"/>
            <a:ext cx="792000" cy="792000"/>
            <a:chOff x="4227422" y="5189250"/>
            <a:chExt cx="328528" cy="328528"/>
          </a:xfrm>
          <a:solidFill>
            <a:schemeClr val="tx1"/>
          </a:solidFill>
        </p:grpSpPr>
        <p:sp>
          <p:nvSpPr>
            <p:cNvPr id="3" name="Freihandform 1367">
              <a:extLst>
                <a:ext uri="{FF2B5EF4-FFF2-40B4-BE49-F238E27FC236}">
                  <a16:creationId xmlns:a16="http://schemas.microsoft.com/office/drawing/2014/main" id="{A8B320F3-7912-E8BC-C4D0-B23547C856A9}"/>
                </a:ext>
              </a:extLst>
            </p:cNvPr>
            <p:cNvSpPr/>
            <p:nvPr/>
          </p:nvSpPr>
          <p:spPr>
            <a:xfrm>
              <a:off x="4227422" y="5189250"/>
              <a:ext cx="328528" cy="3285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2" h="1412">
                  <a:moveTo>
                    <a:pt x="705" y="1376"/>
                  </a:moveTo>
                  <a:cubicBezTo>
                    <a:pt x="336" y="1376"/>
                    <a:pt x="36" y="1075"/>
                    <a:pt x="36" y="705"/>
                  </a:cubicBezTo>
                  <a:cubicBezTo>
                    <a:pt x="36" y="337"/>
                    <a:pt x="336" y="36"/>
                    <a:pt x="705" y="36"/>
                  </a:cubicBezTo>
                  <a:cubicBezTo>
                    <a:pt x="1075" y="36"/>
                    <a:pt x="1376" y="337"/>
                    <a:pt x="1376" y="705"/>
                  </a:cubicBezTo>
                  <a:cubicBezTo>
                    <a:pt x="1376" y="1075"/>
                    <a:pt x="1075" y="1376"/>
                    <a:pt x="705" y="1376"/>
                  </a:cubicBezTo>
                  <a:close/>
                  <a:moveTo>
                    <a:pt x="705" y="0"/>
                  </a:moveTo>
                  <a:cubicBezTo>
                    <a:pt x="317" y="0"/>
                    <a:pt x="0" y="318"/>
                    <a:pt x="0" y="705"/>
                  </a:cubicBezTo>
                  <a:cubicBezTo>
                    <a:pt x="0" y="1094"/>
                    <a:pt x="317" y="1412"/>
                    <a:pt x="705" y="1412"/>
                  </a:cubicBezTo>
                  <a:cubicBezTo>
                    <a:pt x="1094" y="1412"/>
                    <a:pt x="1412" y="1094"/>
                    <a:pt x="1412" y="705"/>
                  </a:cubicBezTo>
                  <a:cubicBezTo>
                    <a:pt x="1412" y="318"/>
                    <a:pt x="1094" y="0"/>
                    <a:pt x="705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" name="Freihandform 1368">
              <a:extLst>
                <a:ext uri="{FF2B5EF4-FFF2-40B4-BE49-F238E27FC236}">
                  <a16:creationId xmlns:a16="http://schemas.microsoft.com/office/drawing/2014/main" id="{A18A69DE-C1B8-22F4-1E09-4E43C1F7CAEA}"/>
                </a:ext>
              </a:extLst>
            </p:cNvPr>
            <p:cNvSpPr/>
            <p:nvPr/>
          </p:nvSpPr>
          <p:spPr>
            <a:xfrm>
              <a:off x="4375737" y="5378078"/>
              <a:ext cx="32364" cy="3283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0" h="142">
                  <a:moveTo>
                    <a:pt x="70" y="106"/>
                  </a:moveTo>
                  <a:cubicBezTo>
                    <a:pt x="51" y="106"/>
                    <a:pt x="34" y="91"/>
                    <a:pt x="34" y="72"/>
                  </a:cubicBezTo>
                  <a:cubicBezTo>
                    <a:pt x="34" y="51"/>
                    <a:pt x="51" y="36"/>
                    <a:pt x="70" y="36"/>
                  </a:cubicBezTo>
                  <a:cubicBezTo>
                    <a:pt x="89" y="36"/>
                    <a:pt x="106" y="51"/>
                    <a:pt x="106" y="72"/>
                  </a:cubicBezTo>
                  <a:cubicBezTo>
                    <a:pt x="106" y="91"/>
                    <a:pt x="89" y="106"/>
                    <a:pt x="70" y="106"/>
                  </a:cubicBezTo>
                  <a:close/>
                  <a:moveTo>
                    <a:pt x="70" y="0"/>
                  </a:moveTo>
                  <a:cubicBezTo>
                    <a:pt x="30" y="0"/>
                    <a:pt x="0" y="32"/>
                    <a:pt x="0" y="72"/>
                  </a:cubicBezTo>
                  <a:cubicBezTo>
                    <a:pt x="0" y="110"/>
                    <a:pt x="30" y="142"/>
                    <a:pt x="70" y="142"/>
                  </a:cubicBezTo>
                  <a:cubicBezTo>
                    <a:pt x="108" y="142"/>
                    <a:pt x="140" y="110"/>
                    <a:pt x="140" y="72"/>
                  </a:cubicBezTo>
                  <a:cubicBezTo>
                    <a:pt x="140" y="32"/>
                    <a:pt x="108" y="0"/>
                    <a:pt x="70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" name="Freihandform 1369">
              <a:extLst>
                <a:ext uri="{FF2B5EF4-FFF2-40B4-BE49-F238E27FC236}">
                  <a16:creationId xmlns:a16="http://schemas.microsoft.com/office/drawing/2014/main" id="{A0B70B40-A855-D330-296B-84A066A85172}"/>
                </a:ext>
              </a:extLst>
            </p:cNvPr>
            <p:cNvSpPr/>
            <p:nvPr/>
          </p:nvSpPr>
          <p:spPr>
            <a:xfrm>
              <a:off x="4375271" y="5296121"/>
              <a:ext cx="32830" cy="7380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2" h="318">
                  <a:moveTo>
                    <a:pt x="106" y="34"/>
                  </a:moveTo>
                  <a:lnTo>
                    <a:pt x="97" y="282"/>
                  </a:lnTo>
                  <a:lnTo>
                    <a:pt x="44" y="282"/>
                  </a:lnTo>
                  <a:lnTo>
                    <a:pt x="36" y="34"/>
                  </a:lnTo>
                  <a:close/>
                  <a:moveTo>
                    <a:pt x="25" y="318"/>
                  </a:moveTo>
                  <a:lnTo>
                    <a:pt x="114" y="318"/>
                  </a:lnTo>
                  <a:cubicBezTo>
                    <a:pt x="125" y="318"/>
                    <a:pt x="131" y="309"/>
                    <a:pt x="131" y="301"/>
                  </a:cubicBezTo>
                  <a:lnTo>
                    <a:pt x="142" y="17"/>
                  </a:lnTo>
                  <a:cubicBezTo>
                    <a:pt x="142" y="13"/>
                    <a:pt x="140" y="9"/>
                    <a:pt x="135" y="5"/>
                  </a:cubicBezTo>
                  <a:cubicBezTo>
                    <a:pt x="133" y="3"/>
                    <a:pt x="129" y="0"/>
                    <a:pt x="123" y="0"/>
                  </a:cubicBezTo>
                  <a:lnTo>
                    <a:pt x="17" y="0"/>
                  </a:lnTo>
                  <a:cubicBezTo>
                    <a:pt x="13" y="0"/>
                    <a:pt x="8" y="3"/>
                    <a:pt x="4" y="5"/>
                  </a:cubicBezTo>
                  <a:cubicBezTo>
                    <a:pt x="2" y="9"/>
                    <a:pt x="0" y="13"/>
                    <a:pt x="0" y="17"/>
                  </a:cubicBezTo>
                  <a:lnTo>
                    <a:pt x="8" y="301"/>
                  </a:lnTo>
                  <a:cubicBezTo>
                    <a:pt x="8" y="309"/>
                    <a:pt x="17" y="318"/>
                    <a:pt x="25" y="31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7" name="Freihandform 1370">
              <a:extLst>
                <a:ext uri="{FF2B5EF4-FFF2-40B4-BE49-F238E27FC236}">
                  <a16:creationId xmlns:a16="http://schemas.microsoft.com/office/drawing/2014/main" id="{52528029-6D1C-ED36-EA57-00B6AF61AB85}"/>
                </a:ext>
              </a:extLst>
            </p:cNvPr>
            <p:cNvSpPr/>
            <p:nvPr/>
          </p:nvSpPr>
          <p:spPr>
            <a:xfrm>
              <a:off x="4292848" y="5255142"/>
              <a:ext cx="196977" cy="1967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7" h="846">
                  <a:moveTo>
                    <a:pt x="722" y="481"/>
                  </a:moveTo>
                  <a:cubicBezTo>
                    <a:pt x="716" y="485"/>
                    <a:pt x="714" y="496"/>
                    <a:pt x="718" y="502"/>
                  </a:cubicBezTo>
                  <a:lnTo>
                    <a:pt x="762" y="589"/>
                  </a:lnTo>
                  <a:lnTo>
                    <a:pt x="669" y="608"/>
                  </a:lnTo>
                  <a:cubicBezTo>
                    <a:pt x="661" y="608"/>
                    <a:pt x="654" y="617"/>
                    <a:pt x="654" y="625"/>
                  </a:cubicBezTo>
                  <a:lnTo>
                    <a:pt x="659" y="725"/>
                  </a:lnTo>
                  <a:lnTo>
                    <a:pt x="565" y="697"/>
                  </a:lnTo>
                  <a:cubicBezTo>
                    <a:pt x="557" y="695"/>
                    <a:pt x="549" y="699"/>
                    <a:pt x="544" y="708"/>
                  </a:cubicBezTo>
                  <a:lnTo>
                    <a:pt x="508" y="799"/>
                  </a:lnTo>
                  <a:lnTo>
                    <a:pt x="436" y="733"/>
                  </a:lnTo>
                  <a:cubicBezTo>
                    <a:pt x="430" y="729"/>
                    <a:pt x="419" y="729"/>
                    <a:pt x="413" y="733"/>
                  </a:cubicBezTo>
                  <a:lnTo>
                    <a:pt x="341" y="799"/>
                  </a:lnTo>
                  <a:lnTo>
                    <a:pt x="303" y="708"/>
                  </a:lnTo>
                  <a:cubicBezTo>
                    <a:pt x="301" y="701"/>
                    <a:pt x="295" y="697"/>
                    <a:pt x="286" y="697"/>
                  </a:cubicBezTo>
                  <a:cubicBezTo>
                    <a:pt x="286" y="697"/>
                    <a:pt x="284" y="697"/>
                    <a:pt x="282" y="697"/>
                  </a:cubicBezTo>
                  <a:lnTo>
                    <a:pt x="191" y="725"/>
                  </a:lnTo>
                  <a:lnTo>
                    <a:pt x="195" y="625"/>
                  </a:lnTo>
                  <a:cubicBezTo>
                    <a:pt x="195" y="617"/>
                    <a:pt x="189" y="608"/>
                    <a:pt x="180" y="608"/>
                  </a:cubicBezTo>
                  <a:lnTo>
                    <a:pt x="85" y="589"/>
                  </a:lnTo>
                  <a:lnTo>
                    <a:pt x="132" y="502"/>
                  </a:lnTo>
                  <a:cubicBezTo>
                    <a:pt x="136" y="496"/>
                    <a:pt x="134" y="485"/>
                    <a:pt x="127" y="481"/>
                  </a:cubicBezTo>
                  <a:lnTo>
                    <a:pt x="49" y="422"/>
                  </a:lnTo>
                  <a:lnTo>
                    <a:pt x="127" y="365"/>
                  </a:lnTo>
                  <a:cubicBezTo>
                    <a:pt x="134" y="358"/>
                    <a:pt x="136" y="350"/>
                    <a:pt x="132" y="342"/>
                  </a:cubicBezTo>
                  <a:lnTo>
                    <a:pt x="85" y="255"/>
                  </a:lnTo>
                  <a:lnTo>
                    <a:pt x="180" y="238"/>
                  </a:lnTo>
                  <a:cubicBezTo>
                    <a:pt x="189" y="236"/>
                    <a:pt x="195" y="229"/>
                    <a:pt x="195" y="219"/>
                  </a:cubicBezTo>
                  <a:lnTo>
                    <a:pt x="191" y="121"/>
                  </a:lnTo>
                  <a:lnTo>
                    <a:pt x="282" y="147"/>
                  </a:lnTo>
                  <a:cubicBezTo>
                    <a:pt x="290" y="149"/>
                    <a:pt x="301" y="145"/>
                    <a:pt x="303" y="136"/>
                  </a:cubicBezTo>
                  <a:lnTo>
                    <a:pt x="341" y="47"/>
                  </a:lnTo>
                  <a:lnTo>
                    <a:pt x="413" y="111"/>
                  </a:lnTo>
                  <a:cubicBezTo>
                    <a:pt x="419" y="117"/>
                    <a:pt x="430" y="117"/>
                    <a:pt x="436" y="111"/>
                  </a:cubicBezTo>
                  <a:lnTo>
                    <a:pt x="508" y="47"/>
                  </a:lnTo>
                  <a:lnTo>
                    <a:pt x="544" y="136"/>
                  </a:lnTo>
                  <a:cubicBezTo>
                    <a:pt x="549" y="145"/>
                    <a:pt x="557" y="149"/>
                    <a:pt x="565" y="147"/>
                  </a:cubicBezTo>
                  <a:lnTo>
                    <a:pt x="659" y="121"/>
                  </a:lnTo>
                  <a:lnTo>
                    <a:pt x="654" y="219"/>
                  </a:lnTo>
                  <a:cubicBezTo>
                    <a:pt x="654" y="229"/>
                    <a:pt x="661" y="236"/>
                    <a:pt x="669" y="238"/>
                  </a:cubicBezTo>
                  <a:lnTo>
                    <a:pt x="762" y="255"/>
                  </a:lnTo>
                  <a:lnTo>
                    <a:pt x="718" y="342"/>
                  </a:lnTo>
                  <a:cubicBezTo>
                    <a:pt x="714" y="350"/>
                    <a:pt x="716" y="358"/>
                    <a:pt x="722" y="365"/>
                  </a:cubicBezTo>
                  <a:lnTo>
                    <a:pt x="800" y="422"/>
                  </a:lnTo>
                  <a:close/>
                  <a:moveTo>
                    <a:pt x="756" y="346"/>
                  </a:moveTo>
                  <a:lnTo>
                    <a:pt x="805" y="251"/>
                  </a:lnTo>
                  <a:cubicBezTo>
                    <a:pt x="809" y="246"/>
                    <a:pt x="809" y="240"/>
                    <a:pt x="807" y="234"/>
                  </a:cubicBezTo>
                  <a:cubicBezTo>
                    <a:pt x="803" y="229"/>
                    <a:pt x="798" y="225"/>
                    <a:pt x="794" y="225"/>
                  </a:cubicBezTo>
                  <a:lnTo>
                    <a:pt x="690" y="206"/>
                  </a:lnTo>
                  <a:lnTo>
                    <a:pt x="695" y="98"/>
                  </a:lnTo>
                  <a:cubicBezTo>
                    <a:pt x="695" y="92"/>
                    <a:pt x="692" y="88"/>
                    <a:pt x="688" y="83"/>
                  </a:cubicBezTo>
                  <a:cubicBezTo>
                    <a:pt x="684" y="79"/>
                    <a:pt x="678" y="79"/>
                    <a:pt x="673" y="81"/>
                  </a:cubicBezTo>
                  <a:lnTo>
                    <a:pt x="572" y="109"/>
                  </a:lnTo>
                  <a:lnTo>
                    <a:pt x="532" y="9"/>
                  </a:lnTo>
                  <a:cubicBezTo>
                    <a:pt x="530" y="5"/>
                    <a:pt x="523" y="1"/>
                    <a:pt x="519" y="1"/>
                  </a:cubicBezTo>
                  <a:cubicBezTo>
                    <a:pt x="513" y="-1"/>
                    <a:pt x="506" y="1"/>
                    <a:pt x="502" y="3"/>
                  </a:cubicBezTo>
                  <a:lnTo>
                    <a:pt x="424" y="75"/>
                  </a:lnTo>
                  <a:lnTo>
                    <a:pt x="345" y="3"/>
                  </a:lnTo>
                  <a:cubicBezTo>
                    <a:pt x="341" y="1"/>
                    <a:pt x="335" y="-1"/>
                    <a:pt x="331" y="1"/>
                  </a:cubicBezTo>
                  <a:cubicBezTo>
                    <a:pt x="324" y="1"/>
                    <a:pt x="320" y="5"/>
                    <a:pt x="318" y="9"/>
                  </a:cubicBezTo>
                  <a:lnTo>
                    <a:pt x="278" y="109"/>
                  </a:lnTo>
                  <a:lnTo>
                    <a:pt x="176" y="81"/>
                  </a:lnTo>
                  <a:cubicBezTo>
                    <a:pt x="172" y="79"/>
                    <a:pt x="165" y="79"/>
                    <a:pt x="161" y="83"/>
                  </a:cubicBezTo>
                  <a:cubicBezTo>
                    <a:pt x="157" y="88"/>
                    <a:pt x="153" y="92"/>
                    <a:pt x="153" y="98"/>
                  </a:cubicBezTo>
                  <a:lnTo>
                    <a:pt x="159" y="206"/>
                  </a:lnTo>
                  <a:lnTo>
                    <a:pt x="55" y="225"/>
                  </a:lnTo>
                  <a:cubicBezTo>
                    <a:pt x="51" y="225"/>
                    <a:pt x="45" y="229"/>
                    <a:pt x="43" y="234"/>
                  </a:cubicBezTo>
                  <a:cubicBezTo>
                    <a:pt x="41" y="240"/>
                    <a:pt x="41" y="246"/>
                    <a:pt x="43" y="251"/>
                  </a:cubicBezTo>
                  <a:lnTo>
                    <a:pt x="93" y="346"/>
                  </a:lnTo>
                  <a:lnTo>
                    <a:pt x="9" y="409"/>
                  </a:lnTo>
                  <a:cubicBezTo>
                    <a:pt x="5" y="411"/>
                    <a:pt x="0" y="418"/>
                    <a:pt x="0" y="422"/>
                  </a:cubicBezTo>
                  <a:cubicBezTo>
                    <a:pt x="0" y="428"/>
                    <a:pt x="5" y="433"/>
                    <a:pt x="9" y="437"/>
                  </a:cubicBezTo>
                  <a:lnTo>
                    <a:pt x="93" y="500"/>
                  </a:lnTo>
                  <a:lnTo>
                    <a:pt x="43" y="596"/>
                  </a:lnTo>
                  <a:cubicBezTo>
                    <a:pt x="41" y="600"/>
                    <a:pt x="41" y="606"/>
                    <a:pt x="43" y="610"/>
                  </a:cubicBezTo>
                  <a:cubicBezTo>
                    <a:pt x="45" y="617"/>
                    <a:pt x="51" y="619"/>
                    <a:pt x="55" y="621"/>
                  </a:cubicBezTo>
                  <a:lnTo>
                    <a:pt x="159" y="640"/>
                  </a:lnTo>
                  <a:lnTo>
                    <a:pt x="153" y="748"/>
                  </a:lnTo>
                  <a:cubicBezTo>
                    <a:pt x="153" y="752"/>
                    <a:pt x="157" y="759"/>
                    <a:pt x="161" y="763"/>
                  </a:cubicBezTo>
                  <a:cubicBezTo>
                    <a:pt x="165" y="765"/>
                    <a:pt x="172" y="767"/>
                    <a:pt x="176" y="765"/>
                  </a:cubicBezTo>
                  <a:lnTo>
                    <a:pt x="278" y="737"/>
                  </a:lnTo>
                  <a:lnTo>
                    <a:pt x="318" y="835"/>
                  </a:lnTo>
                  <a:cubicBezTo>
                    <a:pt x="320" y="841"/>
                    <a:pt x="324" y="845"/>
                    <a:pt x="331" y="845"/>
                  </a:cubicBezTo>
                  <a:cubicBezTo>
                    <a:pt x="335" y="847"/>
                    <a:pt x="341" y="845"/>
                    <a:pt x="345" y="841"/>
                  </a:cubicBezTo>
                  <a:lnTo>
                    <a:pt x="424" y="771"/>
                  </a:lnTo>
                  <a:lnTo>
                    <a:pt x="502" y="841"/>
                  </a:lnTo>
                  <a:cubicBezTo>
                    <a:pt x="506" y="845"/>
                    <a:pt x="510" y="845"/>
                    <a:pt x="515" y="845"/>
                  </a:cubicBezTo>
                  <a:cubicBezTo>
                    <a:pt x="517" y="845"/>
                    <a:pt x="517" y="845"/>
                    <a:pt x="519" y="845"/>
                  </a:cubicBezTo>
                  <a:cubicBezTo>
                    <a:pt x="523" y="845"/>
                    <a:pt x="530" y="841"/>
                    <a:pt x="532" y="835"/>
                  </a:cubicBezTo>
                  <a:lnTo>
                    <a:pt x="572" y="737"/>
                  </a:lnTo>
                  <a:lnTo>
                    <a:pt x="673" y="765"/>
                  </a:lnTo>
                  <a:cubicBezTo>
                    <a:pt x="678" y="767"/>
                    <a:pt x="684" y="765"/>
                    <a:pt x="688" y="763"/>
                  </a:cubicBezTo>
                  <a:cubicBezTo>
                    <a:pt x="692" y="759"/>
                    <a:pt x="695" y="752"/>
                    <a:pt x="695" y="748"/>
                  </a:cubicBezTo>
                  <a:lnTo>
                    <a:pt x="690" y="640"/>
                  </a:lnTo>
                  <a:lnTo>
                    <a:pt x="794" y="621"/>
                  </a:lnTo>
                  <a:cubicBezTo>
                    <a:pt x="798" y="619"/>
                    <a:pt x="803" y="617"/>
                    <a:pt x="807" y="610"/>
                  </a:cubicBezTo>
                  <a:cubicBezTo>
                    <a:pt x="809" y="606"/>
                    <a:pt x="809" y="600"/>
                    <a:pt x="805" y="596"/>
                  </a:cubicBezTo>
                  <a:lnTo>
                    <a:pt x="756" y="500"/>
                  </a:lnTo>
                  <a:lnTo>
                    <a:pt x="841" y="437"/>
                  </a:lnTo>
                  <a:cubicBezTo>
                    <a:pt x="845" y="433"/>
                    <a:pt x="847" y="428"/>
                    <a:pt x="847" y="422"/>
                  </a:cubicBezTo>
                  <a:cubicBezTo>
                    <a:pt x="847" y="418"/>
                    <a:pt x="845" y="411"/>
                    <a:pt x="841" y="40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797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2025 möglich macht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2400" b="1" dirty="0" err="1"/>
              <a:t>Agenten</a:t>
            </a:r>
            <a:r>
              <a:rPr dirty="0"/>
              <a:t>  – 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Schritte</a:t>
            </a:r>
            <a:r>
              <a:rPr dirty="0"/>
              <a:t> </a:t>
            </a:r>
            <a:r>
              <a:rPr dirty="0" err="1"/>
              <a:t>selbstständig</a:t>
            </a:r>
            <a:endParaRPr dirty="0"/>
          </a:p>
          <a:p>
            <a:pPr>
              <a:spcAft>
                <a:spcPts val="400"/>
              </a:spcAft>
            </a:pPr>
            <a:r>
              <a:rPr sz="2400" b="1" dirty="0"/>
              <a:t>Skills</a:t>
            </a:r>
            <a:r>
              <a:rPr dirty="0"/>
              <a:t>  –  </a:t>
            </a:r>
            <a:r>
              <a:rPr dirty="0" err="1"/>
              <a:t>Wiederverwendbare</a:t>
            </a:r>
            <a:r>
              <a:rPr dirty="0"/>
              <a:t> Fähigkeiten</a:t>
            </a:r>
          </a:p>
          <a:p>
            <a:pPr>
              <a:spcAft>
                <a:spcPts val="400"/>
              </a:spcAft>
            </a:pPr>
            <a:r>
              <a:rPr sz="2400" b="1" dirty="0"/>
              <a:t>Tools</a:t>
            </a:r>
            <a:r>
              <a:rPr dirty="0"/>
              <a:t>  –  </a:t>
            </a:r>
            <a:r>
              <a:rPr dirty="0" err="1"/>
              <a:t>Zugriff</a:t>
            </a:r>
            <a:r>
              <a:rPr dirty="0"/>
              <a:t> auf </a:t>
            </a:r>
            <a:r>
              <a:rPr dirty="0" err="1"/>
              <a:t>echte</a:t>
            </a:r>
            <a:r>
              <a:rPr dirty="0"/>
              <a:t> Systeme</a:t>
            </a:r>
          </a:p>
          <a:p>
            <a:pPr>
              <a:spcAft>
                <a:spcPts val="400"/>
              </a:spcAft>
            </a:pPr>
            <a:r>
              <a:rPr sz="2400" b="1" dirty="0"/>
              <a:t>MCP</a:t>
            </a:r>
            <a:r>
              <a:rPr dirty="0"/>
              <a:t>  –  </a:t>
            </a:r>
            <a:r>
              <a:rPr dirty="0" err="1"/>
              <a:t>Standardprotokoll</a:t>
            </a:r>
            <a:r>
              <a:rPr dirty="0"/>
              <a:t> für Integration</a:t>
            </a:r>
          </a:p>
          <a:p>
            <a:pPr>
              <a:spcAft>
                <a:spcPts val="400"/>
              </a:spcAft>
            </a:pPr>
            <a:r>
              <a:rPr sz="2400" b="1" dirty="0" err="1"/>
              <a:t>Kontext</a:t>
            </a:r>
            <a:r>
              <a:rPr dirty="0"/>
              <a:t>  –  </a:t>
            </a:r>
            <a:r>
              <a:rPr dirty="0" err="1"/>
              <a:t>Größere</a:t>
            </a:r>
            <a:r>
              <a:rPr dirty="0"/>
              <a:t> </a:t>
            </a:r>
            <a:r>
              <a:rPr dirty="0" err="1"/>
              <a:t>Wissensbasis</a:t>
            </a:r>
            <a:endParaRPr dirty="0"/>
          </a:p>
          <a:p>
            <a:pPr>
              <a:spcAft>
                <a:spcPts val="400"/>
              </a:spcAft>
            </a:pPr>
            <a:r>
              <a:rPr sz="2400" b="1" dirty="0"/>
              <a:t>Reasoning</a:t>
            </a:r>
            <a:r>
              <a:rPr dirty="0"/>
              <a:t>  –  </a:t>
            </a:r>
            <a:r>
              <a:rPr dirty="0" err="1"/>
              <a:t>Explizites</a:t>
            </a:r>
            <a:r>
              <a:rPr dirty="0"/>
              <a:t> </a:t>
            </a:r>
            <a:r>
              <a:rPr dirty="0" err="1"/>
              <a:t>Nachdenken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Bausteine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1" dirty="0"/>
              <a:t>MCP – Model Context Protocol</a:t>
            </a:r>
          </a:p>
          <a:p>
            <a:pPr lvl="1"/>
            <a:r>
              <a:rPr sz="1300" dirty="0"/>
              <a:t>Ein </a:t>
            </a:r>
            <a:r>
              <a:rPr sz="1300" dirty="0" err="1"/>
              <a:t>einheitliches</a:t>
            </a:r>
            <a:r>
              <a:rPr sz="1300" dirty="0"/>
              <a:t> </a:t>
            </a:r>
            <a:r>
              <a:rPr sz="1300" dirty="0" err="1"/>
              <a:t>Protokoll</a:t>
            </a:r>
            <a:r>
              <a:rPr sz="1300" dirty="0"/>
              <a:t> für alle </a:t>
            </a:r>
            <a:r>
              <a:rPr sz="1300" dirty="0" err="1"/>
              <a:t>Integrationen</a:t>
            </a:r>
            <a:endParaRPr sz="1300" dirty="0"/>
          </a:p>
          <a:p>
            <a:pPr lvl="1"/>
            <a:r>
              <a:rPr sz="1300" dirty="0" err="1"/>
              <a:t>Offener</a:t>
            </a:r>
            <a:r>
              <a:rPr sz="1300" dirty="0"/>
              <a:t> Standard von Anthropic</a:t>
            </a:r>
          </a:p>
          <a:p>
            <a:pPr lvl="1"/>
            <a:r>
              <a:rPr sz="1300" dirty="0"/>
              <a:t>Wir </a:t>
            </a:r>
            <a:r>
              <a:rPr sz="1300" dirty="0" err="1"/>
              <a:t>nutzen</a:t>
            </a:r>
            <a:r>
              <a:rPr sz="1300" dirty="0"/>
              <a:t> es für: Jira, GitHub, Confluence</a:t>
            </a:r>
          </a:p>
          <a:p>
            <a:pPr>
              <a:spcBef>
                <a:spcPts val="1200"/>
              </a:spcBef>
            </a:pPr>
            <a:r>
              <a:rPr sz="1600" b="1" dirty="0" err="1"/>
              <a:t>Kontext</a:t>
            </a:r>
            <a:endParaRPr sz="1600" b="1" dirty="0"/>
          </a:p>
          <a:p>
            <a:pPr lvl="1"/>
            <a:r>
              <a:rPr sz="1300" dirty="0" err="1"/>
              <a:t>Früher</a:t>
            </a:r>
            <a:r>
              <a:rPr sz="1300" dirty="0"/>
              <a:t>: 4K–8K Tokens (1 </a:t>
            </a:r>
            <a:r>
              <a:rPr sz="1300" dirty="0" err="1"/>
              <a:t>Seite</a:t>
            </a:r>
            <a:r>
              <a:rPr sz="1300" dirty="0"/>
              <a:t>)</a:t>
            </a:r>
          </a:p>
          <a:p>
            <a:pPr lvl="1"/>
            <a:r>
              <a:rPr sz="1300" dirty="0"/>
              <a:t>Heute: 200K+ Tokens (150 Seiten)</a:t>
            </a:r>
          </a:p>
          <a:p>
            <a:pPr lvl="1"/>
            <a:r>
              <a:rPr sz="1300" dirty="0"/>
              <a:t>AI </a:t>
            </a:r>
            <a:r>
              <a:rPr sz="1300" dirty="0" err="1"/>
              <a:t>kennt</a:t>
            </a:r>
            <a:r>
              <a:rPr sz="1300" dirty="0"/>
              <a:t> den </a:t>
            </a:r>
            <a:r>
              <a:rPr sz="1300" dirty="0" err="1"/>
              <a:t>ganzen</a:t>
            </a:r>
            <a:r>
              <a:rPr sz="1300" dirty="0"/>
              <a:t> </a:t>
            </a:r>
            <a:r>
              <a:rPr sz="1300" dirty="0" err="1"/>
              <a:t>Kontext</a:t>
            </a:r>
            <a:endParaRPr sz="1300" dirty="0"/>
          </a:p>
          <a:p>
            <a:pPr>
              <a:spcBef>
                <a:spcPts val="1200"/>
              </a:spcBef>
            </a:pPr>
            <a:r>
              <a:rPr sz="1600" b="1" dirty="0"/>
              <a:t>Reasoning</a:t>
            </a:r>
          </a:p>
          <a:p>
            <a:pPr lvl="1"/>
            <a:r>
              <a:rPr sz="1300" dirty="0" err="1"/>
              <a:t>Früher</a:t>
            </a:r>
            <a:r>
              <a:rPr sz="1300" dirty="0"/>
              <a:t>: </a:t>
            </a:r>
            <a:r>
              <a:rPr sz="1300" dirty="0" err="1"/>
              <a:t>Direkte</a:t>
            </a:r>
            <a:r>
              <a:rPr sz="1300" dirty="0"/>
              <a:t> </a:t>
            </a:r>
            <a:r>
              <a:rPr sz="1300" dirty="0" err="1"/>
              <a:t>Antwort</a:t>
            </a:r>
            <a:endParaRPr sz="1300" dirty="0"/>
          </a:p>
          <a:p>
            <a:pPr lvl="1"/>
            <a:r>
              <a:rPr sz="1300" dirty="0"/>
              <a:t>Heute: Extended Thinking</a:t>
            </a:r>
          </a:p>
          <a:p>
            <a:pPr lvl="1"/>
            <a:r>
              <a:rPr sz="1300" dirty="0" err="1"/>
              <a:t>Bessere</a:t>
            </a:r>
            <a:r>
              <a:rPr sz="1300" dirty="0"/>
              <a:t> </a:t>
            </a:r>
            <a:r>
              <a:rPr sz="1300" dirty="0" err="1"/>
              <a:t>Ergebnisse</a:t>
            </a:r>
            <a:r>
              <a:rPr sz="1300" dirty="0"/>
              <a:t> </a:t>
            </a:r>
            <a:r>
              <a:rPr sz="1300" dirty="0" err="1"/>
              <a:t>bei</a:t>
            </a:r>
            <a:r>
              <a:rPr sz="1300" dirty="0"/>
              <a:t> </a:t>
            </a:r>
            <a:r>
              <a:rPr sz="1300" dirty="0" err="1"/>
              <a:t>komplexen</a:t>
            </a:r>
            <a:r>
              <a:rPr sz="1300" dirty="0"/>
              <a:t> </a:t>
            </a:r>
            <a:r>
              <a:rPr sz="1300" dirty="0" err="1"/>
              <a:t>Fragen</a:t>
            </a:r>
            <a:endParaRPr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Unser Setup: </a:t>
            </a:r>
            <a:r>
              <a:rPr dirty="0">
                <a:solidFill>
                  <a:srgbClr val="00908D"/>
                </a:solidFill>
              </a:rPr>
              <a:t>Claude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b="1" dirty="0"/>
              <a:t>Allianz + Anthropic </a:t>
            </a:r>
            <a:r>
              <a:rPr b="1" dirty="0" err="1"/>
              <a:t>Kooperation</a:t>
            </a:r>
            <a:endParaRPr b="1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 err="1"/>
              <a:t>Datenschutz-Vereinbarung</a:t>
            </a:r>
            <a:r>
              <a:rPr sz="1600" dirty="0"/>
              <a:t>, EU-</a:t>
            </a:r>
            <a:r>
              <a:rPr sz="1600" dirty="0" err="1"/>
              <a:t>Datenverarbeitung</a:t>
            </a:r>
            <a:r>
              <a:rPr lang="en-US" sz="1600" dirty="0"/>
              <a:t>, </a:t>
            </a:r>
            <a:r>
              <a:rPr lang="en-US" sz="1600" dirty="0" err="1"/>
              <a:t>Daten</a:t>
            </a:r>
            <a:r>
              <a:rPr lang="en-US" sz="1600" dirty="0"/>
              <a:t> </a:t>
            </a:r>
            <a:r>
              <a:rPr lang="en-US" sz="1600" dirty="0" err="1"/>
              <a:t>bleiben</a:t>
            </a:r>
            <a:r>
              <a:rPr lang="en-US" sz="1600" dirty="0"/>
              <a:t> </a:t>
            </a:r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Konzern</a:t>
            </a:r>
            <a:endParaRPr sz="1600" dirty="0"/>
          </a:p>
          <a:p>
            <a:pPr>
              <a:spcBef>
                <a:spcPts val="800"/>
              </a:spcBef>
            </a:pPr>
            <a:r>
              <a:rPr b="1" dirty="0"/>
              <a:t>Top-Modelle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Opus 4.6, Sonnet 4.</a:t>
            </a:r>
            <a:r>
              <a:rPr lang="en-US" sz="1600" dirty="0"/>
              <a:t>6</a:t>
            </a:r>
            <a:endParaRPr sz="1600" dirty="0"/>
          </a:p>
          <a:p>
            <a:pPr>
              <a:spcBef>
                <a:spcPts val="800"/>
              </a:spcBef>
            </a:pPr>
            <a:r>
              <a:rPr b="1" dirty="0" err="1"/>
              <a:t>Vollständiges</a:t>
            </a:r>
            <a:r>
              <a:rPr b="1" dirty="0"/>
              <a:t> Tooling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CLI, Desktop-App (Claude </a:t>
            </a:r>
            <a:r>
              <a:rPr sz="1600" dirty="0" err="1"/>
              <a:t>Cowork</a:t>
            </a:r>
            <a:r>
              <a:rPr sz="1600" dirty="0"/>
              <a:t>), MCP-Integration</a:t>
            </a:r>
          </a:p>
          <a:p>
            <a:pPr>
              <a:spcBef>
                <a:spcPts val="800"/>
              </a:spcBef>
            </a:pPr>
            <a:r>
              <a:rPr b="1" dirty="0" err="1"/>
              <a:t>Agenten-Fähig</a:t>
            </a:r>
            <a:endParaRPr b="1" dirty="0"/>
          </a:p>
          <a:p>
            <a:pPr lvl="1">
              <a:buFont typeface="Arial" panose="020B0604020202020204" pitchFamily="34" charset="0"/>
              <a:buChar char="•"/>
            </a:pPr>
            <a:r>
              <a:rPr sz="1600" dirty="0"/>
              <a:t>Multi-Step-Reasoning, Tool-</a:t>
            </a:r>
            <a:r>
              <a:rPr sz="1600" dirty="0" err="1"/>
              <a:t>Nutzung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sz="1600" dirty="0"/>
          </a:p>
          <a:p>
            <a:pPr>
              <a:spcBef>
                <a:spcPts val="1800"/>
              </a:spcBef>
            </a:pPr>
            <a:r>
              <a:rPr sz="1600" dirty="0" err="1">
                <a:solidFill>
                  <a:srgbClr val="00908D"/>
                </a:solidFill>
              </a:rPr>
              <a:t>Hinweis</a:t>
            </a:r>
            <a:r>
              <a:rPr sz="1600" dirty="0">
                <a:solidFill>
                  <a:srgbClr val="00908D"/>
                </a:solidFill>
              </a:rPr>
              <a:t>: </a:t>
            </a:r>
            <a:r>
              <a:rPr sz="1600" dirty="0" err="1">
                <a:solidFill>
                  <a:srgbClr val="00908D"/>
                </a:solidFill>
              </a:rPr>
              <a:t>Konzepte</a:t>
            </a:r>
            <a:r>
              <a:rPr sz="1600" dirty="0">
                <a:solidFill>
                  <a:srgbClr val="00908D"/>
                </a:solidFill>
              </a:rPr>
              <a:t> </a:t>
            </a:r>
            <a:r>
              <a:rPr sz="1600" dirty="0" err="1">
                <a:solidFill>
                  <a:srgbClr val="00908D"/>
                </a:solidFill>
              </a:rPr>
              <a:t>sind</a:t>
            </a:r>
            <a:r>
              <a:rPr sz="1600" dirty="0">
                <a:solidFill>
                  <a:srgbClr val="00908D"/>
                </a:solidFill>
              </a:rPr>
              <a:t> </a:t>
            </a:r>
            <a:r>
              <a:rPr sz="1600" dirty="0" err="1">
                <a:solidFill>
                  <a:srgbClr val="00908D"/>
                </a:solidFill>
              </a:rPr>
              <a:t>übertragbar</a:t>
            </a:r>
            <a:r>
              <a:rPr sz="1600" dirty="0">
                <a:solidFill>
                  <a:srgbClr val="00908D"/>
                </a:solidFill>
              </a:rPr>
              <a:t> (Codex, Gemini, ...)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9600-F0EE-87D2-17D9-9219B306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1F25EA-8D03-3147-E503-EA27D1EF09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43580" y="6372000"/>
            <a:ext cx="268995" cy="144000"/>
          </a:xfrm>
        </p:spPr>
        <p:txBody>
          <a:bodyPr/>
          <a:lstStyle/>
          <a:p>
            <a:pPr marL="0" marR="0" lvl="0" indent="0" algn="r" defTabSz="914205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96B16C-3F5F-44BC-AFCC-8CBCBD90898D}" type="slidenum">
              <a:rPr kumimoji="0" lang="de-DE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+mn-ea"/>
                <a:cs typeface="+mn-cs"/>
              </a:rPr>
              <a:pPr marL="0" marR="0" lvl="0" indent="0" algn="r" defTabSz="914205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llianz Neo" panose="020B0504020203020204" pitchFamily="34" charset="0"/>
              <a:ea typeface="+mn-ea"/>
              <a:cs typeface="+mn-cs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DEAAEC9-ADBF-1C21-3AC8-1411A01833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88107" y="1363081"/>
            <a:ext cx="4605865" cy="4131838"/>
          </a:xfrm>
        </p:spPr>
        <p:txBody>
          <a:bodyPr/>
          <a:lstStyle/>
          <a:p>
            <a:r>
              <a:rPr lang="en-US" sz="4800" dirty="0"/>
              <a:t>Live</a:t>
            </a:r>
            <a:br>
              <a:rPr lang="en-US" sz="4800" dirty="0"/>
            </a:br>
            <a:r>
              <a:rPr lang="en-US" sz="4800" dirty="0"/>
              <a:t>   </a:t>
            </a:r>
            <a:r>
              <a:rPr lang="en-US" sz="4800" dirty="0">
                <a:solidFill>
                  <a:srgbClr val="00908D"/>
                </a:solidFill>
              </a:rPr>
              <a:t>Demo</a:t>
            </a:r>
          </a:p>
          <a:p>
            <a:pPr lvl="1"/>
            <a:r>
              <a:rPr lang="de-DE" dirty="0"/>
              <a:t>Szenarien aus dem Architekten-Alltag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1A35695-67D3-C27F-A292-3F2C086D82C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4" r="10404"/>
          <a:stretch>
            <a:fillRect/>
          </a:stretch>
        </p:blipFill>
        <p:spPr/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3FF3A20-729C-6725-5509-5274BBDEFBAC}"/>
              </a:ext>
            </a:extLst>
          </p:cNvPr>
          <p:cNvSpPr txBox="1"/>
          <p:nvPr/>
        </p:nvSpPr>
        <p:spPr>
          <a:xfrm>
            <a:off x="7288107" y="3429000"/>
            <a:ext cx="6096000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1. </a:t>
            </a:r>
            <a:r>
              <a:rPr lang="en-US" sz="1400" b="1" dirty="0" err="1"/>
              <a:t>Fachlichkeit</a:t>
            </a:r>
            <a:r>
              <a:rPr lang="en-US" sz="1400" b="1" dirty="0"/>
              <a:t> </a:t>
            </a:r>
            <a:r>
              <a:rPr lang="en-US" sz="1400" b="1" dirty="0" err="1"/>
              <a:t>abfragen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100" dirty="0" err="1"/>
              <a:t>Hunderte</a:t>
            </a:r>
            <a:r>
              <a:rPr lang="en-US" sz="1100" dirty="0"/>
              <a:t> Seiten PDF, </a:t>
            </a:r>
            <a:r>
              <a:rPr lang="en-US" sz="1100" dirty="0" err="1"/>
              <a:t>Dutzende</a:t>
            </a:r>
            <a:r>
              <a:rPr lang="en-US" sz="1100" dirty="0"/>
              <a:t> Confluence-Seiten</a:t>
            </a:r>
          </a:p>
          <a:p>
            <a:r>
              <a:rPr lang="en-US" sz="1100" dirty="0" err="1"/>
              <a:t>Typische</a:t>
            </a:r>
            <a:r>
              <a:rPr lang="en-US" sz="1100" dirty="0"/>
              <a:t> Frage </a:t>
            </a:r>
            <a:r>
              <a:rPr lang="en-US" sz="1100" dirty="0" err="1"/>
              <a:t>kostet</a:t>
            </a:r>
            <a:r>
              <a:rPr lang="en-US" sz="1100" dirty="0"/>
              <a:t> 15–30 Min </a:t>
            </a:r>
            <a:r>
              <a:rPr lang="en-US" sz="1100" dirty="0" err="1"/>
              <a:t>Suche</a:t>
            </a:r>
            <a:endParaRPr lang="en-US" sz="1100" dirty="0"/>
          </a:p>
          <a:p>
            <a:r>
              <a:rPr lang="en-US" sz="1100" dirty="0">
                <a:solidFill>
                  <a:schemeClr val="accent4"/>
                </a:solidFill>
              </a:rPr>
              <a:t>→ AI </a:t>
            </a:r>
            <a:r>
              <a:rPr lang="en-US" sz="1100" dirty="0" err="1">
                <a:solidFill>
                  <a:schemeClr val="accent4"/>
                </a:solidFill>
              </a:rPr>
              <a:t>durchsucht</a:t>
            </a:r>
            <a:r>
              <a:rPr lang="en-US" sz="1100" dirty="0">
                <a:solidFill>
                  <a:schemeClr val="accent4"/>
                </a:solidFill>
              </a:rPr>
              <a:t> </a:t>
            </a:r>
            <a:r>
              <a:rPr lang="en-US" sz="1100" dirty="0" err="1">
                <a:solidFill>
                  <a:schemeClr val="accent4"/>
                </a:solidFill>
              </a:rPr>
              <a:t>Quellen</a:t>
            </a:r>
            <a:r>
              <a:rPr lang="en-US" sz="1100" dirty="0">
                <a:solidFill>
                  <a:schemeClr val="accent4"/>
                </a:solidFill>
              </a:rPr>
              <a:t> parallel, </a:t>
            </a:r>
            <a:r>
              <a:rPr lang="en-US" sz="1100" dirty="0" err="1">
                <a:solidFill>
                  <a:schemeClr val="accent4"/>
                </a:solidFill>
              </a:rPr>
              <a:t>liefert</a:t>
            </a:r>
            <a:r>
              <a:rPr lang="en-US" sz="1100" dirty="0">
                <a:solidFill>
                  <a:schemeClr val="accent4"/>
                </a:solidFill>
              </a:rPr>
              <a:t> </a:t>
            </a:r>
            <a:r>
              <a:rPr lang="en-US" sz="1100" dirty="0" err="1">
                <a:solidFill>
                  <a:schemeClr val="accent4"/>
                </a:solidFill>
              </a:rPr>
              <a:t>Antwort</a:t>
            </a:r>
            <a:r>
              <a:rPr lang="en-US" sz="1100" dirty="0">
                <a:solidFill>
                  <a:schemeClr val="accent4"/>
                </a:solidFill>
              </a:rPr>
              <a:t> </a:t>
            </a:r>
            <a:r>
              <a:rPr lang="en-US" sz="1100" dirty="0" err="1">
                <a:solidFill>
                  <a:schemeClr val="accent4"/>
                </a:solidFill>
              </a:rPr>
              <a:t>mit</a:t>
            </a:r>
            <a:r>
              <a:rPr lang="en-US" sz="1100" dirty="0">
                <a:solidFill>
                  <a:schemeClr val="accent4"/>
                </a:solidFill>
              </a:rPr>
              <a:t> </a:t>
            </a:r>
            <a:r>
              <a:rPr lang="en-US" sz="1100" dirty="0" err="1">
                <a:solidFill>
                  <a:schemeClr val="accent4"/>
                </a:solidFill>
              </a:rPr>
              <a:t>Quellenangaben</a:t>
            </a:r>
            <a:endParaRPr lang="en-US" sz="1100" dirty="0">
              <a:solidFill>
                <a:schemeClr val="accent4"/>
              </a:solidFill>
            </a:endParaRPr>
          </a:p>
          <a:p>
            <a:pPr>
              <a:spcBef>
                <a:spcPts val="1400"/>
              </a:spcBef>
            </a:pPr>
            <a:endParaRPr lang="en-US" sz="1100" dirty="0">
              <a:solidFill>
                <a:srgbClr val="006CB7"/>
              </a:solidFill>
            </a:endParaRPr>
          </a:p>
          <a:p>
            <a:r>
              <a:rPr lang="en-US" sz="1400" b="1" dirty="0"/>
              <a:t>2. </a:t>
            </a:r>
            <a:r>
              <a:rPr lang="en-US" sz="1400" b="1" dirty="0" err="1"/>
              <a:t>Diagramme</a:t>
            </a:r>
            <a:r>
              <a:rPr lang="en-US" sz="1400" b="1" dirty="0"/>
              <a:t> </a:t>
            </a:r>
            <a:r>
              <a:rPr lang="en-US" sz="1400" b="1" dirty="0" err="1"/>
              <a:t>aktuell</a:t>
            </a:r>
            <a:r>
              <a:rPr lang="en-US" sz="1400" b="1" dirty="0"/>
              <a:t> </a:t>
            </a:r>
            <a:r>
              <a:rPr lang="en-US" sz="1400" b="1" dirty="0" err="1"/>
              <a:t>halten</a:t>
            </a:r>
            <a:br>
              <a:rPr lang="en-US" sz="1400" b="1" dirty="0"/>
            </a:br>
            <a:endParaRPr lang="en-US" sz="1400" b="1" dirty="0"/>
          </a:p>
          <a:p>
            <a:r>
              <a:rPr lang="en-US" sz="1100" dirty="0"/>
              <a:t>PowerPoint-</a:t>
            </a:r>
            <a:r>
              <a:rPr lang="en-US" sz="1100" dirty="0" err="1"/>
              <a:t>Diagramme</a:t>
            </a:r>
            <a:r>
              <a:rPr lang="en-US" sz="1100" dirty="0"/>
              <a:t> </a:t>
            </a:r>
            <a:r>
              <a:rPr lang="en-US" sz="1100" dirty="0" err="1"/>
              <a:t>aktuell</a:t>
            </a:r>
            <a:r>
              <a:rPr lang="en-US" sz="1100" dirty="0"/>
              <a:t> </a:t>
            </a:r>
            <a:r>
              <a:rPr lang="en-US" sz="1100" dirty="0" err="1"/>
              <a:t>halten</a:t>
            </a:r>
            <a:r>
              <a:rPr lang="en-US" sz="1100" dirty="0"/>
              <a:t> </a:t>
            </a:r>
            <a:r>
              <a:rPr lang="en-US" sz="1100" dirty="0" err="1"/>
              <a:t>sehr</a:t>
            </a:r>
            <a:r>
              <a:rPr lang="en-US" sz="1100" dirty="0"/>
              <a:t> </a:t>
            </a:r>
            <a:r>
              <a:rPr lang="en-US" sz="1100" dirty="0" err="1"/>
              <a:t>aufwändig</a:t>
            </a:r>
            <a:endParaRPr lang="en-US" sz="1100" dirty="0"/>
          </a:p>
          <a:p>
            <a:r>
              <a:rPr lang="en-US" sz="1100" dirty="0">
                <a:solidFill>
                  <a:schemeClr val="accent4"/>
                </a:solidFill>
              </a:rPr>
              <a:t>→ </a:t>
            </a:r>
            <a:r>
              <a:rPr lang="en-US" sz="1100" dirty="0" err="1">
                <a:solidFill>
                  <a:schemeClr val="accent4"/>
                </a:solidFill>
              </a:rPr>
              <a:t>Diagramme</a:t>
            </a:r>
            <a:r>
              <a:rPr lang="en-US" sz="1100" dirty="0">
                <a:solidFill>
                  <a:schemeClr val="accent4"/>
                </a:solidFill>
              </a:rPr>
              <a:t> </a:t>
            </a:r>
            <a:r>
              <a:rPr lang="en-US" sz="1100" dirty="0" err="1">
                <a:solidFill>
                  <a:schemeClr val="accent4"/>
                </a:solidFill>
              </a:rPr>
              <a:t>als</a:t>
            </a:r>
            <a:r>
              <a:rPr lang="en-US" sz="1100" dirty="0">
                <a:solidFill>
                  <a:schemeClr val="accent4"/>
                </a:solidFill>
              </a:rPr>
              <a:t> Code (D2): </a:t>
            </a:r>
            <a:r>
              <a:rPr lang="en-US" sz="1100" dirty="0" err="1">
                <a:solidFill>
                  <a:schemeClr val="accent4"/>
                </a:solidFill>
              </a:rPr>
              <a:t>versioniert</a:t>
            </a:r>
            <a:r>
              <a:rPr lang="en-US" sz="1100" dirty="0">
                <a:solidFill>
                  <a:schemeClr val="accent4"/>
                </a:solidFill>
              </a:rPr>
              <a:t>, </a:t>
            </a:r>
            <a:r>
              <a:rPr lang="en-US" sz="1100" dirty="0" err="1">
                <a:solidFill>
                  <a:schemeClr val="accent4"/>
                </a:solidFill>
              </a:rPr>
              <a:t>reviewbar</a:t>
            </a:r>
            <a:r>
              <a:rPr lang="en-US" sz="1100" dirty="0">
                <a:solidFill>
                  <a:schemeClr val="accent4"/>
                </a:solidFill>
              </a:rPr>
              <a:t>, AI-</a:t>
            </a:r>
            <a:r>
              <a:rPr lang="en-US" sz="1100" dirty="0" err="1">
                <a:solidFill>
                  <a:schemeClr val="accent4"/>
                </a:solidFill>
              </a:rPr>
              <a:t>änderbar</a:t>
            </a:r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684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noch geht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00908D"/>
                </a:solidFill>
              </a:rPr>
              <a:t>ADR </a:t>
            </a:r>
            <a:r>
              <a:rPr b="1" dirty="0" err="1">
                <a:solidFill>
                  <a:srgbClr val="00908D"/>
                </a:solidFill>
              </a:rPr>
              <a:t>schreiben</a:t>
            </a:r>
            <a:r>
              <a:rPr b="1" dirty="0">
                <a:solidFill>
                  <a:srgbClr val="00908D"/>
                </a:solidFill>
              </a:rPr>
              <a:t>  </a:t>
            </a:r>
            <a:r>
              <a:rPr b="1" dirty="0"/>
              <a:t>–  </a:t>
            </a:r>
            <a:r>
              <a:rPr sz="1800" dirty="0" err="1"/>
              <a:t>Kontext</a:t>
            </a:r>
            <a:r>
              <a:rPr sz="1800" dirty="0"/>
              <a:t> </a:t>
            </a:r>
            <a:r>
              <a:rPr sz="1800" dirty="0" err="1"/>
              <a:t>liefern</a:t>
            </a:r>
            <a:r>
              <a:rPr sz="1800" dirty="0"/>
              <a:t>, </a:t>
            </a:r>
            <a:r>
              <a:rPr sz="1800" dirty="0" err="1"/>
              <a:t>strukturierte</a:t>
            </a:r>
            <a:r>
              <a:rPr sz="1800" dirty="0"/>
              <a:t> Decision </a:t>
            </a:r>
            <a:r>
              <a:rPr sz="1800" dirty="0" err="1"/>
              <a:t>erhalten</a:t>
            </a:r>
            <a:endParaRPr sz="18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00908D"/>
                </a:solidFill>
              </a:rPr>
              <a:t>Code </a:t>
            </a:r>
            <a:r>
              <a:rPr b="1" dirty="0" err="1">
                <a:solidFill>
                  <a:srgbClr val="00908D"/>
                </a:solidFill>
              </a:rPr>
              <a:t>dokumentieren</a:t>
            </a:r>
            <a:r>
              <a:rPr b="1" dirty="0">
                <a:solidFill>
                  <a:srgbClr val="00908D"/>
                </a:solidFill>
              </a:rPr>
              <a:t>  </a:t>
            </a:r>
            <a:r>
              <a:rPr b="1" dirty="0"/>
              <a:t>–  </a:t>
            </a:r>
            <a:r>
              <a:rPr sz="1800" dirty="0"/>
              <a:t>README, Inline-</a:t>
            </a:r>
            <a:r>
              <a:rPr sz="1800" dirty="0" err="1"/>
              <a:t>Kommentare</a:t>
            </a:r>
            <a:endParaRPr sz="18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00908D"/>
                </a:solidFill>
              </a:rPr>
              <a:t>Meeting </a:t>
            </a:r>
            <a:r>
              <a:rPr b="1" dirty="0" err="1">
                <a:solidFill>
                  <a:srgbClr val="00908D"/>
                </a:solidFill>
              </a:rPr>
              <a:t>zusammenfassen</a:t>
            </a:r>
            <a:r>
              <a:rPr b="1" dirty="0">
                <a:solidFill>
                  <a:srgbClr val="00908D"/>
                </a:solidFill>
              </a:rPr>
              <a:t>  </a:t>
            </a:r>
            <a:r>
              <a:rPr b="1" dirty="0"/>
              <a:t>–  </a:t>
            </a:r>
            <a:r>
              <a:rPr sz="1800" dirty="0" err="1"/>
              <a:t>Transkript</a:t>
            </a:r>
            <a:r>
              <a:rPr sz="1800" dirty="0"/>
              <a:t> </a:t>
            </a:r>
            <a:r>
              <a:rPr sz="1800" dirty="0" err="1"/>
              <a:t>zu</a:t>
            </a:r>
            <a:r>
              <a:rPr sz="1800" dirty="0"/>
              <a:t> Action Items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00908D"/>
                </a:solidFill>
              </a:rPr>
              <a:t>Confluence </a:t>
            </a:r>
            <a:r>
              <a:rPr b="1" dirty="0" err="1">
                <a:solidFill>
                  <a:srgbClr val="00908D"/>
                </a:solidFill>
              </a:rPr>
              <a:t>durchsuchen</a:t>
            </a:r>
            <a:r>
              <a:rPr b="1" dirty="0">
                <a:solidFill>
                  <a:srgbClr val="00908D"/>
                </a:solidFill>
              </a:rPr>
              <a:t>  </a:t>
            </a:r>
            <a:r>
              <a:rPr b="1" dirty="0"/>
              <a:t>–  </a:t>
            </a:r>
            <a:r>
              <a:rPr sz="1800" dirty="0"/>
              <a:t>CQL-Queries </a:t>
            </a:r>
            <a:r>
              <a:rPr sz="1800" dirty="0" err="1"/>
              <a:t>automatisch</a:t>
            </a:r>
            <a:endParaRPr sz="18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00908D"/>
                </a:solidFill>
              </a:rPr>
              <a:t>JIRA-Stories </a:t>
            </a:r>
            <a:r>
              <a:rPr b="1" dirty="0" err="1">
                <a:solidFill>
                  <a:srgbClr val="00908D"/>
                </a:solidFill>
              </a:rPr>
              <a:t>erstellen</a:t>
            </a:r>
            <a:r>
              <a:rPr b="1" dirty="0">
                <a:solidFill>
                  <a:srgbClr val="00908D"/>
                </a:solidFill>
              </a:rPr>
              <a:t>  </a:t>
            </a:r>
            <a:r>
              <a:rPr b="1" dirty="0"/>
              <a:t>–  </a:t>
            </a:r>
            <a:r>
              <a:rPr sz="1800" dirty="0" err="1"/>
              <a:t>Fachkonzept</a:t>
            </a:r>
            <a:r>
              <a:rPr sz="1800" dirty="0"/>
              <a:t> </a:t>
            </a:r>
            <a:r>
              <a:rPr sz="1800" dirty="0" err="1"/>
              <a:t>zu</a:t>
            </a:r>
            <a:r>
              <a:rPr sz="1800" dirty="0"/>
              <a:t> </a:t>
            </a:r>
            <a:r>
              <a:rPr sz="1800" dirty="0" err="1"/>
              <a:t>strukturierten</a:t>
            </a:r>
            <a:r>
              <a:rPr sz="1800" dirty="0"/>
              <a:t> Tickets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00908D"/>
                </a:solidFill>
              </a:rPr>
              <a:t>Workshop </a:t>
            </a:r>
            <a:r>
              <a:rPr b="1" dirty="0" err="1">
                <a:solidFill>
                  <a:srgbClr val="00908D"/>
                </a:solidFill>
              </a:rPr>
              <a:t>vorbereiten</a:t>
            </a:r>
            <a:r>
              <a:rPr b="1" dirty="0">
                <a:solidFill>
                  <a:srgbClr val="00908D"/>
                </a:solidFill>
              </a:rPr>
              <a:t>  </a:t>
            </a:r>
            <a:r>
              <a:rPr b="1" dirty="0"/>
              <a:t>–  </a:t>
            </a:r>
            <a:r>
              <a:rPr sz="1800" dirty="0"/>
              <a:t>Agenda, Moderation</a:t>
            </a:r>
          </a:p>
          <a:p>
            <a:pPr>
              <a:spcBef>
                <a:spcPts val="1800"/>
              </a:spcBef>
            </a:pPr>
            <a:r>
              <a:rPr b="1" dirty="0"/>
              <a:t>In der Working Session: Was </a:t>
            </a:r>
            <a:r>
              <a:rPr b="1" dirty="0" err="1"/>
              <a:t>davon</a:t>
            </a:r>
            <a:r>
              <a:rPr b="1" dirty="0"/>
              <a:t> </a:t>
            </a:r>
            <a:r>
              <a:rPr b="1" dirty="0" err="1"/>
              <a:t>ist</a:t>
            </a:r>
            <a:r>
              <a:rPr b="1" dirty="0"/>
              <a:t> für </a:t>
            </a:r>
            <a:r>
              <a:rPr b="1" dirty="0" err="1"/>
              <a:t>euch</a:t>
            </a:r>
            <a:r>
              <a:rPr b="1" dirty="0"/>
              <a:t> relevant?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Stärken</a:t>
            </a:r>
            <a:r>
              <a:rPr dirty="0"/>
              <a:t> &amp; </a:t>
            </a:r>
            <a:r>
              <a:rPr dirty="0" err="1">
                <a:solidFill>
                  <a:srgbClr val="00908D"/>
                </a:solidFill>
              </a:rPr>
              <a:t>Grenzen</a:t>
            </a:r>
            <a:endParaRPr dirty="0">
              <a:solidFill>
                <a:srgbClr val="00908D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2400" b="1" dirty="0" err="1">
                <a:solidFill>
                  <a:srgbClr val="00908D"/>
                </a:solidFill>
              </a:rPr>
              <a:t>Funktioniert</a:t>
            </a:r>
            <a:r>
              <a:rPr sz="2400" b="1" dirty="0">
                <a:solidFill>
                  <a:srgbClr val="00908D"/>
                </a:solidFill>
              </a:rPr>
              <a:t> gut</a:t>
            </a:r>
            <a:endParaRPr lang="en-US" sz="2400" b="1" dirty="0">
              <a:solidFill>
                <a:srgbClr val="00908D"/>
              </a:solidFill>
            </a:endParaRPr>
          </a:p>
          <a:p>
            <a:endParaRPr sz="2400" b="1" dirty="0">
              <a:solidFill>
                <a:srgbClr val="00843D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/>
              <a:t>Recherche &amp; </a:t>
            </a:r>
            <a:r>
              <a:rPr dirty="0" err="1"/>
              <a:t>Synthese</a:t>
            </a:r>
            <a:endParaRPr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/>
              <a:t>Erste </a:t>
            </a:r>
            <a:r>
              <a:rPr dirty="0" err="1"/>
              <a:t>Entwürfe</a:t>
            </a:r>
            <a:endParaRPr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 err="1"/>
              <a:t>Konsistenzprüfungen</a:t>
            </a:r>
            <a:endParaRPr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/>
              <a:t>Repetitive Muster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2400" b="1" dirty="0" err="1">
                <a:solidFill>
                  <a:srgbClr val="00908D"/>
                </a:solidFill>
              </a:rPr>
              <a:t>Grenzen</a:t>
            </a:r>
            <a:endParaRPr lang="en-US" sz="2400" b="1" dirty="0">
              <a:solidFill>
                <a:srgbClr val="00908D"/>
              </a:solidFill>
            </a:endParaRPr>
          </a:p>
          <a:p>
            <a:endParaRPr sz="2400" b="1" dirty="0">
              <a:solidFill>
                <a:srgbClr val="E00034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 err="1"/>
              <a:t>Fachliche</a:t>
            </a:r>
            <a:r>
              <a:rPr dirty="0"/>
              <a:t> </a:t>
            </a:r>
            <a:r>
              <a:rPr dirty="0" err="1"/>
              <a:t>Entscheidungen</a:t>
            </a:r>
            <a:endParaRPr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 err="1"/>
              <a:t>Implizites</a:t>
            </a:r>
            <a:r>
              <a:rPr dirty="0"/>
              <a:t> Wissen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 err="1"/>
              <a:t>Politische</a:t>
            </a:r>
            <a:r>
              <a:rPr dirty="0"/>
              <a:t> </a:t>
            </a:r>
            <a:r>
              <a:rPr dirty="0" err="1"/>
              <a:t>Dynamiken</a:t>
            </a:r>
            <a:endParaRPr lang="en-US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908D"/>
                </a:solidFill>
              </a:rPr>
              <a:t>Powerpoint</a:t>
            </a:r>
            <a:r>
              <a:rPr lang="en-US" dirty="0">
                <a:solidFill>
                  <a:srgbClr val="00908D"/>
                </a:solidFill>
              </a:rPr>
              <a:t> Design</a:t>
            </a:r>
          </a:p>
          <a:p>
            <a:pPr>
              <a:spcBef>
                <a:spcPts val="600"/>
              </a:spcBef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3552-ED2E-8A5F-0531-E9C82264A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E0233C1-E55C-372C-BCC1-5D6F9D7D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875309"/>
            <a:ext cx="9324974" cy="932854"/>
          </a:xfrm>
        </p:spPr>
        <p:txBody>
          <a:bodyPr/>
          <a:lstStyle/>
          <a:p>
            <a:r>
              <a:rPr lang="en-US" dirty="0"/>
              <a:t>Kleines </a:t>
            </a:r>
            <a:r>
              <a:rPr lang="en-US" dirty="0">
                <a:solidFill>
                  <a:srgbClr val="00908D"/>
                </a:solidFill>
              </a:rPr>
              <a:t>Hype-</a:t>
            </a:r>
            <a:r>
              <a:rPr lang="en-US" noProof="0" dirty="0"/>
              <a:t>Barometer</a:t>
            </a:r>
            <a:endParaRPr lang="en-US" noProof="0" dirty="0">
              <a:solidFill>
                <a:srgbClr val="00908D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4A06A1A-2AB8-8516-801D-71A4F7713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4" y="1808163"/>
            <a:ext cx="3600451" cy="4357687"/>
          </a:xfrm>
        </p:spPr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b="1" noProof="0" dirty="0" err="1">
                <a:solidFill>
                  <a:srgbClr val="00908D"/>
                </a:solidFill>
              </a:rPr>
              <a:t>Etabliert</a:t>
            </a:r>
            <a:endParaRPr lang="en-US" b="1" noProof="0" dirty="0">
              <a:solidFill>
                <a:srgbClr val="00908D"/>
              </a:solidFill>
            </a:endParaRPr>
          </a:p>
          <a:p>
            <a:endParaRPr lang="en-US" b="1" noProof="0" dirty="0"/>
          </a:p>
          <a:p>
            <a:r>
              <a:rPr lang="en-US" noProof="0" dirty="0"/>
              <a:t>MCP </a:t>
            </a:r>
            <a:r>
              <a:rPr lang="en-US" noProof="0" dirty="0" err="1"/>
              <a:t>als</a:t>
            </a:r>
            <a:r>
              <a:rPr lang="en-US" noProof="0" dirty="0"/>
              <a:t> Standard</a:t>
            </a:r>
          </a:p>
          <a:p>
            <a:r>
              <a:rPr lang="en-US" noProof="0" dirty="0" err="1"/>
              <a:t>Agentische</a:t>
            </a:r>
            <a:r>
              <a:rPr lang="en-US" noProof="0" dirty="0"/>
              <a:t> Workflows</a:t>
            </a:r>
          </a:p>
          <a:p>
            <a:r>
              <a:rPr lang="en-US" noProof="0" dirty="0"/>
              <a:t>Tool Use</a:t>
            </a:r>
          </a:p>
          <a:p>
            <a:r>
              <a:rPr lang="en-US" noProof="0" dirty="0" err="1"/>
              <a:t>Längere</a:t>
            </a:r>
            <a:r>
              <a:rPr lang="en-US" noProof="0" dirty="0"/>
              <a:t> Context-Windows</a:t>
            </a:r>
          </a:p>
          <a:p>
            <a:r>
              <a:rPr lang="en-US" noProof="0" dirty="0"/>
              <a:t>Coding Assistants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506BF84-CCB5-B6A8-0851-745579DC6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5776" y="1808163"/>
            <a:ext cx="3600449" cy="4357687"/>
          </a:xfrm>
        </p:spPr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b="1" noProof="0" dirty="0" err="1">
                <a:solidFill>
                  <a:srgbClr val="00908D"/>
                </a:solidFill>
              </a:rPr>
              <a:t>Experimentell</a:t>
            </a:r>
            <a:endParaRPr lang="en-US" b="1" noProof="0" dirty="0">
              <a:solidFill>
                <a:srgbClr val="00908D"/>
              </a:solidFill>
            </a:endParaRPr>
          </a:p>
          <a:p>
            <a:endParaRPr lang="en-US" b="1" noProof="0" dirty="0"/>
          </a:p>
          <a:p>
            <a:r>
              <a:rPr lang="en-US" noProof="0" dirty="0"/>
              <a:t>Computer Use</a:t>
            </a:r>
          </a:p>
          <a:p>
            <a:r>
              <a:rPr lang="en-US" noProof="0" dirty="0"/>
              <a:t>Multi-Agent-Systeme</a:t>
            </a:r>
          </a:p>
          <a:p>
            <a:r>
              <a:rPr lang="en-US" noProof="0" dirty="0"/>
              <a:t>Volle </a:t>
            </a:r>
            <a:r>
              <a:rPr lang="en-US" noProof="0" dirty="0" err="1"/>
              <a:t>Autonomie</a:t>
            </a:r>
            <a:endParaRPr lang="en-US" noProof="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4C9A269-2AFA-F052-31EA-E5FB2C7B628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12126" y="1808163"/>
            <a:ext cx="3600449" cy="4357687"/>
          </a:xfrm>
        </p:spPr>
        <p:txBody>
          <a:bodyPr/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b="1" noProof="0" dirty="0"/>
          </a:p>
          <a:p>
            <a:r>
              <a:rPr lang="en-US" b="1" noProof="0" dirty="0" err="1">
                <a:solidFill>
                  <a:srgbClr val="00908D"/>
                </a:solidFill>
              </a:rPr>
              <a:t>Eher</a:t>
            </a:r>
            <a:r>
              <a:rPr lang="en-US" b="1" noProof="0" dirty="0">
                <a:solidFill>
                  <a:srgbClr val="00908D"/>
                </a:solidFill>
              </a:rPr>
              <a:t> nicht</a:t>
            </a:r>
          </a:p>
          <a:p>
            <a:endParaRPr lang="en-US" b="1" noProof="0" dirty="0"/>
          </a:p>
          <a:p>
            <a:r>
              <a:rPr lang="de-DE" noProof="0" dirty="0"/>
              <a:t>"AGI ist nah"</a:t>
            </a:r>
          </a:p>
          <a:p>
            <a:r>
              <a:rPr lang="de-DE" noProof="0" dirty="0"/>
              <a:t>"KI ersetzt Arbeitnehmer"</a:t>
            </a:r>
          </a:p>
          <a:p>
            <a:r>
              <a:rPr lang="de-DE" noProof="0" dirty="0"/>
              <a:t>"Eigenes LLM nötig"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3E254CA-61A1-5D80-7826-345D7FB9F2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8F3B3FE5-3934-DCEE-79A9-074368174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479425" y="1960153"/>
            <a:ext cx="1152000" cy="1152000"/>
            <a:chOff x="4670970" y="4302153"/>
            <a:chExt cx="328528" cy="328528"/>
          </a:xfrm>
          <a:solidFill>
            <a:schemeClr val="bg1"/>
          </a:solidFill>
        </p:grpSpPr>
        <p:sp>
          <p:nvSpPr>
            <p:cNvPr id="24" name="Freihandform 1289">
              <a:extLst>
                <a:ext uri="{FF2B5EF4-FFF2-40B4-BE49-F238E27FC236}">
                  <a16:creationId xmlns:a16="http://schemas.microsoft.com/office/drawing/2014/main" id="{17D94419-2358-718F-3B1B-DF537BA8617E}"/>
                </a:ext>
              </a:extLst>
            </p:cNvPr>
            <p:cNvSpPr/>
            <p:nvPr/>
          </p:nvSpPr>
          <p:spPr>
            <a:xfrm>
              <a:off x="4670970" y="4302153"/>
              <a:ext cx="328528" cy="3285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2" h="1412">
                  <a:moveTo>
                    <a:pt x="705" y="1376"/>
                  </a:moveTo>
                  <a:cubicBezTo>
                    <a:pt x="336" y="1376"/>
                    <a:pt x="36" y="1075"/>
                    <a:pt x="36" y="705"/>
                  </a:cubicBezTo>
                  <a:cubicBezTo>
                    <a:pt x="36" y="337"/>
                    <a:pt x="336" y="36"/>
                    <a:pt x="705" y="36"/>
                  </a:cubicBezTo>
                  <a:cubicBezTo>
                    <a:pt x="1075" y="36"/>
                    <a:pt x="1376" y="337"/>
                    <a:pt x="1376" y="705"/>
                  </a:cubicBezTo>
                  <a:cubicBezTo>
                    <a:pt x="1376" y="1075"/>
                    <a:pt x="1075" y="1376"/>
                    <a:pt x="705" y="1376"/>
                  </a:cubicBezTo>
                  <a:close/>
                  <a:moveTo>
                    <a:pt x="705" y="0"/>
                  </a:moveTo>
                  <a:cubicBezTo>
                    <a:pt x="317" y="0"/>
                    <a:pt x="0" y="318"/>
                    <a:pt x="0" y="705"/>
                  </a:cubicBezTo>
                  <a:cubicBezTo>
                    <a:pt x="0" y="1094"/>
                    <a:pt x="317" y="1412"/>
                    <a:pt x="705" y="1412"/>
                  </a:cubicBezTo>
                  <a:cubicBezTo>
                    <a:pt x="1094" y="1412"/>
                    <a:pt x="1412" y="1094"/>
                    <a:pt x="1412" y="705"/>
                  </a:cubicBezTo>
                  <a:cubicBezTo>
                    <a:pt x="1412" y="318"/>
                    <a:pt x="1094" y="0"/>
                    <a:pt x="705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5" name="Freihandform 1290">
              <a:extLst>
                <a:ext uri="{FF2B5EF4-FFF2-40B4-BE49-F238E27FC236}">
                  <a16:creationId xmlns:a16="http://schemas.microsoft.com/office/drawing/2014/main" id="{7329B3FA-A62E-B476-DA32-20C5ADA021BD}"/>
                </a:ext>
              </a:extLst>
            </p:cNvPr>
            <p:cNvSpPr/>
            <p:nvPr/>
          </p:nvSpPr>
          <p:spPr>
            <a:xfrm>
              <a:off x="4736397" y="4367812"/>
              <a:ext cx="196977" cy="1967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7" h="846">
                  <a:moveTo>
                    <a:pt x="811" y="406"/>
                  </a:moveTo>
                  <a:lnTo>
                    <a:pt x="650" y="406"/>
                  </a:lnTo>
                  <a:cubicBezTo>
                    <a:pt x="648" y="357"/>
                    <a:pt x="642" y="313"/>
                    <a:pt x="629" y="273"/>
                  </a:cubicBezTo>
                  <a:cubicBezTo>
                    <a:pt x="686" y="247"/>
                    <a:pt x="720" y="216"/>
                    <a:pt x="737" y="194"/>
                  </a:cubicBezTo>
                  <a:cubicBezTo>
                    <a:pt x="781" y="256"/>
                    <a:pt x="809" y="330"/>
                    <a:pt x="811" y="406"/>
                  </a:cubicBezTo>
                  <a:close/>
                  <a:moveTo>
                    <a:pt x="737" y="654"/>
                  </a:moveTo>
                  <a:cubicBezTo>
                    <a:pt x="720" y="633"/>
                    <a:pt x="686" y="601"/>
                    <a:pt x="629" y="575"/>
                  </a:cubicBezTo>
                  <a:cubicBezTo>
                    <a:pt x="642" y="535"/>
                    <a:pt x="648" y="491"/>
                    <a:pt x="650" y="442"/>
                  </a:cubicBezTo>
                  <a:lnTo>
                    <a:pt x="811" y="442"/>
                  </a:lnTo>
                  <a:cubicBezTo>
                    <a:pt x="809" y="518"/>
                    <a:pt x="781" y="592"/>
                    <a:pt x="737" y="654"/>
                  </a:cubicBezTo>
                  <a:close/>
                  <a:moveTo>
                    <a:pt x="699" y="698"/>
                  </a:moveTo>
                  <a:cubicBezTo>
                    <a:pt x="644" y="753"/>
                    <a:pt x="576" y="789"/>
                    <a:pt x="500" y="804"/>
                  </a:cubicBezTo>
                  <a:cubicBezTo>
                    <a:pt x="536" y="766"/>
                    <a:pt x="587" y="700"/>
                    <a:pt x="618" y="609"/>
                  </a:cubicBezTo>
                  <a:cubicBezTo>
                    <a:pt x="673" y="633"/>
                    <a:pt x="703" y="664"/>
                    <a:pt x="714" y="681"/>
                  </a:cubicBezTo>
                  <a:cubicBezTo>
                    <a:pt x="709" y="688"/>
                    <a:pt x="705" y="692"/>
                    <a:pt x="699" y="698"/>
                  </a:cubicBezTo>
                  <a:close/>
                  <a:moveTo>
                    <a:pt x="443" y="810"/>
                  </a:moveTo>
                  <a:lnTo>
                    <a:pt x="443" y="573"/>
                  </a:lnTo>
                  <a:cubicBezTo>
                    <a:pt x="500" y="573"/>
                    <a:pt x="549" y="584"/>
                    <a:pt x="587" y="597"/>
                  </a:cubicBezTo>
                  <a:cubicBezTo>
                    <a:pt x="542" y="721"/>
                    <a:pt x="462" y="795"/>
                    <a:pt x="443" y="810"/>
                  </a:cubicBezTo>
                  <a:close/>
                  <a:moveTo>
                    <a:pt x="443" y="442"/>
                  </a:moveTo>
                  <a:lnTo>
                    <a:pt x="614" y="442"/>
                  </a:lnTo>
                  <a:cubicBezTo>
                    <a:pt x="612" y="484"/>
                    <a:pt x="606" y="525"/>
                    <a:pt x="597" y="563"/>
                  </a:cubicBezTo>
                  <a:cubicBezTo>
                    <a:pt x="555" y="548"/>
                    <a:pt x="504" y="539"/>
                    <a:pt x="443" y="537"/>
                  </a:cubicBezTo>
                  <a:close/>
                  <a:moveTo>
                    <a:pt x="443" y="311"/>
                  </a:moveTo>
                  <a:cubicBezTo>
                    <a:pt x="504" y="309"/>
                    <a:pt x="555" y="298"/>
                    <a:pt x="597" y="285"/>
                  </a:cubicBezTo>
                  <a:cubicBezTo>
                    <a:pt x="606" y="321"/>
                    <a:pt x="612" y="362"/>
                    <a:pt x="614" y="406"/>
                  </a:cubicBezTo>
                  <a:lnTo>
                    <a:pt x="443" y="406"/>
                  </a:lnTo>
                  <a:close/>
                  <a:moveTo>
                    <a:pt x="443" y="36"/>
                  </a:moveTo>
                  <a:cubicBezTo>
                    <a:pt x="462" y="53"/>
                    <a:pt x="542" y="127"/>
                    <a:pt x="587" y="252"/>
                  </a:cubicBezTo>
                  <a:cubicBezTo>
                    <a:pt x="549" y="264"/>
                    <a:pt x="500" y="273"/>
                    <a:pt x="443" y="275"/>
                  </a:cubicBezTo>
                  <a:close/>
                  <a:moveTo>
                    <a:pt x="699" y="150"/>
                  </a:moveTo>
                  <a:cubicBezTo>
                    <a:pt x="705" y="154"/>
                    <a:pt x="709" y="160"/>
                    <a:pt x="714" y="167"/>
                  </a:cubicBezTo>
                  <a:cubicBezTo>
                    <a:pt x="703" y="182"/>
                    <a:pt x="673" y="213"/>
                    <a:pt x="618" y="239"/>
                  </a:cubicBezTo>
                  <a:cubicBezTo>
                    <a:pt x="587" y="146"/>
                    <a:pt x="536" y="80"/>
                    <a:pt x="500" y="44"/>
                  </a:cubicBezTo>
                  <a:cubicBezTo>
                    <a:pt x="576" y="59"/>
                    <a:pt x="644" y="95"/>
                    <a:pt x="699" y="150"/>
                  </a:cubicBezTo>
                  <a:close/>
                  <a:moveTo>
                    <a:pt x="407" y="275"/>
                  </a:moveTo>
                  <a:cubicBezTo>
                    <a:pt x="347" y="273"/>
                    <a:pt x="301" y="264"/>
                    <a:pt x="263" y="252"/>
                  </a:cubicBezTo>
                  <a:cubicBezTo>
                    <a:pt x="307" y="127"/>
                    <a:pt x="388" y="53"/>
                    <a:pt x="405" y="36"/>
                  </a:cubicBezTo>
                  <a:cubicBezTo>
                    <a:pt x="407" y="36"/>
                    <a:pt x="407" y="36"/>
                    <a:pt x="407" y="36"/>
                  </a:cubicBezTo>
                  <a:close/>
                  <a:moveTo>
                    <a:pt x="407" y="406"/>
                  </a:moveTo>
                  <a:lnTo>
                    <a:pt x="233" y="406"/>
                  </a:lnTo>
                  <a:cubicBezTo>
                    <a:pt x="235" y="362"/>
                    <a:pt x="242" y="321"/>
                    <a:pt x="252" y="285"/>
                  </a:cubicBezTo>
                  <a:cubicBezTo>
                    <a:pt x="292" y="298"/>
                    <a:pt x="343" y="309"/>
                    <a:pt x="407" y="311"/>
                  </a:cubicBezTo>
                  <a:close/>
                  <a:moveTo>
                    <a:pt x="407" y="537"/>
                  </a:moveTo>
                  <a:cubicBezTo>
                    <a:pt x="343" y="539"/>
                    <a:pt x="292" y="548"/>
                    <a:pt x="252" y="563"/>
                  </a:cubicBezTo>
                  <a:cubicBezTo>
                    <a:pt x="242" y="525"/>
                    <a:pt x="235" y="484"/>
                    <a:pt x="233" y="442"/>
                  </a:cubicBezTo>
                  <a:lnTo>
                    <a:pt x="407" y="442"/>
                  </a:lnTo>
                  <a:close/>
                  <a:moveTo>
                    <a:pt x="407" y="810"/>
                  </a:moveTo>
                  <a:lnTo>
                    <a:pt x="405" y="810"/>
                  </a:lnTo>
                  <a:cubicBezTo>
                    <a:pt x="388" y="795"/>
                    <a:pt x="307" y="721"/>
                    <a:pt x="263" y="597"/>
                  </a:cubicBezTo>
                  <a:cubicBezTo>
                    <a:pt x="301" y="584"/>
                    <a:pt x="347" y="573"/>
                    <a:pt x="407" y="573"/>
                  </a:cubicBezTo>
                  <a:close/>
                  <a:moveTo>
                    <a:pt x="151" y="698"/>
                  </a:moveTo>
                  <a:cubicBezTo>
                    <a:pt x="144" y="692"/>
                    <a:pt x="140" y="688"/>
                    <a:pt x="134" y="681"/>
                  </a:cubicBezTo>
                  <a:cubicBezTo>
                    <a:pt x="146" y="664"/>
                    <a:pt x="176" y="635"/>
                    <a:pt x="229" y="609"/>
                  </a:cubicBezTo>
                  <a:cubicBezTo>
                    <a:pt x="263" y="700"/>
                    <a:pt x="314" y="766"/>
                    <a:pt x="347" y="804"/>
                  </a:cubicBezTo>
                  <a:cubicBezTo>
                    <a:pt x="273" y="789"/>
                    <a:pt x="206" y="753"/>
                    <a:pt x="151" y="698"/>
                  </a:cubicBezTo>
                  <a:close/>
                  <a:moveTo>
                    <a:pt x="112" y="654"/>
                  </a:moveTo>
                  <a:cubicBezTo>
                    <a:pt x="66" y="592"/>
                    <a:pt x="41" y="518"/>
                    <a:pt x="36" y="442"/>
                  </a:cubicBezTo>
                  <a:lnTo>
                    <a:pt x="199" y="442"/>
                  </a:lnTo>
                  <a:cubicBezTo>
                    <a:pt x="199" y="491"/>
                    <a:pt x="208" y="535"/>
                    <a:pt x="218" y="575"/>
                  </a:cubicBezTo>
                  <a:cubicBezTo>
                    <a:pt x="163" y="601"/>
                    <a:pt x="129" y="633"/>
                    <a:pt x="112" y="654"/>
                  </a:cubicBezTo>
                  <a:close/>
                  <a:moveTo>
                    <a:pt x="112" y="194"/>
                  </a:moveTo>
                  <a:cubicBezTo>
                    <a:pt x="129" y="216"/>
                    <a:pt x="163" y="247"/>
                    <a:pt x="218" y="273"/>
                  </a:cubicBezTo>
                  <a:cubicBezTo>
                    <a:pt x="208" y="313"/>
                    <a:pt x="199" y="357"/>
                    <a:pt x="199" y="406"/>
                  </a:cubicBezTo>
                  <a:lnTo>
                    <a:pt x="36" y="406"/>
                  </a:lnTo>
                  <a:cubicBezTo>
                    <a:pt x="41" y="330"/>
                    <a:pt x="66" y="256"/>
                    <a:pt x="112" y="194"/>
                  </a:cubicBezTo>
                  <a:close/>
                  <a:moveTo>
                    <a:pt x="151" y="150"/>
                  </a:moveTo>
                  <a:cubicBezTo>
                    <a:pt x="206" y="95"/>
                    <a:pt x="273" y="59"/>
                    <a:pt x="347" y="44"/>
                  </a:cubicBezTo>
                  <a:cubicBezTo>
                    <a:pt x="314" y="80"/>
                    <a:pt x="263" y="146"/>
                    <a:pt x="229" y="239"/>
                  </a:cubicBezTo>
                  <a:cubicBezTo>
                    <a:pt x="174" y="213"/>
                    <a:pt x="146" y="184"/>
                    <a:pt x="134" y="167"/>
                  </a:cubicBezTo>
                  <a:cubicBezTo>
                    <a:pt x="140" y="160"/>
                    <a:pt x="144" y="154"/>
                    <a:pt x="151" y="150"/>
                  </a:cubicBezTo>
                  <a:close/>
                  <a:moveTo>
                    <a:pt x="424" y="0"/>
                  </a:moveTo>
                  <a:cubicBezTo>
                    <a:pt x="311" y="0"/>
                    <a:pt x="206" y="44"/>
                    <a:pt x="125" y="125"/>
                  </a:cubicBezTo>
                  <a:cubicBezTo>
                    <a:pt x="45" y="205"/>
                    <a:pt x="0" y="311"/>
                    <a:pt x="0" y="423"/>
                  </a:cubicBezTo>
                  <a:cubicBezTo>
                    <a:pt x="0" y="537"/>
                    <a:pt x="45" y="643"/>
                    <a:pt x="125" y="724"/>
                  </a:cubicBezTo>
                  <a:cubicBezTo>
                    <a:pt x="206" y="804"/>
                    <a:pt x="311" y="846"/>
                    <a:pt x="424" y="846"/>
                  </a:cubicBezTo>
                  <a:cubicBezTo>
                    <a:pt x="538" y="846"/>
                    <a:pt x="644" y="804"/>
                    <a:pt x="724" y="724"/>
                  </a:cubicBezTo>
                  <a:cubicBezTo>
                    <a:pt x="805" y="643"/>
                    <a:pt x="847" y="537"/>
                    <a:pt x="847" y="423"/>
                  </a:cubicBezTo>
                  <a:cubicBezTo>
                    <a:pt x="847" y="311"/>
                    <a:pt x="805" y="205"/>
                    <a:pt x="724" y="125"/>
                  </a:cubicBezTo>
                  <a:cubicBezTo>
                    <a:pt x="644" y="44"/>
                    <a:pt x="538" y="0"/>
                    <a:pt x="424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marL="0" marR="0" lvl="0" indent="0" algn="l" defTabSz="91420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90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8993FE85-793F-AD41-972D-09BB6FF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4309298" y="1943369"/>
            <a:ext cx="1167146" cy="1167969"/>
            <a:chOff x="6888480" y="2528192"/>
            <a:chExt cx="328296" cy="328528"/>
          </a:xfrm>
          <a:solidFill>
            <a:schemeClr val="bg1"/>
          </a:solidFill>
        </p:grpSpPr>
        <p:sp>
          <p:nvSpPr>
            <p:cNvPr id="11" name="Freihandform 1437">
              <a:extLst>
                <a:ext uri="{FF2B5EF4-FFF2-40B4-BE49-F238E27FC236}">
                  <a16:creationId xmlns:a16="http://schemas.microsoft.com/office/drawing/2014/main" id="{2E896ABA-6312-0BF3-503A-E3789A37F8E9}"/>
                </a:ext>
              </a:extLst>
            </p:cNvPr>
            <p:cNvSpPr/>
            <p:nvPr/>
          </p:nvSpPr>
          <p:spPr>
            <a:xfrm>
              <a:off x="6888480" y="2528192"/>
              <a:ext cx="328296" cy="3285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1" h="1412">
                  <a:moveTo>
                    <a:pt x="704" y="1376"/>
                  </a:moveTo>
                  <a:cubicBezTo>
                    <a:pt x="336" y="1376"/>
                    <a:pt x="36" y="1075"/>
                    <a:pt x="36" y="705"/>
                  </a:cubicBezTo>
                  <a:cubicBezTo>
                    <a:pt x="36" y="337"/>
                    <a:pt x="336" y="36"/>
                    <a:pt x="704" y="36"/>
                  </a:cubicBezTo>
                  <a:cubicBezTo>
                    <a:pt x="1075" y="36"/>
                    <a:pt x="1375" y="337"/>
                    <a:pt x="1375" y="705"/>
                  </a:cubicBezTo>
                  <a:cubicBezTo>
                    <a:pt x="1375" y="1075"/>
                    <a:pt x="1075" y="1376"/>
                    <a:pt x="704" y="1376"/>
                  </a:cubicBezTo>
                  <a:close/>
                  <a:moveTo>
                    <a:pt x="704" y="0"/>
                  </a:moveTo>
                  <a:cubicBezTo>
                    <a:pt x="317" y="0"/>
                    <a:pt x="0" y="318"/>
                    <a:pt x="0" y="705"/>
                  </a:cubicBezTo>
                  <a:cubicBezTo>
                    <a:pt x="0" y="1094"/>
                    <a:pt x="317" y="1412"/>
                    <a:pt x="704" y="1412"/>
                  </a:cubicBezTo>
                  <a:cubicBezTo>
                    <a:pt x="1094" y="1412"/>
                    <a:pt x="1411" y="1094"/>
                    <a:pt x="1411" y="705"/>
                  </a:cubicBezTo>
                  <a:cubicBezTo>
                    <a:pt x="1411" y="318"/>
                    <a:pt x="1094" y="0"/>
                    <a:pt x="704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solidFill>
                  <a:schemeClr val="bg1"/>
                </a:solidFill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2" name="Freihandform 1438">
              <a:extLst>
                <a:ext uri="{FF2B5EF4-FFF2-40B4-BE49-F238E27FC236}">
                  <a16:creationId xmlns:a16="http://schemas.microsoft.com/office/drawing/2014/main" id="{7D7319FA-BDF0-8F97-CD6F-BF4A58C218B7}"/>
                </a:ext>
              </a:extLst>
            </p:cNvPr>
            <p:cNvSpPr/>
            <p:nvPr/>
          </p:nvSpPr>
          <p:spPr>
            <a:xfrm>
              <a:off x="7032372" y="2642979"/>
              <a:ext cx="40513" cy="412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5" h="178">
                  <a:moveTo>
                    <a:pt x="86" y="142"/>
                  </a:moveTo>
                  <a:cubicBezTo>
                    <a:pt x="59" y="142"/>
                    <a:pt x="33" y="119"/>
                    <a:pt x="33" y="89"/>
                  </a:cubicBezTo>
                  <a:cubicBezTo>
                    <a:pt x="33" y="59"/>
                    <a:pt x="59" y="36"/>
                    <a:pt x="86" y="36"/>
                  </a:cubicBezTo>
                  <a:cubicBezTo>
                    <a:pt x="116" y="36"/>
                    <a:pt x="139" y="59"/>
                    <a:pt x="139" y="89"/>
                  </a:cubicBezTo>
                  <a:cubicBezTo>
                    <a:pt x="139" y="119"/>
                    <a:pt x="116" y="142"/>
                    <a:pt x="86" y="142"/>
                  </a:cubicBezTo>
                  <a:close/>
                  <a:moveTo>
                    <a:pt x="86" y="0"/>
                  </a:moveTo>
                  <a:cubicBezTo>
                    <a:pt x="38" y="0"/>
                    <a:pt x="0" y="40"/>
                    <a:pt x="0" y="89"/>
                  </a:cubicBezTo>
                  <a:cubicBezTo>
                    <a:pt x="0" y="138"/>
                    <a:pt x="38" y="178"/>
                    <a:pt x="86" y="178"/>
                  </a:cubicBezTo>
                  <a:cubicBezTo>
                    <a:pt x="135" y="178"/>
                    <a:pt x="175" y="138"/>
                    <a:pt x="175" y="89"/>
                  </a:cubicBezTo>
                  <a:cubicBezTo>
                    <a:pt x="175" y="40"/>
                    <a:pt x="135" y="0"/>
                    <a:pt x="86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solidFill>
                  <a:schemeClr val="bg1"/>
                </a:solidFill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3" name="Freihandform 1439">
              <a:extLst>
                <a:ext uri="{FF2B5EF4-FFF2-40B4-BE49-F238E27FC236}">
                  <a16:creationId xmlns:a16="http://schemas.microsoft.com/office/drawing/2014/main" id="{AAD13DED-D7DF-522C-A985-3A50FF8DB4A0}"/>
                </a:ext>
              </a:extLst>
            </p:cNvPr>
            <p:cNvSpPr/>
            <p:nvPr/>
          </p:nvSpPr>
          <p:spPr>
            <a:xfrm>
              <a:off x="6978586" y="2593851"/>
              <a:ext cx="147617" cy="1965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35" h="845">
                  <a:moveTo>
                    <a:pt x="449" y="708"/>
                  </a:moveTo>
                  <a:cubicBezTo>
                    <a:pt x="482" y="634"/>
                    <a:pt x="504" y="564"/>
                    <a:pt x="516" y="498"/>
                  </a:cubicBezTo>
                  <a:cubicBezTo>
                    <a:pt x="578" y="532"/>
                    <a:pt x="597" y="684"/>
                    <a:pt x="599" y="767"/>
                  </a:cubicBezTo>
                  <a:close/>
                  <a:moveTo>
                    <a:pt x="396" y="739"/>
                  </a:moveTo>
                  <a:lnTo>
                    <a:pt x="336" y="739"/>
                  </a:lnTo>
                  <a:lnTo>
                    <a:pt x="336" y="511"/>
                  </a:lnTo>
                  <a:cubicBezTo>
                    <a:pt x="336" y="500"/>
                    <a:pt x="328" y="494"/>
                    <a:pt x="317" y="494"/>
                  </a:cubicBezTo>
                  <a:cubicBezTo>
                    <a:pt x="309" y="494"/>
                    <a:pt x="300" y="500"/>
                    <a:pt x="300" y="511"/>
                  </a:cubicBezTo>
                  <a:lnTo>
                    <a:pt x="300" y="739"/>
                  </a:lnTo>
                  <a:lnTo>
                    <a:pt x="241" y="739"/>
                  </a:lnTo>
                  <a:cubicBezTo>
                    <a:pt x="144" y="540"/>
                    <a:pt x="116" y="369"/>
                    <a:pt x="165" y="231"/>
                  </a:cubicBezTo>
                  <a:cubicBezTo>
                    <a:pt x="171" y="210"/>
                    <a:pt x="180" y="191"/>
                    <a:pt x="188" y="174"/>
                  </a:cubicBezTo>
                  <a:cubicBezTo>
                    <a:pt x="190" y="174"/>
                    <a:pt x="192" y="176"/>
                    <a:pt x="195" y="176"/>
                  </a:cubicBezTo>
                  <a:lnTo>
                    <a:pt x="442" y="176"/>
                  </a:lnTo>
                  <a:cubicBezTo>
                    <a:pt x="444" y="176"/>
                    <a:pt x="444" y="174"/>
                    <a:pt x="446" y="174"/>
                  </a:cubicBezTo>
                  <a:cubicBezTo>
                    <a:pt x="457" y="191"/>
                    <a:pt x="466" y="210"/>
                    <a:pt x="472" y="231"/>
                  </a:cubicBezTo>
                  <a:cubicBezTo>
                    <a:pt x="518" y="369"/>
                    <a:pt x="493" y="540"/>
                    <a:pt x="396" y="739"/>
                  </a:cubicBezTo>
                  <a:close/>
                  <a:moveTo>
                    <a:pt x="36" y="767"/>
                  </a:moveTo>
                  <a:cubicBezTo>
                    <a:pt x="40" y="684"/>
                    <a:pt x="59" y="532"/>
                    <a:pt x="118" y="498"/>
                  </a:cubicBezTo>
                  <a:cubicBezTo>
                    <a:pt x="131" y="564"/>
                    <a:pt x="154" y="634"/>
                    <a:pt x="186" y="708"/>
                  </a:cubicBezTo>
                  <a:close/>
                  <a:moveTo>
                    <a:pt x="317" y="37"/>
                  </a:moveTo>
                  <a:cubicBezTo>
                    <a:pt x="336" y="47"/>
                    <a:pt x="385" y="81"/>
                    <a:pt x="425" y="140"/>
                  </a:cubicBezTo>
                  <a:lnTo>
                    <a:pt x="209" y="140"/>
                  </a:lnTo>
                  <a:cubicBezTo>
                    <a:pt x="252" y="81"/>
                    <a:pt x="300" y="47"/>
                    <a:pt x="317" y="37"/>
                  </a:cubicBezTo>
                  <a:close/>
                  <a:moveTo>
                    <a:pt x="523" y="462"/>
                  </a:moveTo>
                  <a:cubicBezTo>
                    <a:pt x="535" y="373"/>
                    <a:pt x="531" y="291"/>
                    <a:pt x="506" y="219"/>
                  </a:cubicBezTo>
                  <a:cubicBezTo>
                    <a:pt x="451" y="62"/>
                    <a:pt x="330" y="3"/>
                    <a:pt x="326" y="1"/>
                  </a:cubicBezTo>
                  <a:cubicBezTo>
                    <a:pt x="322" y="0"/>
                    <a:pt x="315" y="0"/>
                    <a:pt x="311" y="1"/>
                  </a:cubicBezTo>
                  <a:cubicBezTo>
                    <a:pt x="305" y="3"/>
                    <a:pt x="184" y="62"/>
                    <a:pt x="131" y="219"/>
                  </a:cubicBezTo>
                  <a:cubicBezTo>
                    <a:pt x="106" y="291"/>
                    <a:pt x="99" y="373"/>
                    <a:pt x="112" y="462"/>
                  </a:cubicBezTo>
                  <a:cubicBezTo>
                    <a:pt x="4" y="507"/>
                    <a:pt x="0" y="763"/>
                    <a:pt x="0" y="792"/>
                  </a:cubicBezTo>
                  <a:cubicBezTo>
                    <a:pt x="0" y="799"/>
                    <a:pt x="4" y="805"/>
                    <a:pt x="8" y="807"/>
                  </a:cubicBezTo>
                  <a:cubicBezTo>
                    <a:pt x="10" y="809"/>
                    <a:pt x="15" y="811"/>
                    <a:pt x="19" y="811"/>
                  </a:cubicBezTo>
                  <a:cubicBezTo>
                    <a:pt x="21" y="811"/>
                    <a:pt x="23" y="809"/>
                    <a:pt x="25" y="809"/>
                  </a:cubicBezTo>
                  <a:lnTo>
                    <a:pt x="201" y="739"/>
                  </a:lnTo>
                  <a:cubicBezTo>
                    <a:pt x="205" y="748"/>
                    <a:pt x="209" y="756"/>
                    <a:pt x="214" y="765"/>
                  </a:cubicBezTo>
                  <a:cubicBezTo>
                    <a:pt x="218" y="771"/>
                    <a:pt x="224" y="775"/>
                    <a:pt x="231" y="775"/>
                  </a:cubicBezTo>
                  <a:lnTo>
                    <a:pt x="300" y="775"/>
                  </a:lnTo>
                  <a:lnTo>
                    <a:pt x="300" y="828"/>
                  </a:lnTo>
                  <a:cubicBezTo>
                    <a:pt x="300" y="839"/>
                    <a:pt x="309" y="845"/>
                    <a:pt x="317" y="845"/>
                  </a:cubicBezTo>
                  <a:cubicBezTo>
                    <a:pt x="328" y="845"/>
                    <a:pt x="336" y="839"/>
                    <a:pt x="336" y="828"/>
                  </a:cubicBezTo>
                  <a:lnTo>
                    <a:pt x="336" y="775"/>
                  </a:lnTo>
                  <a:lnTo>
                    <a:pt x="406" y="775"/>
                  </a:lnTo>
                  <a:cubicBezTo>
                    <a:pt x="413" y="775"/>
                    <a:pt x="419" y="771"/>
                    <a:pt x="421" y="765"/>
                  </a:cubicBezTo>
                  <a:cubicBezTo>
                    <a:pt x="427" y="756"/>
                    <a:pt x="430" y="748"/>
                    <a:pt x="434" y="739"/>
                  </a:cubicBezTo>
                  <a:lnTo>
                    <a:pt x="436" y="739"/>
                  </a:lnTo>
                  <a:lnTo>
                    <a:pt x="612" y="809"/>
                  </a:lnTo>
                  <a:cubicBezTo>
                    <a:pt x="614" y="809"/>
                    <a:pt x="616" y="811"/>
                    <a:pt x="618" y="811"/>
                  </a:cubicBezTo>
                  <a:cubicBezTo>
                    <a:pt x="622" y="811"/>
                    <a:pt x="624" y="809"/>
                    <a:pt x="629" y="807"/>
                  </a:cubicBezTo>
                  <a:cubicBezTo>
                    <a:pt x="633" y="805"/>
                    <a:pt x="635" y="799"/>
                    <a:pt x="635" y="792"/>
                  </a:cubicBezTo>
                  <a:cubicBezTo>
                    <a:pt x="635" y="763"/>
                    <a:pt x="633" y="507"/>
                    <a:pt x="523" y="46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solidFill>
                  <a:schemeClr val="bg1"/>
                </a:solidFill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2396539-90C5-A24D-DF65-8CBE834BA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8125648" y="1943369"/>
            <a:ext cx="1152000" cy="1152000"/>
            <a:chOff x="4227422" y="5189250"/>
            <a:chExt cx="328528" cy="328528"/>
          </a:xfrm>
          <a:solidFill>
            <a:schemeClr val="bg1"/>
          </a:solidFill>
        </p:grpSpPr>
        <p:sp>
          <p:nvSpPr>
            <p:cNvPr id="16" name="Freihandform 1367">
              <a:extLst>
                <a:ext uri="{FF2B5EF4-FFF2-40B4-BE49-F238E27FC236}">
                  <a16:creationId xmlns:a16="http://schemas.microsoft.com/office/drawing/2014/main" id="{7767821B-13B3-41FE-00D0-1E7EDB72D8EB}"/>
                </a:ext>
              </a:extLst>
            </p:cNvPr>
            <p:cNvSpPr/>
            <p:nvPr/>
          </p:nvSpPr>
          <p:spPr>
            <a:xfrm>
              <a:off x="4227422" y="5189250"/>
              <a:ext cx="328528" cy="3285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2" h="1412">
                  <a:moveTo>
                    <a:pt x="705" y="1376"/>
                  </a:moveTo>
                  <a:cubicBezTo>
                    <a:pt x="336" y="1376"/>
                    <a:pt x="36" y="1075"/>
                    <a:pt x="36" y="705"/>
                  </a:cubicBezTo>
                  <a:cubicBezTo>
                    <a:pt x="36" y="337"/>
                    <a:pt x="336" y="36"/>
                    <a:pt x="705" y="36"/>
                  </a:cubicBezTo>
                  <a:cubicBezTo>
                    <a:pt x="1075" y="36"/>
                    <a:pt x="1376" y="337"/>
                    <a:pt x="1376" y="705"/>
                  </a:cubicBezTo>
                  <a:cubicBezTo>
                    <a:pt x="1376" y="1075"/>
                    <a:pt x="1075" y="1376"/>
                    <a:pt x="705" y="1376"/>
                  </a:cubicBezTo>
                  <a:close/>
                  <a:moveTo>
                    <a:pt x="705" y="0"/>
                  </a:moveTo>
                  <a:cubicBezTo>
                    <a:pt x="317" y="0"/>
                    <a:pt x="0" y="318"/>
                    <a:pt x="0" y="705"/>
                  </a:cubicBezTo>
                  <a:cubicBezTo>
                    <a:pt x="0" y="1094"/>
                    <a:pt x="317" y="1412"/>
                    <a:pt x="705" y="1412"/>
                  </a:cubicBezTo>
                  <a:cubicBezTo>
                    <a:pt x="1094" y="1412"/>
                    <a:pt x="1412" y="1094"/>
                    <a:pt x="1412" y="705"/>
                  </a:cubicBezTo>
                  <a:cubicBezTo>
                    <a:pt x="1412" y="318"/>
                    <a:pt x="1094" y="0"/>
                    <a:pt x="705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solidFill>
                  <a:schemeClr val="bg1"/>
                </a:solidFill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7" name="Freihandform 1368">
              <a:extLst>
                <a:ext uri="{FF2B5EF4-FFF2-40B4-BE49-F238E27FC236}">
                  <a16:creationId xmlns:a16="http://schemas.microsoft.com/office/drawing/2014/main" id="{71AC2635-11AA-F2C3-C8D2-BD8FC43566D5}"/>
                </a:ext>
              </a:extLst>
            </p:cNvPr>
            <p:cNvSpPr/>
            <p:nvPr/>
          </p:nvSpPr>
          <p:spPr>
            <a:xfrm>
              <a:off x="4375737" y="5378078"/>
              <a:ext cx="32364" cy="3283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0" h="142">
                  <a:moveTo>
                    <a:pt x="70" y="106"/>
                  </a:moveTo>
                  <a:cubicBezTo>
                    <a:pt x="51" y="106"/>
                    <a:pt x="34" y="91"/>
                    <a:pt x="34" y="72"/>
                  </a:cubicBezTo>
                  <a:cubicBezTo>
                    <a:pt x="34" y="51"/>
                    <a:pt x="51" y="36"/>
                    <a:pt x="70" y="36"/>
                  </a:cubicBezTo>
                  <a:cubicBezTo>
                    <a:pt x="89" y="36"/>
                    <a:pt x="106" y="51"/>
                    <a:pt x="106" y="72"/>
                  </a:cubicBezTo>
                  <a:cubicBezTo>
                    <a:pt x="106" y="91"/>
                    <a:pt x="89" y="106"/>
                    <a:pt x="70" y="106"/>
                  </a:cubicBezTo>
                  <a:close/>
                  <a:moveTo>
                    <a:pt x="70" y="0"/>
                  </a:moveTo>
                  <a:cubicBezTo>
                    <a:pt x="30" y="0"/>
                    <a:pt x="0" y="32"/>
                    <a:pt x="0" y="72"/>
                  </a:cubicBezTo>
                  <a:cubicBezTo>
                    <a:pt x="0" y="110"/>
                    <a:pt x="30" y="142"/>
                    <a:pt x="70" y="142"/>
                  </a:cubicBezTo>
                  <a:cubicBezTo>
                    <a:pt x="108" y="142"/>
                    <a:pt x="140" y="110"/>
                    <a:pt x="140" y="72"/>
                  </a:cubicBezTo>
                  <a:cubicBezTo>
                    <a:pt x="140" y="32"/>
                    <a:pt x="108" y="0"/>
                    <a:pt x="70" y="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solidFill>
                  <a:schemeClr val="bg1"/>
                </a:solidFill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8" name="Freihandform 1369">
              <a:extLst>
                <a:ext uri="{FF2B5EF4-FFF2-40B4-BE49-F238E27FC236}">
                  <a16:creationId xmlns:a16="http://schemas.microsoft.com/office/drawing/2014/main" id="{1A6AEC9C-1E7F-444D-D1C2-54C6545DFBC2}"/>
                </a:ext>
              </a:extLst>
            </p:cNvPr>
            <p:cNvSpPr/>
            <p:nvPr/>
          </p:nvSpPr>
          <p:spPr>
            <a:xfrm>
              <a:off x="4375271" y="5296121"/>
              <a:ext cx="32830" cy="7380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2" h="318">
                  <a:moveTo>
                    <a:pt x="106" y="34"/>
                  </a:moveTo>
                  <a:lnTo>
                    <a:pt x="97" y="282"/>
                  </a:lnTo>
                  <a:lnTo>
                    <a:pt x="44" y="282"/>
                  </a:lnTo>
                  <a:lnTo>
                    <a:pt x="36" y="34"/>
                  </a:lnTo>
                  <a:close/>
                  <a:moveTo>
                    <a:pt x="25" y="318"/>
                  </a:moveTo>
                  <a:lnTo>
                    <a:pt x="114" y="318"/>
                  </a:lnTo>
                  <a:cubicBezTo>
                    <a:pt x="125" y="318"/>
                    <a:pt x="131" y="309"/>
                    <a:pt x="131" y="301"/>
                  </a:cubicBezTo>
                  <a:lnTo>
                    <a:pt x="142" y="17"/>
                  </a:lnTo>
                  <a:cubicBezTo>
                    <a:pt x="142" y="13"/>
                    <a:pt x="140" y="9"/>
                    <a:pt x="135" y="5"/>
                  </a:cubicBezTo>
                  <a:cubicBezTo>
                    <a:pt x="133" y="3"/>
                    <a:pt x="129" y="0"/>
                    <a:pt x="123" y="0"/>
                  </a:cubicBezTo>
                  <a:lnTo>
                    <a:pt x="17" y="0"/>
                  </a:lnTo>
                  <a:cubicBezTo>
                    <a:pt x="13" y="0"/>
                    <a:pt x="8" y="3"/>
                    <a:pt x="4" y="5"/>
                  </a:cubicBezTo>
                  <a:cubicBezTo>
                    <a:pt x="2" y="9"/>
                    <a:pt x="0" y="13"/>
                    <a:pt x="0" y="17"/>
                  </a:cubicBezTo>
                  <a:lnTo>
                    <a:pt x="8" y="301"/>
                  </a:lnTo>
                  <a:cubicBezTo>
                    <a:pt x="8" y="309"/>
                    <a:pt x="17" y="318"/>
                    <a:pt x="25" y="31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solidFill>
                  <a:schemeClr val="bg1"/>
                </a:solidFill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9" name="Freihandform 1370">
              <a:extLst>
                <a:ext uri="{FF2B5EF4-FFF2-40B4-BE49-F238E27FC236}">
                  <a16:creationId xmlns:a16="http://schemas.microsoft.com/office/drawing/2014/main" id="{4FC9113C-18B8-E01D-BE32-6D3E6625F011}"/>
                </a:ext>
              </a:extLst>
            </p:cNvPr>
            <p:cNvSpPr/>
            <p:nvPr/>
          </p:nvSpPr>
          <p:spPr>
            <a:xfrm>
              <a:off x="4292848" y="5255142"/>
              <a:ext cx="196977" cy="1967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7" h="846">
                  <a:moveTo>
                    <a:pt x="722" y="481"/>
                  </a:moveTo>
                  <a:cubicBezTo>
                    <a:pt x="716" y="485"/>
                    <a:pt x="714" y="496"/>
                    <a:pt x="718" y="502"/>
                  </a:cubicBezTo>
                  <a:lnTo>
                    <a:pt x="762" y="589"/>
                  </a:lnTo>
                  <a:lnTo>
                    <a:pt x="669" y="608"/>
                  </a:lnTo>
                  <a:cubicBezTo>
                    <a:pt x="661" y="608"/>
                    <a:pt x="654" y="617"/>
                    <a:pt x="654" y="625"/>
                  </a:cubicBezTo>
                  <a:lnTo>
                    <a:pt x="659" y="725"/>
                  </a:lnTo>
                  <a:lnTo>
                    <a:pt x="565" y="697"/>
                  </a:lnTo>
                  <a:cubicBezTo>
                    <a:pt x="557" y="695"/>
                    <a:pt x="549" y="699"/>
                    <a:pt x="544" y="708"/>
                  </a:cubicBezTo>
                  <a:lnTo>
                    <a:pt x="508" y="799"/>
                  </a:lnTo>
                  <a:lnTo>
                    <a:pt x="436" y="733"/>
                  </a:lnTo>
                  <a:cubicBezTo>
                    <a:pt x="430" y="729"/>
                    <a:pt x="419" y="729"/>
                    <a:pt x="413" y="733"/>
                  </a:cubicBezTo>
                  <a:lnTo>
                    <a:pt x="341" y="799"/>
                  </a:lnTo>
                  <a:lnTo>
                    <a:pt x="303" y="708"/>
                  </a:lnTo>
                  <a:cubicBezTo>
                    <a:pt x="301" y="701"/>
                    <a:pt x="295" y="697"/>
                    <a:pt x="286" y="697"/>
                  </a:cubicBezTo>
                  <a:cubicBezTo>
                    <a:pt x="286" y="697"/>
                    <a:pt x="284" y="697"/>
                    <a:pt x="282" y="697"/>
                  </a:cubicBezTo>
                  <a:lnTo>
                    <a:pt x="191" y="725"/>
                  </a:lnTo>
                  <a:lnTo>
                    <a:pt x="195" y="625"/>
                  </a:lnTo>
                  <a:cubicBezTo>
                    <a:pt x="195" y="617"/>
                    <a:pt x="189" y="608"/>
                    <a:pt x="180" y="608"/>
                  </a:cubicBezTo>
                  <a:lnTo>
                    <a:pt x="85" y="589"/>
                  </a:lnTo>
                  <a:lnTo>
                    <a:pt x="132" y="502"/>
                  </a:lnTo>
                  <a:cubicBezTo>
                    <a:pt x="136" y="496"/>
                    <a:pt x="134" y="485"/>
                    <a:pt x="127" y="481"/>
                  </a:cubicBezTo>
                  <a:lnTo>
                    <a:pt x="49" y="422"/>
                  </a:lnTo>
                  <a:lnTo>
                    <a:pt x="127" y="365"/>
                  </a:lnTo>
                  <a:cubicBezTo>
                    <a:pt x="134" y="358"/>
                    <a:pt x="136" y="350"/>
                    <a:pt x="132" y="342"/>
                  </a:cubicBezTo>
                  <a:lnTo>
                    <a:pt x="85" y="255"/>
                  </a:lnTo>
                  <a:lnTo>
                    <a:pt x="180" y="238"/>
                  </a:lnTo>
                  <a:cubicBezTo>
                    <a:pt x="189" y="236"/>
                    <a:pt x="195" y="229"/>
                    <a:pt x="195" y="219"/>
                  </a:cubicBezTo>
                  <a:lnTo>
                    <a:pt x="191" y="121"/>
                  </a:lnTo>
                  <a:lnTo>
                    <a:pt x="282" y="147"/>
                  </a:lnTo>
                  <a:cubicBezTo>
                    <a:pt x="290" y="149"/>
                    <a:pt x="301" y="145"/>
                    <a:pt x="303" y="136"/>
                  </a:cubicBezTo>
                  <a:lnTo>
                    <a:pt x="341" y="47"/>
                  </a:lnTo>
                  <a:lnTo>
                    <a:pt x="413" y="111"/>
                  </a:lnTo>
                  <a:cubicBezTo>
                    <a:pt x="419" y="117"/>
                    <a:pt x="430" y="117"/>
                    <a:pt x="436" y="111"/>
                  </a:cubicBezTo>
                  <a:lnTo>
                    <a:pt x="508" y="47"/>
                  </a:lnTo>
                  <a:lnTo>
                    <a:pt x="544" y="136"/>
                  </a:lnTo>
                  <a:cubicBezTo>
                    <a:pt x="549" y="145"/>
                    <a:pt x="557" y="149"/>
                    <a:pt x="565" y="147"/>
                  </a:cubicBezTo>
                  <a:lnTo>
                    <a:pt x="659" y="121"/>
                  </a:lnTo>
                  <a:lnTo>
                    <a:pt x="654" y="219"/>
                  </a:lnTo>
                  <a:cubicBezTo>
                    <a:pt x="654" y="229"/>
                    <a:pt x="661" y="236"/>
                    <a:pt x="669" y="238"/>
                  </a:cubicBezTo>
                  <a:lnTo>
                    <a:pt x="762" y="255"/>
                  </a:lnTo>
                  <a:lnTo>
                    <a:pt x="718" y="342"/>
                  </a:lnTo>
                  <a:cubicBezTo>
                    <a:pt x="714" y="350"/>
                    <a:pt x="716" y="358"/>
                    <a:pt x="722" y="365"/>
                  </a:cubicBezTo>
                  <a:lnTo>
                    <a:pt x="800" y="422"/>
                  </a:lnTo>
                  <a:close/>
                  <a:moveTo>
                    <a:pt x="756" y="346"/>
                  </a:moveTo>
                  <a:lnTo>
                    <a:pt x="805" y="251"/>
                  </a:lnTo>
                  <a:cubicBezTo>
                    <a:pt x="809" y="246"/>
                    <a:pt x="809" y="240"/>
                    <a:pt x="807" y="234"/>
                  </a:cubicBezTo>
                  <a:cubicBezTo>
                    <a:pt x="803" y="229"/>
                    <a:pt x="798" y="225"/>
                    <a:pt x="794" y="225"/>
                  </a:cubicBezTo>
                  <a:lnTo>
                    <a:pt x="690" y="206"/>
                  </a:lnTo>
                  <a:lnTo>
                    <a:pt x="695" y="98"/>
                  </a:lnTo>
                  <a:cubicBezTo>
                    <a:pt x="695" y="92"/>
                    <a:pt x="692" y="88"/>
                    <a:pt x="688" y="83"/>
                  </a:cubicBezTo>
                  <a:cubicBezTo>
                    <a:pt x="684" y="79"/>
                    <a:pt x="678" y="79"/>
                    <a:pt x="673" y="81"/>
                  </a:cubicBezTo>
                  <a:lnTo>
                    <a:pt x="572" y="109"/>
                  </a:lnTo>
                  <a:lnTo>
                    <a:pt x="532" y="9"/>
                  </a:lnTo>
                  <a:cubicBezTo>
                    <a:pt x="530" y="5"/>
                    <a:pt x="523" y="1"/>
                    <a:pt x="519" y="1"/>
                  </a:cubicBezTo>
                  <a:cubicBezTo>
                    <a:pt x="513" y="-1"/>
                    <a:pt x="506" y="1"/>
                    <a:pt x="502" y="3"/>
                  </a:cubicBezTo>
                  <a:lnTo>
                    <a:pt x="424" y="75"/>
                  </a:lnTo>
                  <a:lnTo>
                    <a:pt x="345" y="3"/>
                  </a:lnTo>
                  <a:cubicBezTo>
                    <a:pt x="341" y="1"/>
                    <a:pt x="335" y="-1"/>
                    <a:pt x="331" y="1"/>
                  </a:cubicBezTo>
                  <a:cubicBezTo>
                    <a:pt x="324" y="1"/>
                    <a:pt x="320" y="5"/>
                    <a:pt x="318" y="9"/>
                  </a:cubicBezTo>
                  <a:lnTo>
                    <a:pt x="278" y="109"/>
                  </a:lnTo>
                  <a:lnTo>
                    <a:pt x="176" y="81"/>
                  </a:lnTo>
                  <a:cubicBezTo>
                    <a:pt x="172" y="79"/>
                    <a:pt x="165" y="79"/>
                    <a:pt x="161" y="83"/>
                  </a:cubicBezTo>
                  <a:cubicBezTo>
                    <a:pt x="157" y="88"/>
                    <a:pt x="153" y="92"/>
                    <a:pt x="153" y="98"/>
                  </a:cubicBezTo>
                  <a:lnTo>
                    <a:pt x="159" y="206"/>
                  </a:lnTo>
                  <a:lnTo>
                    <a:pt x="55" y="225"/>
                  </a:lnTo>
                  <a:cubicBezTo>
                    <a:pt x="51" y="225"/>
                    <a:pt x="45" y="229"/>
                    <a:pt x="43" y="234"/>
                  </a:cubicBezTo>
                  <a:cubicBezTo>
                    <a:pt x="41" y="240"/>
                    <a:pt x="41" y="246"/>
                    <a:pt x="43" y="251"/>
                  </a:cubicBezTo>
                  <a:lnTo>
                    <a:pt x="93" y="346"/>
                  </a:lnTo>
                  <a:lnTo>
                    <a:pt x="9" y="409"/>
                  </a:lnTo>
                  <a:cubicBezTo>
                    <a:pt x="5" y="411"/>
                    <a:pt x="0" y="418"/>
                    <a:pt x="0" y="422"/>
                  </a:cubicBezTo>
                  <a:cubicBezTo>
                    <a:pt x="0" y="428"/>
                    <a:pt x="5" y="433"/>
                    <a:pt x="9" y="437"/>
                  </a:cubicBezTo>
                  <a:lnTo>
                    <a:pt x="93" y="500"/>
                  </a:lnTo>
                  <a:lnTo>
                    <a:pt x="43" y="596"/>
                  </a:lnTo>
                  <a:cubicBezTo>
                    <a:pt x="41" y="600"/>
                    <a:pt x="41" y="606"/>
                    <a:pt x="43" y="610"/>
                  </a:cubicBezTo>
                  <a:cubicBezTo>
                    <a:pt x="45" y="617"/>
                    <a:pt x="51" y="619"/>
                    <a:pt x="55" y="621"/>
                  </a:cubicBezTo>
                  <a:lnTo>
                    <a:pt x="159" y="640"/>
                  </a:lnTo>
                  <a:lnTo>
                    <a:pt x="153" y="748"/>
                  </a:lnTo>
                  <a:cubicBezTo>
                    <a:pt x="153" y="752"/>
                    <a:pt x="157" y="759"/>
                    <a:pt x="161" y="763"/>
                  </a:cubicBezTo>
                  <a:cubicBezTo>
                    <a:pt x="165" y="765"/>
                    <a:pt x="172" y="767"/>
                    <a:pt x="176" y="765"/>
                  </a:cubicBezTo>
                  <a:lnTo>
                    <a:pt x="278" y="737"/>
                  </a:lnTo>
                  <a:lnTo>
                    <a:pt x="318" y="835"/>
                  </a:lnTo>
                  <a:cubicBezTo>
                    <a:pt x="320" y="841"/>
                    <a:pt x="324" y="845"/>
                    <a:pt x="331" y="845"/>
                  </a:cubicBezTo>
                  <a:cubicBezTo>
                    <a:pt x="335" y="847"/>
                    <a:pt x="341" y="845"/>
                    <a:pt x="345" y="841"/>
                  </a:cubicBezTo>
                  <a:lnTo>
                    <a:pt x="424" y="771"/>
                  </a:lnTo>
                  <a:lnTo>
                    <a:pt x="502" y="841"/>
                  </a:lnTo>
                  <a:cubicBezTo>
                    <a:pt x="506" y="845"/>
                    <a:pt x="510" y="845"/>
                    <a:pt x="515" y="845"/>
                  </a:cubicBezTo>
                  <a:cubicBezTo>
                    <a:pt x="517" y="845"/>
                    <a:pt x="517" y="845"/>
                    <a:pt x="519" y="845"/>
                  </a:cubicBezTo>
                  <a:cubicBezTo>
                    <a:pt x="523" y="845"/>
                    <a:pt x="530" y="841"/>
                    <a:pt x="532" y="835"/>
                  </a:cubicBezTo>
                  <a:lnTo>
                    <a:pt x="572" y="737"/>
                  </a:lnTo>
                  <a:lnTo>
                    <a:pt x="673" y="765"/>
                  </a:lnTo>
                  <a:cubicBezTo>
                    <a:pt x="678" y="767"/>
                    <a:pt x="684" y="765"/>
                    <a:pt x="688" y="763"/>
                  </a:cubicBezTo>
                  <a:cubicBezTo>
                    <a:pt x="692" y="759"/>
                    <a:pt x="695" y="752"/>
                    <a:pt x="695" y="748"/>
                  </a:cubicBezTo>
                  <a:lnTo>
                    <a:pt x="690" y="640"/>
                  </a:lnTo>
                  <a:lnTo>
                    <a:pt x="794" y="621"/>
                  </a:lnTo>
                  <a:cubicBezTo>
                    <a:pt x="798" y="619"/>
                    <a:pt x="803" y="617"/>
                    <a:pt x="807" y="610"/>
                  </a:cubicBezTo>
                  <a:cubicBezTo>
                    <a:pt x="809" y="606"/>
                    <a:pt x="809" y="600"/>
                    <a:pt x="805" y="596"/>
                  </a:cubicBezTo>
                  <a:lnTo>
                    <a:pt x="756" y="500"/>
                  </a:lnTo>
                  <a:lnTo>
                    <a:pt x="841" y="437"/>
                  </a:lnTo>
                  <a:cubicBezTo>
                    <a:pt x="845" y="433"/>
                    <a:pt x="847" y="428"/>
                    <a:pt x="847" y="422"/>
                  </a:cubicBezTo>
                  <a:cubicBezTo>
                    <a:pt x="847" y="418"/>
                    <a:pt x="845" y="411"/>
                    <a:pt x="841" y="40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5246" tIns="47623" rIns="95246" bIns="47623" anchor="ctr" anchorCtr="1" compatLnSpc="0"/>
            <a:lstStyle/>
            <a:p>
              <a:pPr hangingPunct="0"/>
              <a:endParaRPr lang="en-US" sz="1905" dirty="0">
                <a:solidFill>
                  <a:schemeClr val="bg1"/>
                </a:solidFill>
                <a:latin typeface="Allianz Neo" panose="020B0504020203020204" pitchFamily="34" charset="0"/>
                <a:ea typeface="Arial Unicode MS" pitchFamily="2"/>
                <a:cs typeface="Arial Unicode MS" pitchFamily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654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Wie </a:t>
            </a:r>
            <a:r>
              <a:rPr dirty="0" err="1"/>
              <a:t>starten</a:t>
            </a:r>
            <a:r>
              <a:rPr dirty="0"/>
              <a:t>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sz="2400" b="1" dirty="0">
                <a:solidFill>
                  <a:srgbClr val="00908D"/>
                </a:solidFill>
              </a:rPr>
              <a:t>1.  Klein </a:t>
            </a:r>
            <a:r>
              <a:rPr sz="2400" b="1" dirty="0" err="1">
                <a:solidFill>
                  <a:srgbClr val="00908D"/>
                </a:solidFill>
              </a:rPr>
              <a:t>anfangen</a:t>
            </a:r>
            <a:endParaRPr sz="2400" b="1" dirty="0">
              <a:solidFill>
                <a:srgbClr val="00908D"/>
              </a:solidFill>
            </a:endParaRPr>
          </a:p>
          <a:p>
            <a:pPr marL="0" lvl="1" indent="0">
              <a:buNone/>
            </a:pPr>
            <a:r>
              <a:rPr sz="1800" dirty="0"/>
              <a:t>Ein </a:t>
            </a:r>
            <a:r>
              <a:rPr sz="1800" dirty="0" err="1"/>
              <a:t>konkretes</a:t>
            </a:r>
            <a:r>
              <a:rPr sz="1800" dirty="0"/>
              <a:t>, </a:t>
            </a:r>
            <a:r>
              <a:rPr sz="1800" dirty="0" err="1"/>
              <a:t>wiederkehrendes</a:t>
            </a:r>
            <a:r>
              <a:rPr sz="1800" dirty="0"/>
              <a:t> Problem</a:t>
            </a:r>
          </a:p>
          <a:p>
            <a:pPr>
              <a:spcBef>
                <a:spcPts val="1000"/>
              </a:spcBef>
            </a:pPr>
            <a:r>
              <a:rPr sz="2400" b="1" dirty="0">
                <a:solidFill>
                  <a:srgbClr val="00908D"/>
                </a:solidFill>
              </a:rPr>
              <a:t>2.  </a:t>
            </a:r>
            <a:r>
              <a:rPr sz="2400" b="1" dirty="0" err="1">
                <a:solidFill>
                  <a:srgbClr val="00908D"/>
                </a:solidFill>
              </a:rPr>
              <a:t>Kontext</a:t>
            </a:r>
            <a:r>
              <a:rPr sz="2400" b="1" dirty="0">
                <a:solidFill>
                  <a:srgbClr val="00908D"/>
                </a:solidFill>
              </a:rPr>
              <a:t> </a:t>
            </a:r>
            <a:r>
              <a:rPr sz="2400" b="1" dirty="0" err="1">
                <a:solidFill>
                  <a:srgbClr val="00908D"/>
                </a:solidFill>
              </a:rPr>
              <a:t>aufbauen</a:t>
            </a:r>
            <a:endParaRPr sz="2400" b="1" dirty="0">
              <a:solidFill>
                <a:srgbClr val="00908D"/>
              </a:solidFill>
            </a:endParaRPr>
          </a:p>
          <a:p>
            <a:pPr marL="0" lvl="1" indent="0">
              <a:buNone/>
            </a:pPr>
            <a:r>
              <a:rPr sz="1800" dirty="0" err="1"/>
              <a:t>Relevante</a:t>
            </a:r>
            <a:r>
              <a:rPr sz="1800" dirty="0"/>
              <a:t> </a:t>
            </a:r>
            <a:r>
              <a:rPr sz="1800" dirty="0" err="1"/>
              <a:t>Dokumente</a:t>
            </a:r>
            <a:r>
              <a:rPr sz="1800" dirty="0"/>
              <a:t> </a:t>
            </a:r>
            <a:r>
              <a:rPr sz="1800" dirty="0" err="1"/>
              <a:t>zugänglich</a:t>
            </a:r>
            <a:r>
              <a:rPr sz="1800" dirty="0"/>
              <a:t> </a:t>
            </a:r>
            <a:r>
              <a:rPr sz="1800" dirty="0" err="1"/>
              <a:t>machen</a:t>
            </a:r>
            <a:endParaRPr sz="1800" dirty="0"/>
          </a:p>
          <a:p>
            <a:pPr>
              <a:spcBef>
                <a:spcPts val="1000"/>
              </a:spcBef>
            </a:pPr>
            <a:r>
              <a:rPr sz="2400" b="1" dirty="0">
                <a:solidFill>
                  <a:srgbClr val="00908D"/>
                </a:solidFill>
              </a:rPr>
              <a:t>3.  </a:t>
            </a:r>
            <a:r>
              <a:rPr sz="2400" b="1" dirty="0" err="1">
                <a:solidFill>
                  <a:srgbClr val="00908D"/>
                </a:solidFill>
              </a:rPr>
              <a:t>Iterieren</a:t>
            </a:r>
            <a:endParaRPr sz="2400" b="1" dirty="0">
              <a:solidFill>
                <a:srgbClr val="00908D"/>
              </a:solidFill>
            </a:endParaRPr>
          </a:p>
          <a:p>
            <a:pPr marL="0" lvl="1" indent="0">
              <a:buNone/>
            </a:pPr>
            <a:r>
              <a:rPr sz="1800" dirty="0" err="1"/>
              <a:t>Ergebnisse</a:t>
            </a:r>
            <a:r>
              <a:rPr sz="1800" dirty="0"/>
              <a:t> </a:t>
            </a:r>
            <a:r>
              <a:rPr sz="1800" dirty="0" err="1"/>
              <a:t>prüfen</a:t>
            </a:r>
            <a:r>
              <a:rPr sz="1800" dirty="0"/>
              <a:t>, Skills </a:t>
            </a:r>
            <a:r>
              <a:rPr sz="1800" dirty="0" err="1"/>
              <a:t>verbessern</a:t>
            </a:r>
            <a:endParaRPr sz="1800" dirty="0"/>
          </a:p>
          <a:p>
            <a:pPr>
              <a:spcBef>
                <a:spcPts val="1000"/>
              </a:spcBef>
            </a:pPr>
            <a:r>
              <a:rPr sz="2400" b="1" dirty="0">
                <a:solidFill>
                  <a:srgbClr val="00908D"/>
                </a:solidFill>
              </a:rPr>
              <a:t>4.  </a:t>
            </a:r>
            <a:r>
              <a:rPr sz="2400" b="1" dirty="0" err="1">
                <a:solidFill>
                  <a:srgbClr val="00908D"/>
                </a:solidFill>
              </a:rPr>
              <a:t>Teilen</a:t>
            </a:r>
            <a:endParaRPr sz="2400" b="1" dirty="0">
              <a:solidFill>
                <a:srgbClr val="00908D"/>
              </a:solidFill>
            </a:endParaRPr>
          </a:p>
          <a:p>
            <a:pPr marL="0" lvl="1" indent="0">
              <a:buNone/>
            </a:pPr>
            <a:r>
              <a:rPr sz="1800" dirty="0"/>
              <a:t>Skills </a:t>
            </a:r>
            <a:r>
              <a:rPr sz="1800" dirty="0" err="1"/>
              <a:t>mit</a:t>
            </a:r>
            <a:r>
              <a:rPr sz="1800" dirty="0"/>
              <a:t> </a:t>
            </a:r>
            <a:r>
              <a:rPr sz="1800" dirty="0" err="1"/>
              <a:t>Kollegen</a:t>
            </a:r>
            <a:r>
              <a:rPr sz="1800" dirty="0"/>
              <a:t> </a:t>
            </a:r>
            <a:r>
              <a:rPr sz="1800" dirty="0" err="1"/>
              <a:t>austauschen</a:t>
            </a:r>
            <a:endParaRPr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F027-AD7E-9615-594A-7A0B7C0E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8F4CE895-F4BA-64D9-354B-7A9F599D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73125"/>
            <a:ext cx="5508626" cy="1439863"/>
          </a:xfrm>
        </p:spPr>
        <p:txBody>
          <a:bodyPr/>
          <a:lstStyle/>
          <a:p>
            <a:r>
              <a:rPr lang="en-US" sz="6600" noProof="0" dirty="0" err="1"/>
              <a:t>Ressourcen</a:t>
            </a:r>
            <a:br>
              <a:rPr lang="en-US" sz="6600" noProof="0" dirty="0"/>
            </a:br>
            <a:r>
              <a:rPr lang="en-US" sz="6600" noProof="0" dirty="0" err="1"/>
              <a:t>bei</a:t>
            </a:r>
            <a:r>
              <a:rPr lang="en-US" sz="6600" noProof="0" dirty="0"/>
              <a:t> der </a:t>
            </a:r>
            <a:r>
              <a:rPr lang="en-US" sz="6600" noProof="0" dirty="0">
                <a:solidFill>
                  <a:srgbClr val="13A0D3"/>
                </a:solidFill>
              </a:rPr>
              <a:t>Allianz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EC0BD55-38F9-F72A-4BFA-D061B86657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6" y="4176000"/>
            <a:ext cx="3816349" cy="1989850"/>
          </a:xfrm>
        </p:spPr>
        <p:txBody>
          <a:bodyPr/>
          <a:lstStyle/>
          <a:p>
            <a:r>
              <a:rPr lang="en-US" noProof="0" dirty="0" err="1"/>
              <a:t>Inctorerae</a:t>
            </a:r>
            <a:r>
              <a:rPr lang="en-US" noProof="0" dirty="0"/>
              <a:t> </a:t>
            </a:r>
            <a:r>
              <a:rPr lang="en-US" noProof="0" dirty="0" err="1"/>
              <a:t>eumquatent</a:t>
            </a:r>
            <a:r>
              <a:rPr lang="en-US" noProof="0" dirty="0"/>
              <a:t>. </a:t>
            </a:r>
            <a:r>
              <a:rPr lang="en-US" noProof="0" dirty="0" err="1"/>
              <a:t>Parchil</a:t>
            </a:r>
            <a:r>
              <a:rPr lang="en-US" noProof="0" dirty="0"/>
              <a:t> </a:t>
            </a:r>
            <a:r>
              <a:rPr lang="en-US" noProof="0" dirty="0" err="1"/>
              <a:t>lamusae</a:t>
            </a:r>
            <a:br>
              <a:rPr lang="en-US" noProof="0" dirty="0"/>
            </a:br>
            <a:r>
              <a:rPr lang="en-US" noProof="0" dirty="0" err="1"/>
              <a:t>ssimporem</a:t>
            </a:r>
            <a:r>
              <a:rPr lang="en-US" noProof="0" dirty="0"/>
              <a:t> </a:t>
            </a:r>
            <a:r>
              <a:rPr lang="en-US" noProof="0" dirty="0" err="1"/>
              <a:t>nonsequi</a:t>
            </a:r>
            <a:r>
              <a:rPr lang="en-US" noProof="0" dirty="0"/>
              <a:t> </a:t>
            </a:r>
            <a:r>
              <a:rPr lang="en-US" noProof="0" dirty="0" err="1"/>
              <a:t>dolupic</a:t>
            </a:r>
            <a:r>
              <a:rPr lang="en-US" noProof="0" dirty="0"/>
              <a:t> </a:t>
            </a:r>
            <a:r>
              <a:rPr lang="en-US" noProof="0" dirty="0" err="1"/>
              <a:t>illautae</a:t>
            </a:r>
            <a:br>
              <a:rPr lang="en-US" noProof="0" dirty="0"/>
            </a:br>
            <a:r>
              <a:rPr lang="en-US" noProof="0" dirty="0" err="1"/>
              <a:t>velibust</a:t>
            </a:r>
            <a:r>
              <a:rPr lang="en-US" noProof="0" dirty="0"/>
              <a:t> lit.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12134F1-638D-4FDA-7164-6CD0F2C95B0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40000" y="1044000"/>
            <a:ext cx="2376000" cy="2232000"/>
          </a:xfrm>
        </p:spPr>
        <p:txBody>
          <a:bodyPr/>
          <a:lstStyle/>
          <a:p>
            <a:pPr lvl="1"/>
            <a:r>
              <a:rPr lang="en-US" b="1" dirty="0" err="1"/>
              <a:t>Bestellen</a:t>
            </a:r>
            <a:br>
              <a:rPr lang="en-US" b="1" dirty="0"/>
            </a:br>
            <a:br>
              <a:rPr lang="en-US" b="1" dirty="0"/>
            </a:br>
            <a:r>
              <a:rPr lang="de-DE" sz="1300" dirty="0">
                <a:hlinkClick r:id="rId3"/>
              </a:rPr>
              <a:t>https://docs.adp.allianz/gen-ai/</a:t>
            </a:r>
            <a:r>
              <a:rPr lang="de-DE" sz="13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order-claude-code</a:t>
            </a:r>
            <a:br>
              <a:rPr lang="de-DE" sz="1300" dirty="0"/>
            </a:br>
            <a:endParaRPr lang="de-DE" sz="1300" dirty="0"/>
          </a:p>
          <a:p>
            <a:pPr lvl="1"/>
            <a:r>
              <a:rPr lang="de-DE" sz="1200" dirty="0">
                <a:solidFill>
                  <a:srgbClr val="969696"/>
                </a:solidFill>
              </a:rPr>
              <a:t>Bestellanleitung, Genehmigung</a:t>
            </a:r>
          </a:p>
          <a:p>
            <a:endParaRPr lang="en-US" b="1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786F3BD-A592-E516-D1CE-9F909EEEA8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40000" y="3582001"/>
            <a:ext cx="2376000" cy="2232000"/>
          </a:xfrm>
        </p:spPr>
        <p:txBody>
          <a:bodyPr/>
          <a:lstStyle/>
          <a:p>
            <a:br>
              <a:rPr lang="en-US" b="1" dirty="0"/>
            </a:br>
            <a:r>
              <a:rPr lang="en-US" b="1" dirty="0" err="1"/>
              <a:t>Lernen</a:t>
            </a:r>
            <a:endParaRPr lang="en-US" b="1" dirty="0"/>
          </a:p>
          <a:p>
            <a:endParaRPr lang="en-US" b="1" dirty="0"/>
          </a:p>
          <a:p>
            <a:r>
              <a:rPr lang="en-US" sz="13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https://github.developer.allianz.io/genai/claude-code-training-labs</a:t>
            </a:r>
            <a:br>
              <a:rPr lang="en-US" sz="1300" dirty="0"/>
            </a:br>
            <a:br>
              <a:rPr lang="en-US" sz="1300" dirty="0"/>
            </a:br>
            <a:r>
              <a:rPr lang="en-US" sz="1200" dirty="0">
                <a:solidFill>
                  <a:srgbClr val="969696"/>
                </a:solidFill>
              </a:rPr>
              <a:t>Training Labs, </a:t>
            </a:r>
            <a:r>
              <a:rPr lang="en-US" sz="1200" dirty="0" err="1">
                <a:solidFill>
                  <a:srgbClr val="969696"/>
                </a:solidFill>
              </a:rPr>
              <a:t>Übungen</a:t>
            </a:r>
            <a:endParaRPr lang="en-US" sz="1200" dirty="0">
              <a:solidFill>
                <a:srgbClr val="969696"/>
              </a:solidFill>
            </a:endParaRPr>
          </a:p>
          <a:p>
            <a:br>
              <a:rPr lang="en-US" b="1" dirty="0"/>
            </a:br>
            <a:br>
              <a:rPr lang="en-US" b="1" dirty="0"/>
            </a:br>
            <a:endParaRPr lang="en-US" noProof="0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81EC6E8-1288-83AA-2466-134159882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5C51C49-0551-E742-21F7-777EA2966E8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7BA98C5-A03F-4DB3-7AC5-5C34E741390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96968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A419-B5CC-18B5-B8DD-E7213486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93211AC-C56F-6E58-AB24-04AEE822C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7" y="489296"/>
            <a:ext cx="9324974" cy="887067"/>
          </a:xfrm>
        </p:spPr>
        <p:txBody>
          <a:bodyPr/>
          <a:lstStyle/>
          <a:p>
            <a:r>
              <a:rPr lang="en-US" dirty="0"/>
              <a:t>Working Session: </a:t>
            </a:r>
            <a:br>
              <a:rPr lang="en-US" dirty="0"/>
            </a:br>
            <a:r>
              <a:rPr lang="en-US" dirty="0">
                <a:solidFill>
                  <a:srgbClr val="13A0D3"/>
                </a:solidFill>
              </a:rPr>
              <a:t>AI-</a:t>
            </a:r>
            <a:r>
              <a:rPr lang="en-US" dirty="0" err="1">
                <a:solidFill>
                  <a:srgbClr val="13A0D3"/>
                </a:solidFill>
              </a:rPr>
              <a:t>Unterstützung</a:t>
            </a:r>
            <a:r>
              <a:rPr lang="en-US" dirty="0">
                <a:solidFill>
                  <a:srgbClr val="13A0D3"/>
                </a:solidFill>
              </a:rPr>
              <a:t> </a:t>
            </a:r>
            <a:r>
              <a:rPr lang="en-US" dirty="0" err="1">
                <a:solidFill>
                  <a:srgbClr val="13A0D3"/>
                </a:solidFill>
              </a:rPr>
              <a:t>im</a:t>
            </a:r>
            <a:r>
              <a:rPr lang="en-US" dirty="0">
                <a:solidFill>
                  <a:srgbClr val="13A0D3"/>
                </a:solidFill>
              </a:rPr>
              <a:t> </a:t>
            </a:r>
            <a:r>
              <a:rPr lang="en-US" dirty="0" err="1">
                <a:solidFill>
                  <a:srgbClr val="13A0D3"/>
                </a:solidFill>
              </a:rPr>
              <a:t>Architektur</a:t>
            </a:r>
            <a:r>
              <a:rPr lang="en-US" dirty="0">
                <a:solidFill>
                  <a:srgbClr val="13A0D3"/>
                </a:solidFill>
              </a:rPr>
              <a:t> </a:t>
            </a:r>
            <a:r>
              <a:rPr lang="en-US" dirty="0" err="1">
                <a:solidFill>
                  <a:srgbClr val="13A0D3"/>
                </a:solidFill>
              </a:rPr>
              <a:t>Alltag</a:t>
            </a:r>
            <a:endParaRPr lang="en-US" noProof="0" dirty="0">
              <a:solidFill>
                <a:srgbClr val="13A0D3"/>
              </a:solidFill>
            </a:endParaRPr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E42AD129-6739-126D-4E79-52367C98D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228957"/>
              </p:ext>
            </p:extLst>
          </p:nvPr>
        </p:nvGraphicFramePr>
        <p:xfrm>
          <a:off x="1116119" y="2661436"/>
          <a:ext cx="7632000" cy="3951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28713201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359462234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43073045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2353681851"/>
                    </a:ext>
                  </a:extLst>
                </a:gridCol>
              </a:tblGrid>
              <a:tr h="1317036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r>
                        <a:rPr lang="en-US" sz="3800" dirty="0">
                          <a:solidFill>
                            <a:srgbClr val="13A0D3"/>
                          </a:solidFill>
                          <a:latin typeface="Allianz Neo" panose="020B0504020203020204" pitchFamily="34" charset="0"/>
                        </a:rPr>
                        <a:t>1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Tätigkeiten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sammeln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 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67710" rtl="0" eaLnBrk="1" latinLnBrk="0" hangingPunct="1">
                        <a:lnSpc>
                          <a:spcPct val="90000"/>
                        </a:lnSpc>
                      </a:pPr>
                      <a:r>
                        <a:rPr lang="en-US" sz="3800" kern="1200" dirty="0">
                          <a:solidFill>
                            <a:srgbClr val="13A0D3"/>
                          </a:solidFill>
                          <a:latin typeface="Allianz Neo" panose="020B0504020203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Diskussion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Allianz Neo" panose="020B0504020203020204" pitchFamily="34" charset="0"/>
                      </a:endParaRP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369561"/>
                  </a:ext>
                </a:extLst>
              </a:tr>
              <a:tr h="1317036">
                <a:tc>
                  <a:txBody>
                    <a:bodyPr/>
                    <a:lstStyle/>
                    <a:p>
                      <a:pPr marL="0" algn="l" defTabSz="967710" rtl="0" eaLnBrk="1" latinLnBrk="0" hangingPunct="1">
                        <a:lnSpc>
                          <a:spcPct val="90000"/>
                        </a:lnSpc>
                      </a:pPr>
                      <a:r>
                        <a:rPr lang="en-US" sz="3800" kern="1200" dirty="0">
                          <a:solidFill>
                            <a:srgbClr val="13A0D3"/>
                          </a:solidFill>
                          <a:latin typeface="Allianz Neo" panose="020B0504020203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Vorstellen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 &amp;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Clustern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 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67710" rtl="0" eaLnBrk="1" latinLnBrk="0" hangingPunct="1">
                        <a:lnSpc>
                          <a:spcPct val="90000"/>
                        </a:lnSpc>
                      </a:pPr>
                      <a:r>
                        <a:rPr lang="en-US" sz="3800" kern="1200" dirty="0">
                          <a:solidFill>
                            <a:srgbClr val="13A0D3"/>
                          </a:solidFill>
                          <a:latin typeface="Allianz Neo" panose="020B0504020203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Persönliches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 Takeaway 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126872"/>
                  </a:ext>
                </a:extLst>
              </a:tr>
              <a:tr h="1317036">
                <a:tc>
                  <a:txBody>
                    <a:bodyPr/>
                    <a:lstStyle/>
                    <a:p>
                      <a:pPr marL="0" algn="l" defTabSz="967710" rtl="0" eaLnBrk="1" latinLnBrk="0" hangingPunct="1">
                        <a:lnSpc>
                          <a:spcPct val="90000"/>
                        </a:lnSpc>
                      </a:pPr>
                      <a:r>
                        <a:rPr lang="en-US" sz="3800" kern="1200" dirty="0">
                          <a:solidFill>
                            <a:srgbClr val="13A0D3"/>
                          </a:solidFill>
                          <a:latin typeface="Allianz Neo" panose="020B0504020203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AI-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Potenzial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einschätzen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llianz Neo" panose="020B0504020203020204" pitchFamily="34" charset="0"/>
                        </a:rPr>
                        <a:t> </a:t>
                      </a: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US" sz="3800" dirty="0">
                        <a:solidFill>
                          <a:srgbClr val="00908D"/>
                        </a:solidFill>
                        <a:latin typeface="Allianz Neo" panose="020B0504020203020204" pitchFamily="34" charset="0"/>
                      </a:endParaRP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solidFill>
                          <a:schemeClr val="tx1"/>
                        </a:solidFill>
                        <a:latin typeface="Allianz Neo" panose="020B0504020203020204" pitchFamily="34" charset="0"/>
                      </a:endParaRPr>
                    </a:p>
                  </a:txBody>
                  <a:tcPr marL="0" marR="0" marT="0" marB="3428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493614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114DFDED-59AB-BBCC-C9A0-BB3197214318}"/>
              </a:ext>
            </a:extLst>
          </p:cNvPr>
          <p:cNvSpPr txBox="1"/>
          <p:nvPr/>
        </p:nvSpPr>
        <p:spPr>
          <a:xfrm>
            <a:off x="375919" y="1738215"/>
            <a:ext cx="114537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13A0D3"/>
                </a:solidFill>
              </a:rPr>
              <a:t>Ziel:</a:t>
            </a:r>
            <a:r>
              <a:rPr lang="de-DE" sz="1400" dirty="0"/>
              <a:t> Jede/r nimmt 1-2 Bereiche mit, in denen er/sie AI ausprobieren möchte – oder bewusst entscheidet, es (noch) nicht zu tun.</a:t>
            </a:r>
          </a:p>
        </p:txBody>
      </p:sp>
    </p:spTree>
    <p:extLst>
      <p:ext uri="{BB962C8B-B14F-4D97-AF65-F5344CB8AC3E}">
        <p14:creationId xmlns:p14="http://schemas.microsoft.com/office/powerpoint/2010/main" val="2757719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Working Session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Phasen</a:t>
            </a:r>
            <a:r>
              <a:rPr dirty="0"/>
              <a:t> 1</a:t>
            </a:r>
            <a:r>
              <a:rPr lang="en-US" dirty="0"/>
              <a:t>-</a:t>
            </a:r>
            <a:r>
              <a:rPr dirty="0"/>
              <a:t>3: </a:t>
            </a:r>
            <a:r>
              <a:rPr lang="en-US" dirty="0" err="1">
                <a:solidFill>
                  <a:srgbClr val="13A0D3"/>
                </a:solidFill>
              </a:rPr>
              <a:t>Sammeln</a:t>
            </a:r>
            <a:endParaRPr dirty="0">
              <a:solidFill>
                <a:srgbClr val="13A0D3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65504" y="1955222"/>
            <a:ext cx="11233151" cy="4357687"/>
          </a:xfrm>
        </p:spPr>
        <p:txBody>
          <a:bodyPr/>
          <a:lstStyle/>
          <a:p>
            <a:r>
              <a:rPr b="1" dirty="0"/>
              <a:t>Phase 1: </a:t>
            </a:r>
            <a:r>
              <a:rPr b="1" dirty="0" err="1"/>
              <a:t>Tätigkeiten</a:t>
            </a:r>
            <a:r>
              <a:rPr b="1" dirty="0"/>
              <a:t> </a:t>
            </a:r>
            <a:r>
              <a:rPr b="1" dirty="0" err="1"/>
              <a:t>sammeln</a:t>
            </a:r>
            <a:endParaRPr b="1" dirty="0"/>
          </a:p>
          <a:p>
            <a:pPr marL="288000" lvl="4" indent="0">
              <a:buNone/>
            </a:pPr>
            <a:r>
              <a:rPr sz="1600" dirty="0"/>
              <a:t>"Was </a:t>
            </a:r>
            <a:r>
              <a:rPr sz="1600" dirty="0" err="1"/>
              <a:t>macht</a:t>
            </a:r>
            <a:r>
              <a:rPr sz="1600" dirty="0"/>
              <a:t> </a:t>
            </a:r>
            <a:r>
              <a:rPr sz="1600" dirty="0" err="1"/>
              <a:t>einen</a:t>
            </a:r>
            <a:r>
              <a:rPr sz="1600" dirty="0"/>
              <a:t> </a:t>
            </a:r>
            <a:r>
              <a:rPr sz="1600" dirty="0" err="1"/>
              <a:t>großen</a:t>
            </a:r>
            <a:r>
              <a:rPr sz="1600" dirty="0"/>
              <a:t> Teil </a:t>
            </a:r>
            <a:r>
              <a:rPr sz="1600" dirty="0" err="1"/>
              <a:t>eurer</a:t>
            </a:r>
            <a:r>
              <a:rPr sz="1600" dirty="0"/>
              <a:t> Arbeit </a:t>
            </a:r>
            <a:r>
              <a:rPr sz="1600" dirty="0" err="1"/>
              <a:t>als</a:t>
            </a:r>
            <a:r>
              <a:rPr sz="1600" dirty="0"/>
              <a:t> Architekt </a:t>
            </a:r>
            <a:r>
              <a:rPr sz="1600" dirty="0" err="1"/>
              <a:t>aus</a:t>
            </a:r>
            <a:r>
              <a:rPr sz="1600" dirty="0"/>
              <a:t>?"</a:t>
            </a:r>
          </a:p>
          <a:p>
            <a:pPr marL="288000" lvl="4" indent="0">
              <a:buNone/>
            </a:pPr>
            <a:r>
              <a:rPr sz="1600" dirty="0"/>
              <a:t>→ 3–5 </a:t>
            </a:r>
            <a:r>
              <a:rPr sz="1600" dirty="0" err="1"/>
              <a:t>Tätigkeiten</a:t>
            </a:r>
            <a:r>
              <a:rPr sz="1600" dirty="0"/>
              <a:t> auf Sticky Notes (</a:t>
            </a:r>
            <a:r>
              <a:rPr sz="1600" dirty="0" err="1"/>
              <a:t>eine</a:t>
            </a:r>
            <a:r>
              <a:rPr sz="1600" dirty="0"/>
              <a:t> pro Note)</a:t>
            </a:r>
          </a:p>
          <a:p>
            <a:pPr marL="288000" lvl="4" indent="0">
              <a:buNone/>
            </a:pPr>
            <a:r>
              <a:rPr sz="1400" dirty="0" err="1">
                <a:solidFill>
                  <a:srgbClr val="969696"/>
                </a:solidFill>
              </a:rPr>
              <a:t>Beispiele</a:t>
            </a:r>
            <a:r>
              <a:rPr sz="1400" dirty="0">
                <a:solidFill>
                  <a:srgbClr val="969696"/>
                </a:solidFill>
              </a:rPr>
              <a:t>: </a:t>
            </a:r>
            <a:r>
              <a:rPr sz="1400" dirty="0" err="1">
                <a:solidFill>
                  <a:srgbClr val="969696"/>
                </a:solidFill>
              </a:rPr>
              <a:t>Dokumentation</a:t>
            </a:r>
            <a:r>
              <a:rPr sz="1400" dirty="0">
                <a:solidFill>
                  <a:srgbClr val="969696"/>
                </a:solidFill>
              </a:rPr>
              <a:t>, Code-Reviews, Stakeholder-Meetings, Recherche</a:t>
            </a:r>
          </a:p>
          <a:p>
            <a:pPr marL="288000" lvl="4" indent="0">
              <a:buNone/>
            </a:pPr>
            <a:r>
              <a:rPr lang="en-US" sz="1600" b="1" dirty="0">
                <a:solidFill>
                  <a:srgbClr val="006CB7"/>
                </a:solidFill>
              </a:rPr>
              <a:t>7</a:t>
            </a:r>
            <a:r>
              <a:rPr sz="1600" b="1" dirty="0">
                <a:solidFill>
                  <a:srgbClr val="006CB7"/>
                </a:solidFill>
              </a:rPr>
              <a:t> </a:t>
            </a:r>
            <a:r>
              <a:rPr sz="1600" b="1" dirty="0" err="1">
                <a:solidFill>
                  <a:srgbClr val="006CB7"/>
                </a:solidFill>
              </a:rPr>
              <a:t>Minuten</a:t>
            </a:r>
            <a:endParaRPr sz="1600" b="1" dirty="0">
              <a:solidFill>
                <a:srgbClr val="006CB7"/>
              </a:solidFill>
            </a:endParaRPr>
          </a:p>
          <a:p>
            <a:pPr>
              <a:spcBef>
                <a:spcPts val="1200"/>
              </a:spcBef>
            </a:pPr>
            <a:r>
              <a:rPr b="1" dirty="0"/>
              <a:t>Phase 2: </a:t>
            </a:r>
            <a:r>
              <a:rPr b="1" dirty="0" err="1"/>
              <a:t>Vorstellen</a:t>
            </a:r>
            <a:r>
              <a:rPr b="1" dirty="0"/>
              <a:t> &amp; </a:t>
            </a:r>
            <a:r>
              <a:rPr b="1" dirty="0" err="1"/>
              <a:t>Clustern</a:t>
            </a:r>
            <a:endParaRPr b="1" dirty="0"/>
          </a:p>
          <a:p>
            <a:pPr marL="288000" lvl="4" indent="0">
              <a:buNone/>
            </a:pPr>
            <a:r>
              <a:rPr sz="1600" dirty="0"/>
              <a:t>→ Notes </a:t>
            </a:r>
            <a:r>
              <a:rPr sz="1600" dirty="0" err="1"/>
              <a:t>ans</a:t>
            </a:r>
            <a:r>
              <a:rPr sz="1600" dirty="0"/>
              <a:t> Whiteboard </a:t>
            </a:r>
            <a:r>
              <a:rPr sz="1600" dirty="0" err="1"/>
              <a:t>kleben</a:t>
            </a:r>
            <a:r>
              <a:rPr sz="1600" dirty="0"/>
              <a:t>, </a:t>
            </a:r>
            <a:r>
              <a:rPr sz="1600" dirty="0" err="1"/>
              <a:t>kurz</a:t>
            </a:r>
            <a:r>
              <a:rPr sz="1600" dirty="0"/>
              <a:t> </a:t>
            </a:r>
            <a:r>
              <a:rPr sz="1600" dirty="0" err="1"/>
              <a:t>vorlesen</a:t>
            </a:r>
            <a:r>
              <a:rPr lang="en-US" sz="1600" dirty="0"/>
              <a:t>, </a:t>
            </a:r>
            <a:r>
              <a:rPr sz="1600" dirty="0" err="1"/>
              <a:t>gruppieren</a:t>
            </a:r>
            <a:endParaRPr sz="1600" dirty="0"/>
          </a:p>
          <a:p>
            <a:pPr marL="288000" lvl="4" indent="0">
              <a:buNone/>
            </a:pPr>
            <a:r>
              <a:rPr sz="1400" dirty="0" err="1">
                <a:solidFill>
                  <a:srgbClr val="969696"/>
                </a:solidFill>
              </a:rPr>
              <a:t>Mögliche</a:t>
            </a:r>
            <a:r>
              <a:rPr sz="1400" dirty="0">
                <a:solidFill>
                  <a:srgbClr val="969696"/>
                </a:solidFill>
              </a:rPr>
              <a:t> Cluster: </a:t>
            </a:r>
            <a:r>
              <a:rPr sz="1400" dirty="0" err="1">
                <a:solidFill>
                  <a:srgbClr val="969696"/>
                </a:solidFill>
              </a:rPr>
              <a:t>Dokumentation</a:t>
            </a:r>
            <a:r>
              <a:rPr sz="1400" dirty="0">
                <a:solidFill>
                  <a:srgbClr val="969696"/>
                </a:solidFill>
              </a:rPr>
              <a:t> | Recherche | Review | </a:t>
            </a:r>
            <a:r>
              <a:rPr sz="1400" dirty="0" err="1">
                <a:solidFill>
                  <a:srgbClr val="969696"/>
                </a:solidFill>
              </a:rPr>
              <a:t>Kommunikation</a:t>
            </a:r>
            <a:r>
              <a:rPr sz="1400" dirty="0">
                <a:solidFill>
                  <a:srgbClr val="969696"/>
                </a:solidFill>
              </a:rPr>
              <a:t> | </a:t>
            </a:r>
            <a:r>
              <a:rPr sz="1400" dirty="0" err="1">
                <a:solidFill>
                  <a:srgbClr val="969696"/>
                </a:solidFill>
              </a:rPr>
              <a:t>Konzeption</a:t>
            </a:r>
            <a:r>
              <a:rPr sz="1400" dirty="0">
                <a:solidFill>
                  <a:srgbClr val="969696"/>
                </a:solidFill>
              </a:rPr>
              <a:t> | Governance</a:t>
            </a:r>
          </a:p>
          <a:p>
            <a:pPr marL="288000" lvl="4" indent="0">
              <a:buNone/>
            </a:pPr>
            <a:r>
              <a:rPr sz="1600" b="1" dirty="0">
                <a:solidFill>
                  <a:srgbClr val="006CB7"/>
                </a:solidFill>
              </a:rPr>
              <a:t>10 </a:t>
            </a:r>
            <a:r>
              <a:rPr sz="1600" b="1" dirty="0" err="1">
                <a:solidFill>
                  <a:srgbClr val="006CB7"/>
                </a:solidFill>
              </a:rPr>
              <a:t>Minuten</a:t>
            </a:r>
            <a:endParaRPr sz="1600" b="1" dirty="0">
              <a:solidFill>
                <a:srgbClr val="006CB7"/>
              </a:solidFill>
            </a:endParaRPr>
          </a:p>
          <a:p>
            <a:pPr>
              <a:spcBef>
                <a:spcPts val="1200"/>
              </a:spcBef>
            </a:pPr>
            <a:r>
              <a:rPr b="1" dirty="0"/>
              <a:t>Phase 3: AI-</a:t>
            </a:r>
            <a:r>
              <a:rPr b="1" dirty="0" err="1"/>
              <a:t>Potenzial</a:t>
            </a:r>
            <a:r>
              <a:rPr b="1" dirty="0"/>
              <a:t> </a:t>
            </a:r>
            <a:r>
              <a:rPr b="1" dirty="0" err="1"/>
              <a:t>einschätzen</a:t>
            </a:r>
            <a:endParaRPr b="1" dirty="0"/>
          </a:p>
          <a:p>
            <a:pPr marL="288000" lvl="4" indent="0">
              <a:buNone/>
            </a:pPr>
            <a:r>
              <a:rPr sz="1600" dirty="0"/>
              <a:t>→ </a:t>
            </a:r>
            <a:r>
              <a:rPr sz="1600" dirty="0" err="1"/>
              <a:t>Klebepunkte</a:t>
            </a:r>
            <a:r>
              <a:rPr sz="1600" dirty="0"/>
              <a:t> </a:t>
            </a:r>
            <a:r>
              <a:rPr sz="1600" dirty="0" err="1"/>
              <a:t>verteilen</a:t>
            </a:r>
            <a:r>
              <a:rPr sz="1600" dirty="0"/>
              <a:t>:</a:t>
            </a:r>
          </a:p>
          <a:p>
            <a:pPr marL="288000" lvl="4" indent="0">
              <a:buNone/>
            </a:pPr>
            <a:r>
              <a:rPr sz="1600" dirty="0">
                <a:solidFill>
                  <a:srgbClr val="00843D"/>
                </a:solidFill>
              </a:rPr>
              <a:t>3 </a:t>
            </a:r>
            <a:r>
              <a:rPr sz="1600" dirty="0" err="1">
                <a:solidFill>
                  <a:srgbClr val="00843D"/>
                </a:solidFill>
              </a:rPr>
              <a:t>grüne</a:t>
            </a:r>
            <a:r>
              <a:rPr sz="1600" dirty="0">
                <a:solidFill>
                  <a:srgbClr val="00843D"/>
                </a:solidFill>
              </a:rPr>
              <a:t> </a:t>
            </a:r>
            <a:r>
              <a:rPr sz="1600" dirty="0" err="1">
                <a:solidFill>
                  <a:srgbClr val="00843D"/>
                </a:solidFill>
              </a:rPr>
              <a:t>Punkte</a:t>
            </a:r>
            <a:r>
              <a:rPr sz="1600" dirty="0">
                <a:solidFill>
                  <a:srgbClr val="00843D"/>
                </a:solidFill>
              </a:rPr>
              <a:t>: </a:t>
            </a:r>
            <a:r>
              <a:rPr sz="1600" dirty="0"/>
              <a:t>"Hier </a:t>
            </a:r>
            <a:r>
              <a:rPr sz="1600" dirty="0" err="1"/>
              <a:t>könnte</a:t>
            </a:r>
            <a:r>
              <a:rPr sz="1600" dirty="0"/>
              <a:t> AI mir </a:t>
            </a:r>
            <a:r>
              <a:rPr sz="1600" dirty="0" err="1"/>
              <a:t>helfen</a:t>
            </a:r>
            <a:r>
              <a:rPr sz="1600" dirty="0"/>
              <a:t>"</a:t>
            </a:r>
          </a:p>
          <a:p>
            <a:pPr marL="288000" lvl="4" indent="0">
              <a:buNone/>
            </a:pPr>
            <a:r>
              <a:rPr sz="1600" dirty="0">
                <a:solidFill>
                  <a:srgbClr val="E00034"/>
                </a:solidFill>
              </a:rPr>
              <a:t>2 rote </a:t>
            </a:r>
            <a:r>
              <a:rPr sz="1600" dirty="0" err="1">
                <a:solidFill>
                  <a:srgbClr val="E00034"/>
                </a:solidFill>
              </a:rPr>
              <a:t>Punkte</a:t>
            </a:r>
            <a:r>
              <a:rPr sz="1600" dirty="0">
                <a:solidFill>
                  <a:srgbClr val="E00034"/>
                </a:solidFill>
              </a:rPr>
              <a:t>: </a:t>
            </a:r>
            <a:r>
              <a:rPr sz="1600" dirty="0"/>
              <a:t>"Hier </a:t>
            </a:r>
            <a:r>
              <a:rPr sz="1600" dirty="0" err="1"/>
              <a:t>eher</a:t>
            </a:r>
            <a:r>
              <a:rPr sz="1600" dirty="0"/>
              <a:t> nicht / will ich nicht"</a:t>
            </a:r>
          </a:p>
          <a:p>
            <a:pPr marL="288000" lvl="4" indent="0">
              <a:buNone/>
            </a:pPr>
            <a:r>
              <a:rPr lang="en-US" sz="1600" b="1" dirty="0">
                <a:solidFill>
                  <a:srgbClr val="006CB7"/>
                </a:solidFill>
              </a:rPr>
              <a:t>5</a:t>
            </a:r>
            <a:r>
              <a:rPr sz="1600" b="1" dirty="0">
                <a:solidFill>
                  <a:srgbClr val="006CB7"/>
                </a:solidFill>
              </a:rPr>
              <a:t> </a:t>
            </a:r>
            <a:r>
              <a:rPr sz="1600" b="1" dirty="0" err="1">
                <a:solidFill>
                  <a:srgbClr val="006CB7"/>
                </a:solidFill>
              </a:rPr>
              <a:t>Minuten</a:t>
            </a:r>
            <a:endParaRPr sz="1600" b="1" dirty="0">
              <a:solidFill>
                <a:srgbClr val="006CB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0EBD-ED84-E59A-B571-5D49E9BA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1943F0-F5ED-8E58-34FD-D9C1BFE64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Working Session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301C18-5483-8EF7-BF0B-8BAA5CF4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Phasen</a:t>
            </a:r>
            <a:r>
              <a:rPr dirty="0"/>
              <a:t> </a:t>
            </a:r>
            <a:r>
              <a:rPr lang="en-US" dirty="0"/>
              <a:t>4-5</a:t>
            </a:r>
            <a:r>
              <a:rPr dirty="0"/>
              <a:t>: </a:t>
            </a:r>
            <a:r>
              <a:rPr lang="en-US" dirty="0" err="1">
                <a:solidFill>
                  <a:srgbClr val="13A0D3"/>
                </a:solidFill>
              </a:rPr>
              <a:t>Reflektieren</a:t>
            </a:r>
            <a:endParaRPr dirty="0">
              <a:solidFill>
                <a:srgbClr val="13A0D3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D4396-02AF-A714-78BB-D715729FA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504" y="1955222"/>
            <a:ext cx="11233151" cy="4357687"/>
          </a:xfrm>
        </p:spPr>
        <p:txBody>
          <a:bodyPr/>
          <a:lstStyle/>
          <a:p>
            <a:r>
              <a:rPr lang="en-US" b="1" dirty="0"/>
              <a:t>Phase 4: </a:t>
            </a:r>
            <a:r>
              <a:rPr lang="en-US" b="1" dirty="0" err="1"/>
              <a:t>Diskussion</a:t>
            </a:r>
            <a:endParaRPr lang="en-US" b="1" dirty="0"/>
          </a:p>
          <a:p>
            <a:pPr marL="288000" lvl="4" indent="0">
              <a:buNone/>
            </a:pPr>
            <a:r>
              <a:rPr sz="1600" dirty="0"/>
              <a:t>"Was </a:t>
            </a:r>
            <a:r>
              <a:rPr sz="1600" dirty="0" err="1"/>
              <a:t>macht</a:t>
            </a:r>
            <a:r>
              <a:rPr sz="1600" dirty="0"/>
              <a:t> </a:t>
            </a:r>
            <a:r>
              <a:rPr sz="1600" dirty="0" err="1"/>
              <a:t>einen</a:t>
            </a:r>
            <a:r>
              <a:rPr sz="1600" dirty="0"/>
              <a:t> </a:t>
            </a:r>
            <a:r>
              <a:rPr sz="1600" dirty="0" err="1"/>
              <a:t>großen</a:t>
            </a:r>
            <a:r>
              <a:rPr sz="1600" dirty="0"/>
              <a:t> Teil </a:t>
            </a:r>
            <a:r>
              <a:rPr sz="1600" dirty="0" err="1"/>
              <a:t>eurer</a:t>
            </a:r>
            <a:r>
              <a:rPr sz="1600" dirty="0"/>
              <a:t> Arbeit </a:t>
            </a:r>
            <a:r>
              <a:rPr sz="1600" dirty="0" err="1"/>
              <a:t>als</a:t>
            </a:r>
            <a:r>
              <a:rPr sz="1600" dirty="0"/>
              <a:t> Architekt </a:t>
            </a:r>
            <a:r>
              <a:rPr sz="1600" dirty="0" err="1"/>
              <a:t>aus</a:t>
            </a:r>
            <a:r>
              <a:rPr sz="1600" dirty="0"/>
              <a:t>?"</a:t>
            </a:r>
          </a:p>
          <a:p>
            <a:pPr marL="288000" lvl="4" indent="0">
              <a:buNone/>
            </a:pPr>
            <a:r>
              <a:rPr sz="1600" dirty="0"/>
              <a:t>→ 3–5 </a:t>
            </a:r>
            <a:r>
              <a:rPr sz="1600" dirty="0" err="1"/>
              <a:t>Tätigkeiten</a:t>
            </a:r>
            <a:r>
              <a:rPr sz="1600" dirty="0"/>
              <a:t> auf Sticky Notes (</a:t>
            </a:r>
            <a:r>
              <a:rPr sz="1600" dirty="0" err="1"/>
              <a:t>eine</a:t>
            </a:r>
            <a:r>
              <a:rPr sz="1600" dirty="0"/>
              <a:t> pro Note)</a:t>
            </a:r>
          </a:p>
          <a:p>
            <a:pPr marL="288000" lvl="4" indent="0">
              <a:buNone/>
            </a:pPr>
            <a:r>
              <a:rPr sz="1400" dirty="0" err="1">
                <a:solidFill>
                  <a:srgbClr val="969696"/>
                </a:solidFill>
              </a:rPr>
              <a:t>Beispiele</a:t>
            </a:r>
            <a:r>
              <a:rPr sz="1400" dirty="0">
                <a:solidFill>
                  <a:srgbClr val="969696"/>
                </a:solidFill>
              </a:rPr>
              <a:t>: </a:t>
            </a:r>
            <a:r>
              <a:rPr sz="1400" dirty="0" err="1">
                <a:solidFill>
                  <a:srgbClr val="969696"/>
                </a:solidFill>
              </a:rPr>
              <a:t>Dokumentation</a:t>
            </a:r>
            <a:r>
              <a:rPr sz="1400" dirty="0">
                <a:solidFill>
                  <a:srgbClr val="969696"/>
                </a:solidFill>
              </a:rPr>
              <a:t>, Code-Reviews, Stakeholder-Meetings, Recherche</a:t>
            </a:r>
          </a:p>
          <a:p>
            <a:pPr marL="288000" lvl="4" indent="0">
              <a:buNone/>
            </a:pPr>
            <a:r>
              <a:rPr lang="en-US" sz="1600" b="1" dirty="0">
                <a:solidFill>
                  <a:srgbClr val="006CB7"/>
                </a:solidFill>
              </a:rPr>
              <a:t>7</a:t>
            </a:r>
            <a:r>
              <a:rPr sz="1600" b="1" dirty="0">
                <a:solidFill>
                  <a:srgbClr val="006CB7"/>
                </a:solidFill>
              </a:rPr>
              <a:t> </a:t>
            </a:r>
            <a:r>
              <a:rPr sz="1600" b="1" dirty="0" err="1">
                <a:solidFill>
                  <a:srgbClr val="006CB7"/>
                </a:solidFill>
              </a:rPr>
              <a:t>Minuten</a:t>
            </a:r>
            <a:endParaRPr sz="1600" b="1" dirty="0">
              <a:solidFill>
                <a:srgbClr val="006CB7"/>
              </a:solidFill>
            </a:endParaRPr>
          </a:p>
          <a:p>
            <a:pPr>
              <a:spcBef>
                <a:spcPts val="1200"/>
              </a:spcBef>
            </a:pPr>
            <a:r>
              <a:rPr lang="de-DE" b="1" dirty="0"/>
              <a:t>Phase 5: Was nimmst du mit?</a:t>
            </a:r>
          </a:p>
          <a:p>
            <a:pPr marL="288000" lvl="4" indent="0">
              <a:buNone/>
            </a:pPr>
            <a:r>
              <a:rPr sz="1600" dirty="0"/>
              <a:t>→ Notes </a:t>
            </a:r>
            <a:r>
              <a:rPr sz="1600" dirty="0" err="1"/>
              <a:t>ans</a:t>
            </a:r>
            <a:r>
              <a:rPr sz="1600" dirty="0"/>
              <a:t> Whiteboard </a:t>
            </a:r>
            <a:r>
              <a:rPr sz="1600" dirty="0" err="1"/>
              <a:t>kleben</a:t>
            </a:r>
            <a:r>
              <a:rPr sz="1600" dirty="0"/>
              <a:t>, </a:t>
            </a:r>
            <a:r>
              <a:rPr sz="1600" dirty="0" err="1"/>
              <a:t>kurz</a:t>
            </a:r>
            <a:r>
              <a:rPr sz="1600" dirty="0"/>
              <a:t> </a:t>
            </a:r>
            <a:r>
              <a:rPr sz="1600" dirty="0" err="1"/>
              <a:t>vorlesen</a:t>
            </a:r>
            <a:r>
              <a:rPr lang="en-US" sz="1600" dirty="0"/>
              <a:t>, </a:t>
            </a:r>
            <a:r>
              <a:rPr sz="1600" dirty="0" err="1"/>
              <a:t>gruppieren</a:t>
            </a:r>
            <a:endParaRPr sz="1600" dirty="0"/>
          </a:p>
          <a:p>
            <a:pPr marL="288000" lvl="4" indent="0">
              <a:buNone/>
            </a:pPr>
            <a:r>
              <a:rPr sz="1400" dirty="0" err="1">
                <a:solidFill>
                  <a:srgbClr val="969696"/>
                </a:solidFill>
              </a:rPr>
              <a:t>Mögliche</a:t>
            </a:r>
            <a:r>
              <a:rPr sz="1400" dirty="0">
                <a:solidFill>
                  <a:srgbClr val="969696"/>
                </a:solidFill>
              </a:rPr>
              <a:t> Cluster: </a:t>
            </a:r>
            <a:r>
              <a:rPr sz="1400" dirty="0" err="1">
                <a:solidFill>
                  <a:srgbClr val="969696"/>
                </a:solidFill>
              </a:rPr>
              <a:t>Dokumentation</a:t>
            </a:r>
            <a:r>
              <a:rPr sz="1400" dirty="0">
                <a:solidFill>
                  <a:srgbClr val="969696"/>
                </a:solidFill>
              </a:rPr>
              <a:t> | Recherche | Review | </a:t>
            </a:r>
            <a:r>
              <a:rPr sz="1400" dirty="0" err="1">
                <a:solidFill>
                  <a:srgbClr val="969696"/>
                </a:solidFill>
              </a:rPr>
              <a:t>Kommunikation</a:t>
            </a:r>
            <a:r>
              <a:rPr sz="1400" dirty="0">
                <a:solidFill>
                  <a:srgbClr val="969696"/>
                </a:solidFill>
              </a:rPr>
              <a:t> | </a:t>
            </a:r>
            <a:r>
              <a:rPr sz="1400" dirty="0" err="1">
                <a:solidFill>
                  <a:srgbClr val="969696"/>
                </a:solidFill>
              </a:rPr>
              <a:t>Konzeption</a:t>
            </a:r>
            <a:r>
              <a:rPr sz="1400" dirty="0">
                <a:solidFill>
                  <a:srgbClr val="969696"/>
                </a:solidFill>
              </a:rPr>
              <a:t> | Governance</a:t>
            </a:r>
          </a:p>
          <a:p>
            <a:pPr marL="288000" lvl="4" indent="0">
              <a:buNone/>
            </a:pPr>
            <a:r>
              <a:rPr sz="1600" b="1" dirty="0">
                <a:solidFill>
                  <a:srgbClr val="006CB7"/>
                </a:solidFill>
              </a:rPr>
              <a:t>10 </a:t>
            </a:r>
            <a:r>
              <a:rPr sz="1600" b="1" dirty="0" err="1">
                <a:solidFill>
                  <a:srgbClr val="006CB7"/>
                </a:solidFill>
              </a:rPr>
              <a:t>Minuten</a:t>
            </a:r>
            <a:endParaRPr sz="1600" b="1" dirty="0">
              <a:solidFill>
                <a:srgbClr val="006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9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44A6-3F71-0156-0404-5FF36F16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A4442E-3899-2360-741C-E8CC711C72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B67E97-8E05-160D-C912-2DDFD292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Check-</a:t>
            </a:r>
            <a:r>
              <a:rPr lang="en-US" dirty="0"/>
              <a:t>out</a:t>
            </a:r>
            <a:r>
              <a:rPr dirty="0"/>
              <a:t>: </a:t>
            </a:r>
            <a:r>
              <a:rPr lang="en-US" dirty="0" err="1"/>
              <a:t>Zurück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Anfang</a:t>
            </a:r>
            <a:endParaRPr dirty="0"/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C979959-EC44-1CE7-59D6-DB9E452CCC4F}"/>
              </a:ext>
            </a:extLst>
          </p:cNvPr>
          <p:cNvCxnSpPr>
            <a:cxnSpLocks/>
          </p:cNvCxnSpPr>
          <p:nvPr/>
        </p:nvCxnSpPr>
        <p:spPr>
          <a:xfrm flipV="1">
            <a:off x="3770932" y="3904746"/>
            <a:ext cx="3854614" cy="1866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BD0B0CB-40F6-D78B-EC02-5C60DC79A10D}"/>
              </a:ext>
            </a:extLst>
          </p:cNvPr>
          <p:cNvCxnSpPr/>
          <p:nvPr/>
        </p:nvCxnSpPr>
        <p:spPr>
          <a:xfrm flipV="1">
            <a:off x="5698239" y="2250000"/>
            <a:ext cx="0" cy="350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8302B2A-A65A-70E6-98C8-AF78CE0CDC48}"/>
              </a:ext>
            </a:extLst>
          </p:cNvPr>
          <p:cNvSpPr txBox="1"/>
          <p:nvPr/>
        </p:nvSpPr>
        <p:spPr>
          <a:xfrm>
            <a:off x="5242933" y="5814464"/>
            <a:ext cx="14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22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skeptisch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122B5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18268-1565-A779-3CA4-866E60AA2EA0}"/>
              </a:ext>
            </a:extLst>
          </p:cNvPr>
          <p:cNvSpPr txBox="1"/>
          <p:nvPr/>
        </p:nvSpPr>
        <p:spPr>
          <a:xfrm>
            <a:off x="5209065" y="1888036"/>
            <a:ext cx="14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22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begeistert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122B5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250B3-6A2B-1997-C577-68C09CE49C48}"/>
              </a:ext>
            </a:extLst>
          </p:cNvPr>
          <p:cNvSpPr txBox="1"/>
          <p:nvPr/>
        </p:nvSpPr>
        <p:spPr>
          <a:xfrm>
            <a:off x="917251" y="5322021"/>
            <a:ext cx="255717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00" b="0" i="0" u="none" strike="noStrike" kern="1200" cap="none" spc="0" normalizeH="0" baseline="0" noProof="0" dirty="0">
                <a:ln>
                  <a:noFill/>
                </a:ln>
                <a:solidFill>
                  <a:srgbClr val="122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Hat sich für jemanden die Position verändert? 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FCD61CE-5961-CD7E-F79F-E7C03D76B7D3}"/>
              </a:ext>
            </a:extLst>
          </p:cNvPr>
          <p:cNvSpPr txBox="1"/>
          <p:nvPr/>
        </p:nvSpPr>
        <p:spPr>
          <a:xfrm>
            <a:off x="3068320" y="3756180"/>
            <a:ext cx="812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22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selten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122B5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051FCBB5-18CD-4461-FBC8-8474B7288855}"/>
              </a:ext>
            </a:extLst>
          </p:cNvPr>
          <p:cNvSpPr txBox="1"/>
          <p:nvPr/>
        </p:nvSpPr>
        <p:spPr>
          <a:xfrm>
            <a:off x="7651917" y="3731160"/>
            <a:ext cx="848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22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häufig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122B5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388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8" descr="Ein Bild, das Finger, Daumen, Hand, Zeichensprache enthält.&#10;&#10;KI-generierte Inhalte können fehlerhaft sein.">
            <a:extLst>
              <a:ext uri="{FF2B5EF4-FFF2-40B4-BE49-F238E27FC236}">
                <a16:creationId xmlns:a16="http://schemas.microsoft.com/office/drawing/2014/main" id="{3751194C-9DE0-288A-5D2C-FB8A5D7EEC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  <a:solidFill>
            <a:srgbClr val="CFCFCF"/>
          </a:solidFill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78800" y="1836000"/>
            <a:ext cx="4856400" cy="2400235"/>
          </a:xfrm>
        </p:spPr>
        <p:txBody>
          <a:bodyPr/>
          <a:lstStyle/>
          <a:p>
            <a:r>
              <a:rPr sz="4800" dirty="0"/>
              <a:t>War der Vormittag</a:t>
            </a:r>
          </a:p>
          <a:p>
            <a:r>
              <a:rPr sz="4800" dirty="0" err="1"/>
              <a:t>wertvoll</a:t>
            </a:r>
            <a:r>
              <a:rPr sz="4800" dirty="0"/>
              <a:t> für dich?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78800" y="4259420"/>
            <a:ext cx="4680000" cy="562065"/>
          </a:xfrm>
        </p:spPr>
        <p:txBody>
          <a:bodyPr/>
          <a:lstStyle/>
          <a:p>
            <a:r>
              <a:rPr dirty="0"/>
              <a:t>1 = </a:t>
            </a:r>
            <a:r>
              <a:rPr dirty="0" err="1"/>
              <a:t>eher</a:t>
            </a:r>
            <a:r>
              <a:rPr dirty="0"/>
              <a:t> nicht  ·  5</a:t>
            </a:r>
            <a:r>
              <a:rPr lang="en-US" dirty="0"/>
              <a:t>-6</a:t>
            </a:r>
            <a:r>
              <a:rPr dirty="0"/>
              <a:t> = ja, auf </a:t>
            </a:r>
            <a:r>
              <a:rPr dirty="0" err="1"/>
              <a:t>jeden</a:t>
            </a:r>
            <a:r>
              <a:rPr dirty="0"/>
              <a:t> Fall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Follow-up &amp; Austausch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 dirty="0"/>
              <a:t>Teams-Channel: "Architecture Community"</a:t>
            </a:r>
          </a:p>
          <a:p>
            <a:pPr lvl="1">
              <a:spcBef>
                <a:spcPts val="400"/>
              </a:spcBef>
            </a:pPr>
            <a:r>
              <a:rPr sz="2400" dirty="0"/>
              <a:t>Session-Insights</a:t>
            </a:r>
          </a:p>
          <a:p>
            <a:pPr lvl="1">
              <a:spcBef>
                <a:spcPts val="400"/>
              </a:spcBef>
            </a:pPr>
            <a:r>
              <a:rPr sz="2400" dirty="0" err="1"/>
              <a:t>Weiterführende</a:t>
            </a:r>
            <a:r>
              <a:rPr sz="2400" dirty="0"/>
              <a:t> </a:t>
            </a:r>
            <a:r>
              <a:rPr sz="2400" dirty="0" err="1"/>
              <a:t>Diskussion</a:t>
            </a:r>
            <a:endParaRPr sz="2400" dirty="0"/>
          </a:p>
          <a:p>
            <a:pPr lvl="1">
              <a:spcBef>
                <a:spcPts val="400"/>
              </a:spcBef>
            </a:pPr>
            <a:r>
              <a:rPr sz="2400" dirty="0" err="1"/>
              <a:t>Erfahrungen</a:t>
            </a:r>
            <a:r>
              <a:rPr sz="2400" dirty="0"/>
              <a:t> </a:t>
            </a:r>
            <a:r>
              <a:rPr sz="2400" dirty="0" err="1"/>
              <a:t>teilen</a:t>
            </a:r>
            <a:endParaRPr lang="en-US" sz="2400" dirty="0"/>
          </a:p>
          <a:p>
            <a:pPr lvl="1">
              <a:spcBef>
                <a:spcPts val="400"/>
              </a:spcBef>
            </a:pPr>
            <a:endParaRPr sz="2400" dirty="0"/>
          </a:p>
          <a:p>
            <a:pPr>
              <a:spcBef>
                <a:spcPts val="1800"/>
              </a:spcBef>
            </a:pPr>
            <a:r>
              <a:rPr sz="2400" dirty="0" err="1">
                <a:solidFill>
                  <a:srgbClr val="00908D"/>
                </a:solidFill>
              </a:rPr>
              <a:t>Spontaner</a:t>
            </a:r>
            <a:r>
              <a:rPr sz="2400" dirty="0">
                <a:solidFill>
                  <a:srgbClr val="00908D"/>
                </a:solidFill>
              </a:rPr>
              <a:t> Austausch </a:t>
            </a:r>
            <a:r>
              <a:rPr sz="2400" dirty="0" err="1">
                <a:solidFill>
                  <a:srgbClr val="00908D"/>
                </a:solidFill>
              </a:rPr>
              <a:t>beim</a:t>
            </a:r>
            <a:r>
              <a:rPr sz="2400" dirty="0">
                <a:solidFill>
                  <a:srgbClr val="00908D"/>
                </a:solidFill>
              </a:rPr>
              <a:t> </a:t>
            </a:r>
            <a:r>
              <a:rPr sz="2400" dirty="0" err="1">
                <a:solidFill>
                  <a:srgbClr val="00908D"/>
                </a:solidFill>
              </a:rPr>
              <a:t>Mittagessen</a:t>
            </a:r>
            <a:endParaRPr sz="2400" dirty="0">
              <a:solidFill>
                <a:srgbClr val="00908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6104A-8AEA-028E-F356-BCF0FB2D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FA43C68E-A088-6997-46AF-F3168E3567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99725" y="3308675"/>
            <a:ext cx="3580150" cy="8559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 algn="l" defTabSz="96771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288000" algn="l" defTabSz="967710" rtl="0" eaLnBrk="1" latinLnBrk="0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288000" algn="l" defTabSz="96771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8000" indent="-288000" algn="l" defTabSz="96771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288000" algn="l" defTabSz="96771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67710" rtl="0" eaLnBrk="1" latinLnBrk="0" hangingPunct="1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6771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7pPr>
            <a:lvl8pPr marL="3628911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765" indent="-241927" algn="l" defTabSz="967710" rtl="0" eaLnBrk="1" latinLnBrk="0" hangingPunct="1">
              <a:lnSpc>
                <a:spcPct val="90000"/>
              </a:lnSpc>
              <a:spcBef>
                <a:spcPts val="529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6771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lianz Neo" panose="020B0504020203020204" pitchFamily="34" charset="0"/>
              </a:rPr>
              <a:t>Danke!</a:t>
            </a:r>
          </a:p>
        </p:txBody>
      </p:sp>
    </p:spTree>
    <p:extLst>
      <p:ext uri="{BB962C8B-B14F-4D97-AF65-F5344CB8AC3E}">
        <p14:creationId xmlns:p14="http://schemas.microsoft.com/office/powerpoint/2010/main" val="223678520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charts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32C154F4-C730-4544-B30C-4DC4A139A5B6}"/>
    </a:ext>
  </a:extLst>
</a:theme>
</file>

<file path=ppt/theme/theme2.xml><?xml version="1.0" encoding="utf-8"?>
<a:theme xmlns:a="http://schemas.openxmlformats.org/drawingml/2006/main" name="Divider + end charts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AE69F15F-32E0-C84B-A8A4-D0DAA3E745CA}"/>
    </a:ext>
  </a:extLst>
</a:theme>
</file>

<file path=ppt/theme/theme3.xml><?xml version="1.0" encoding="utf-8"?>
<a:theme xmlns:a="http://schemas.openxmlformats.org/drawingml/2006/main" name="Content charts whit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259FCAE3-6428-AD43-B107-097763012E17}"/>
    </a:ext>
  </a:extLst>
</a:theme>
</file>

<file path=ppt/theme/theme4.xml><?xml version="1.0" encoding="utf-8"?>
<a:theme xmlns:a="http://schemas.openxmlformats.org/drawingml/2006/main" name="Content charts blu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2CEE23FA-BEC2-AC44-A9C6-46EF85D76448}"/>
    </a:ext>
  </a:extLst>
</a:theme>
</file>

<file path=ppt/theme/theme5.xml><?xml version="1.0" encoding="utf-8"?>
<a:theme xmlns:a="http://schemas.openxmlformats.org/drawingml/2006/main" name="1_Title charts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B8508A56-A46F-5340-94E8-5E50A6F36FF1}"/>
    </a:ext>
  </a:extLst>
</a:theme>
</file>

<file path=ppt/theme/theme6.xml><?xml version="1.0" encoding="utf-8"?>
<a:theme xmlns:a="http://schemas.openxmlformats.org/drawingml/2006/main" name="1_Content charts whit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698FC51B-EAC1-FC4D-B2F6-4D8864E68432}"/>
    </a:ext>
  </a:extLst>
</a:theme>
</file>

<file path=ppt/theme/theme7.xml><?xml version="1.0" encoding="utf-8"?>
<a:theme xmlns:a="http://schemas.openxmlformats.org/drawingml/2006/main" name="1_Divider + end charts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BE7642B4-C914-0D49-9658-AE90742D4E02}"/>
    </a:ext>
  </a:extLst>
</a:theme>
</file>

<file path=ppt/theme/theme8.xml><?xml version="1.0" encoding="utf-8"?>
<a:theme xmlns:a="http://schemas.openxmlformats.org/drawingml/2006/main" name="2_Title charts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9A317F38-DBAF-6A4F-8C85-8920E35C6713}"/>
    </a:ext>
  </a:extLst>
</a:theme>
</file>

<file path=ppt/theme/theme9.xml><?xml version="1.0" encoding="utf-8"?>
<a:theme xmlns:a="http://schemas.openxmlformats.org/drawingml/2006/main" name="2_Content charts whit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22B5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A50391FD-7A19-0344-AC6A-D93EAD790179}"/>
    </a:ext>
  </a:extLst>
</a:theme>
</file>

<file path=ppt/theme/theme10.xml><?xml version="1.0" encoding="utf-8"?>
<a:theme xmlns:a="http://schemas.openxmlformats.org/drawingml/2006/main" name="1_Content charts blu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defRPr sz="160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  <a:extLst>
    <a:ext uri="{05A4C25C-085E-4340-85A3-A5531E510DB2}">
      <thm15:themeFamily xmlns:thm15="http://schemas.microsoft.com/office/thememl/2012/main" name="202304_AZ Technology Master Slides  -  Read-Only" id="{0E539330-3A45-2346-8E9F-B5A2526CAC58}" vid="{8802AE93-2F0F-EC48-82B0-4F2E588F9FDD}"/>
    </a:ext>
  </a:extLst>
</a:theme>
</file>

<file path=ppt/theme/theme1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AFAF982E0CCD4286C14ED1781FA80B" ma:contentTypeVersion="16" ma:contentTypeDescription="Create a new document." ma:contentTypeScope="" ma:versionID="3fa5dd12c5e48826ef39ee0ecfe7ab91">
  <xsd:schema xmlns:xsd="http://www.w3.org/2001/XMLSchema" xmlns:xs="http://www.w3.org/2001/XMLSchema" xmlns:p="http://schemas.microsoft.com/office/2006/metadata/properties" xmlns:ns2="a48dcd9c-fdb5-40bc-87b9-bf532f88bceb" xmlns:ns3="88ac2744-9a3e-42d4-8f51-a54dde7583f6" targetNamespace="http://schemas.microsoft.com/office/2006/metadata/properties" ma:root="true" ma:fieldsID="09f8ef1dd4e7213bb8488e3bbb3c5d73" ns2:_="" ns3:_="">
    <xsd:import namespace="a48dcd9c-fdb5-40bc-87b9-bf532f88bceb"/>
    <xsd:import namespace="88ac2744-9a3e-42d4-8f51-a54dde758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dcd9c-fdb5-40bc-87b9-bf532f88b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0820af1-e82f-496e-bbcb-d9502914b7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2744-9a3e-42d4-8f51-a54dde7583f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211aa48-4816-48b4-9f97-8bbd4dce3c0e}" ma:internalName="TaxCatchAll" ma:showField="CatchAllData" ma:web="88ac2744-9a3e-42d4-8f51-a54dde758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ac2744-9a3e-42d4-8f51-a54dde7583f6" xsi:nil="true"/>
    <lcf76f155ced4ddcb4097134ff3c332f xmlns="a48dcd9c-fdb5-40bc-87b9-bf532f88bce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2B1774-97D9-4D59-BFC7-329B361032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8dcd9c-fdb5-40bc-87b9-bf532f88bceb"/>
    <ds:schemaRef ds:uri="88ac2744-9a3e-42d4-8f51-a54dde7583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9EEEB4-116B-45D7-A00E-4485C1BF49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238861-3DAC-4F8A-8FBD-A33F14A90246}">
  <ds:schemaRefs>
    <ds:schemaRef ds:uri="http://schemas.microsoft.com/office/infopath/2007/PartnerControls"/>
    <ds:schemaRef ds:uri="http://www.w3.org/XML/1998/namespace"/>
    <ds:schemaRef ds:uri="a48dcd9c-fdb5-40bc-87b9-bf532f88bceb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88ac2744-9a3e-42d4-8f51-a54dde7583f6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202304_AZ Technology Master Slides</Template>
  <TotalTime>0</TotalTime>
  <Words>1711</Words>
  <Application>Microsoft Office PowerPoint</Application>
  <PresentationFormat>Breitbild</PresentationFormat>
  <Paragraphs>363</Paragraphs>
  <Slides>26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10</vt:i4>
      </vt:variant>
      <vt:variant>
        <vt:lpstr>Folientitel</vt:lpstr>
      </vt:variant>
      <vt:variant>
        <vt:i4>26</vt:i4>
      </vt:variant>
    </vt:vector>
  </HeadingPairs>
  <TitlesOfParts>
    <vt:vector size="40" baseType="lpstr">
      <vt:lpstr>Allianz Neo</vt:lpstr>
      <vt:lpstr>Arial</vt:lpstr>
      <vt:lpstr>Calibri</vt:lpstr>
      <vt:lpstr>Symbol</vt:lpstr>
      <vt:lpstr>Title charts</vt:lpstr>
      <vt:lpstr>Divider + end charts</vt:lpstr>
      <vt:lpstr>Content charts white</vt:lpstr>
      <vt:lpstr>Content charts blue</vt:lpstr>
      <vt:lpstr>1_Title charts</vt:lpstr>
      <vt:lpstr>1_Content charts white</vt:lpstr>
      <vt:lpstr>1_Divider + end charts</vt:lpstr>
      <vt:lpstr>2_Title charts</vt:lpstr>
      <vt:lpstr>2_Content charts white</vt:lpstr>
      <vt:lpstr>1_Content charts blue</vt:lpstr>
      <vt:lpstr>Community Day  Sach-Architektur</vt:lpstr>
      <vt:lpstr>Headline goes here</vt:lpstr>
      <vt:lpstr>Agenda</vt:lpstr>
      <vt:lpstr>Check-in: Wo seht ihr euch bei der AI-Nutzung?</vt:lpstr>
      <vt:lpstr>Ein-Wort-Blitzrunde</vt:lpstr>
      <vt:lpstr>AI Use Cases in der               Az Vers</vt:lpstr>
      <vt:lpstr>Einführung LLM bei Cytora</vt:lpstr>
      <vt:lpstr>Pause</vt:lpstr>
      <vt:lpstr>AI Nutzung in der               Architekturarbeit</vt:lpstr>
      <vt:lpstr>AI vom Hype zum Werkzeug</vt:lpstr>
      <vt:lpstr>Was 2025 möglich macht</vt:lpstr>
      <vt:lpstr>Bausteine im Detail</vt:lpstr>
      <vt:lpstr>Unser Setup: Claude Code</vt:lpstr>
      <vt:lpstr>PowerPoint-Präsentation</vt:lpstr>
      <vt:lpstr>Was noch geht</vt:lpstr>
      <vt:lpstr>Stärken &amp; Grenzen</vt:lpstr>
      <vt:lpstr>Kleines Hype-Barometer</vt:lpstr>
      <vt:lpstr>Wie starten?</vt:lpstr>
      <vt:lpstr>Ressourcen bei der Allianz</vt:lpstr>
      <vt:lpstr>Working Session:  AI-Unterstützung im Architektur Alltag</vt:lpstr>
      <vt:lpstr>Phasen 1-3: Sammeln</vt:lpstr>
      <vt:lpstr>Phasen 4-5: Reflektieren</vt:lpstr>
      <vt:lpstr>Check-out: Zurück zum Anfang</vt:lpstr>
      <vt:lpstr>War der Vormittag wertvoll für dich?</vt:lpstr>
      <vt:lpstr>Follow-up &amp; Austausch</vt:lpstr>
      <vt:lpstr>Danke!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Schönberger</dc:creator>
  <cp:lastModifiedBy>Martin Schönberger</cp:lastModifiedBy>
  <cp:revision>1</cp:revision>
  <dcterms:created xsi:type="dcterms:W3CDTF">2026-03-02T05:21:27Z</dcterms:created>
  <dcterms:modified xsi:type="dcterms:W3CDTF">2026-03-02T06:57:49Z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0x01010027AFAF982E0CCD4286C14ED1781FA80B</vt:lpwstr>
  </property>
  <property fmtid="{D5CDD505-2E9C-101B-9397-08002B2CF9AE}" pid="3" name="_AdHocReviewCycleID">
    <vt:i4>702793906</vt:i4>
  </property>
  <property fmtid="{D5CDD505-2E9C-101B-9397-08002B2CF9AE}" pid="4" name="_NewReviewCycle">
    <vt:lpwstr/>
  </property>
  <property fmtid="{D5CDD505-2E9C-101B-9397-08002B2CF9AE}" pid="5" name="_EmailSubject">
    <vt:lpwstr>BHP-810- Allianz Technology master Ppt template</vt:lpwstr>
  </property>
  <property fmtid="{D5CDD505-2E9C-101B-9397-08002B2CF9AE}" pid="6" name="_AuthorEmail">
    <vt:lpwstr>yoneta.izvorska1@allianz.co.uk</vt:lpwstr>
  </property>
  <property fmtid="{D5CDD505-2E9C-101B-9397-08002B2CF9AE}" pid="7" name="_AuthorEmailDisplayName">
    <vt:lpwstr>Izvorska, Yoneta (Allianz Technology)</vt:lpwstr>
  </property>
  <property fmtid="{D5CDD505-2E9C-101B-9397-08002B2CF9AE}" pid="8" name="MSIP_Label_ce5f591a-3248-43e9-9b70-1ad50135772d_Enabled">
    <vt:lpwstr>true</vt:lpwstr>
  </property>
  <property fmtid="{D5CDD505-2E9C-101B-9397-08002B2CF9AE}" pid="9" name="MSIP_Label_ce5f591a-3248-43e9-9b70-1ad50135772d_SetDate">
    <vt:lpwstr>2021-07-29T09:20:11Z</vt:lpwstr>
  </property>
  <property fmtid="{D5CDD505-2E9C-101B-9397-08002B2CF9AE}" pid="10" name="MSIP_Label_ce5f591a-3248-43e9-9b70-1ad50135772d_Method">
    <vt:lpwstr>Privileged</vt:lpwstr>
  </property>
  <property fmtid="{D5CDD505-2E9C-101B-9397-08002B2CF9AE}" pid="11" name="MSIP_Label_ce5f591a-3248-43e9-9b70-1ad50135772d_Name">
    <vt:lpwstr>ce5f591a-3248-43e9-9b70-1ad50135772d</vt:lpwstr>
  </property>
  <property fmtid="{D5CDD505-2E9C-101B-9397-08002B2CF9AE}" pid="12" name="MSIP_Label_ce5f591a-3248-43e9-9b70-1ad50135772d_SiteId">
    <vt:lpwstr>6e06e42d-6925-47c6-b9e7-9581c7ca302a</vt:lpwstr>
  </property>
  <property fmtid="{D5CDD505-2E9C-101B-9397-08002B2CF9AE}" pid="13" name="MSIP_Label_ce5f591a-3248-43e9-9b70-1ad50135772d_ActionId">
    <vt:lpwstr>cae8452c-7462-4e0b-86f6-dfc751feef05</vt:lpwstr>
  </property>
  <property fmtid="{D5CDD505-2E9C-101B-9397-08002B2CF9AE}" pid="14" name="MSIP_Label_ce5f591a-3248-43e9-9b70-1ad50135772d_ContentBits">
    <vt:lpwstr>0</vt:lpwstr>
  </property>
  <property fmtid="{D5CDD505-2E9C-101B-9397-08002B2CF9AE}" pid="15" name="_PreviousAdHocReviewCycleID">
    <vt:i4>1220205436</vt:i4>
  </property>
  <property fmtid="{D5CDD505-2E9C-101B-9397-08002B2CF9AE}" pid="16" name="Offisync_ProviderInitializationData">
    <vt:lpwstr>https://connect.allianz.com</vt:lpwstr>
  </property>
  <property fmtid="{D5CDD505-2E9C-101B-9397-08002B2CF9AE}" pid="17" name="Jive_LatestUserAccountName">
    <vt:lpwstr>heike.hartenfeller@allianz.de</vt:lpwstr>
  </property>
  <property fmtid="{D5CDD505-2E9C-101B-9397-08002B2CF9AE}" pid="18" name="Jive_VersionGuid">
    <vt:lpwstr>1d1515b3-21c8-4f89-9238-85af562b4aa8</vt:lpwstr>
  </property>
  <property fmtid="{D5CDD505-2E9C-101B-9397-08002B2CF9AE}" pid="19" name="Offisync_UniqueId">
    <vt:lpwstr>945924</vt:lpwstr>
  </property>
  <property fmtid="{D5CDD505-2E9C-101B-9397-08002B2CF9AE}" pid="20" name="Offisync_ServerID">
    <vt:lpwstr>afd47052-d4b6-4a68-bc46-5ebf2229a14c</vt:lpwstr>
  </property>
  <property fmtid="{D5CDD505-2E9C-101B-9397-08002B2CF9AE}" pid="21" name="Offisync_UpdateToken">
    <vt:lpwstr>2</vt:lpwstr>
  </property>
</Properties>
</file>